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5437216e7004f40" /><Relationship Type="http://schemas.openxmlformats.org/officeDocument/2006/relationships/extended-properties" Target="/docProps/app.xml" Id="R0853bb3ddfe74cfa" /><Relationship Type="http://schemas.openxmlformats.org/officeDocument/2006/relationships/officeDocument" Target="/ppt/presentation.xml" Id="R37c8ea6403cb4853" /></Relationships>
</file>

<file path=ppt/presentation.xml><?xml version="1.0" encoding="utf-8"?>
<p:presentation xmlns:p="http://schemas.openxmlformats.org/presentationml/2006/main">
  <p:sldMasterIdLst>
    <p:sldMasterId xmlns:r="http://schemas.openxmlformats.org/officeDocument/2006/relationships" id="2147483648" r:id="R8a2b699579884022"/>
  </p:sldMasterIdLst>
  <p:notesMasterIdLst>
    <p:notesMasterId xmlns:r="http://schemas.openxmlformats.org/officeDocument/2006/relationships" r:id="Rc760fce59020422c"/>
  </p:notesMasterIdLst>
  <p:sldIdLst>
    <p:sldId xmlns:r="http://schemas.openxmlformats.org/officeDocument/2006/relationships" id="256" r:id="Rb8e48db0452641c4"/>
    <p:sldId xmlns:r="http://schemas.openxmlformats.org/officeDocument/2006/relationships" id="257" r:id="R8c761eb3bd814f05"/>
    <p:sldId xmlns:r="http://schemas.openxmlformats.org/officeDocument/2006/relationships" id="258" r:id="R7d62d16876cf4109"/>
    <p:sldId xmlns:r="http://schemas.openxmlformats.org/officeDocument/2006/relationships" id="259" r:id="Ra4a80517c5734706"/>
    <p:sldId xmlns:r="http://schemas.openxmlformats.org/officeDocument/2006/relationships" id="260" r:id="Ra0a9e4dc0c1f4cc9"/>
    <p:sldId xmlns:r="http://schemas.openxmlformats.org/officeDocument/2006/relationships" id="261" r:id="R6566cef4ac4e4540"/>
    <p:sldId xmlns:r="http://schemas.openxmlformats.org/officeDocument/2006/relationships" id="262" r:id="R49b57052d89c4ac5"/>
    <p:sldId xmlns:r="http://schemas.openxmlformats.org/officeDocument/2006/relationships" id="263" r:id="R26bd6fb845574366"/>
    <p:sldId xmlns:r="http://schemas.openxmlformats.org/officeDocument/2006/relationships" id="264" r:id="Rc2acb1c5189e440b"/>
    <p:sldId xmlns:r="http://schemas.openxmlformats.org/officeDocument/2006/relationships" id="265" r:id="Ra2e35d5569bf45d5"/>
    <p:sldId xmlns:r="http://schemas.openxmlformats.org/officeDocument/2006/relationships" id="266" r:id="Rb09c3491410d473b"/>
    <p:sldId xmlns:r="http://schemas.openxmlformats.org/officeDocument/2006/relationships" id="267" r:id="Rd1e649b40038466d"/>
    <p:sldId xmlns:r="http://schemas.openxmlformats.org/officeDocument/2006/relationships" id="268" r:id="R4ba1db2f04e448a9"/>
    <p:sldId xmlns:r="http://schemas.openxmlformats.org/officeDocument/2006/relationships" id="269" r:id="R59866e5019234020"/>
    <p:sldId xmlns:r="http://schemas.openxmlformats.org/officeDocument/2006/relationships" id="270" r:id="Ra1b185cc4c1840b8"/>
    <p:sldId xmlns:r="http://schemas.openxmlformats.org/officeDocument/2006/relationships" id="271" r:id="R385ed2540d04402f"/>
    <p:sldId xmlns:r="http://schemas.openxmlformats.org/officeDocument/2006/relationships" id="272" r:id="Rc32c697f3b6f4418"/>
    <p:sldId xmlns:r="http://schemas.openxmlformats.org/officeDocument/2006/relationships" id="273" r:id="R9a74467db2fd4595"/>
    <p:sldId xmlns:r="http://schemas.openxmlformats.org/officeDocument/2006/relationships" id="274" r:id="R322ad28a067040d8"/>
    <p:sldId xmlns:r="http://schemas.openxmlformats.org/officeDocument/2006/relationships" id="275" r:id="R0943b28213434e2e"/>
    <p:sldId xmlns:r="http://schemas.openxmlformats.org/officeDocument/2006/relationships" id="276" r:id="Rb2b1c385268c4c3d"/>
    <p:sldId xmlns:r="http://schemas.openxmlformats.org/officeDocument/2006/relationships" id="277" r:id="R5722f6c0a2664a4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47b4c7038f74e20" /><Relationship Type="http://schemas.openxmlformats.org/officeDocument/2006/relationships/slideMaster" Target="/ppt/slideMasters/slideMaster1.xml" Id="R8a2b699579884022" /><Relationship Type="http://schemas.openxmlformats.org/officeDocument/2006/relationships/notesMaster" Target="/ppt/notesMasters/notesMaster1.xml" Id="Rc760fce59020422c" /><Relationship Type="http://schemas.openxmlformats.org/officeDocument/2006/relationships/presProps" Target="/ppt/presProps.xml" Id="Rfb36302bb3084203" /><Relationship Type="http://schemas.openxmlformats.org/officeDocument/2006/relationships/viewProps" Target="/ppt/viewProps.xml" Id="R10140a0814134ca0" /><Relationship Type="http://schemas.openxmlformats.org/officeDocument/2006/relationships/tableStyles" Target="/ppt/tableStyles.xml" Id="R010cc8d0d4b645fa" /><Relationship Type="http://schemas.openxmlformats.org/officeDocument/2006/relationships/slide" Target="/ppt/slides/slide1.xml" Id="Rb8e48db0452641c4" /><Relationship Type="http://schemas.openxmlformats.org/officeDocument/2006/relationships/slide" Target="/ppt/slides/slide2.xml" Id="R8c761eb3bd814f05" /><Relationship Type="http://schemas.openxmlformats.org/officeDocument/2006/relationships/slide" Target="/ppt/slides/slide3.xml" Id="R7d62d16876cf4109" /><Relationship Type="http://schemas.openxmlformats.org/officeDocument/2006/relationships/slide" Target="/ppt/slides/slide4.xml" Id="Ra4a80517c5734706" /><Relationship Type="http://schemas.openxmlformats.org/officeDocument/2006/relationships/slide" Target="/ppt/slides/slide5.xml" Id="Ra0a9e4dc0c1f4cc9" /><Relationship Type="http://schemas.openxmlformats.org/officeDocument/2006/relationships/slide" Target="/ppt/slides/slide6.xml" Id="R6566cef4ac4e4540" /><Relationship Type="http://schemas.openxmlformats.org/officeDocument/2006/relationships/slide" Target="/ppt/slides/slide7.xml" Id="R49b57052d89c4ac5" /><Relationship Type="http://schemas.openxmlformats.org/officeDocument/2006/relationships/slide" Target="/ppt/slides/slide8.xml" Id="R26bd6fb845574366" /><Relationship Type="http://schemas.openxmlformats.org/officeDocument/2006/relationships/slide" Target="/ppt/slides/slide9.xml" Id="Rc2acb1c5189e440b" /><Relationship Type="http://schemas.openxmlformats.org/officeDocument/2006/relationships/slide" Target="/ppt/slides/slide10.xml" Id="Ra2e35d5569bf45d5" /><Relationship Type="http://schemas.openxmlformats.org/officeDocument/2006/relationships/slide" Target="/ppt/slides/slide11.xml" Id="Rb09c3491410d473b" /><Relationship Type="http://schemas.openxmlformats.org/officeDocument/2006/relationships/slide" Target="/ppt/slides/slide12.xml" Id="Rd1e649b40038466d" /><Relationship Type="http://schemas.openxmlformats.org/officeDocument/2006/relationships/slide" Target="/ppt/slides/slide13.xml" Id="R4ba1db2f04e448a9" /><Relationship Type="http://schemas.openxmlformats.org/officeDocument/2006/relationships/slide" Target="/ppt/slides/slide14.xml" Id="R59866e5019234020" /><Relationship Type="http://schemas.openxmlformats.org/officeDocument/2006/relationships/slide" Target="/ppt/slides/slide15.xml" Id="Ra1b185cc4c1840b8" /><Relationship Type="http://schemas.openxmlformats.org/officeDocument/2006/relationships/slide" Target="/ppt/slides/slide16.xml" Id="R385ed2540d04402f" /><Relationship Type="http://schemas.openxmlformats.org/officeDocument/2006/relationships/slide" Target="/ppt/slides/slide17.xml" Id="Rc32c697f3b6f4418" /><Relationship Type="http://schemas.openxmlformats.org/officeDocument/2006/relationships/slide" Target="/ppt/slides/slide18.xml" Id="R9a74467db2fd4595" /><Relationship Type="http://schemas.openxmlformats.org/officeDocument/2006/relationships/slide" Target="/ppt/slides/slide19.xml" Id="R322ad28a067040d8" /><Relationship Type="http://schemas.openxmlformats.org/officeDocument/2006/relationships/slide" Target="/ppt/slides/slide20.xml" Id="R0943b28213434e2e" /><Relationship Type="http://schemas.openxmlformats.org/officeDocument/2006/relationships/slide" Target="/ppt/slides/slide21.xml" Id="Rb2b1c385268c4c3d" /><Relationship Type="http://schemas.openxmlformats.org/officeDocument/2006/relationships/slide" Target="/ppt/slides/slide22.xml" Id="R5722f6c0a2664a4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1596592abcb46a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76e7db9c8d74dc2" /><Relationship Type="http://schemas.openxmlformats.org/officeDocument/2006/relationships/notesMaster" Target="/ppt/notesMasters/notesMaster1.xml" Id="Rb159a1f9fd5d43b3" /></Relationships>
</file>

<file path=ppt/notesSlides/_rels/notesSlide2.xml.rels>&#65279;<?xml version="1.0" encoding="utf-8"?><Relationships xmlns="http://schemas.openxmlformats.org/package/2006/relationships"><Relationship Type="http://schemas.openxmlformats.org/officeDocument/2006/relationships/slide" Target="/ppt/slides/slide2.xml" Id="R128928fb05f745c6" /><Relationship Type="http://schemas.openxmlformats.org/officeDocument/2006/relationships/notesMaster" Target="/ppt/notesMasters/notesMaster1.xml" Id="R466e8edf9401478a" /></Relationships>
</file>

<file path=ppt/notesSlides/_rels/notesSlide3.xml.rels>&#65279;<?xml version="1.0" encoding="utf-8"?><Relationships xmlns="http://schemas.openxmlformats.org/package/2006/relationships"><Relationship Type="http://schemas.openxmlformats.org/officeDocument/2006/relationships/slide" Target="/ppt/slides/slide3.xml" Id="Rf7300d16920247aa" /><Relationship Type="http://schemas.openxmlformats.org/officeDocument/2006/relationships/notesMaster" Target="/ppt/notesMasters/notesMaster1.xml" Id="R63cc90332fce4a13" /></Relationships>
</file>

<file path=ppt/notesSlides/_rels/notesSlide4.xml.rels>&#65279;<?xml version="1.0" encoding="utf-8"?><Relationships xmlns="http://schemas.openxmlformats.org/package/2006/relationships"><Relationship Type="http://schemas.openxmlformats.org/officeDocument/2006/relationships/slide" Target="/ppt/slides/slide4.xml" Id="R5d07d886d97446ba" /><Relationship Type="http://schemas.openxmlformats.org/officeDocument/2006/relationships/notesMaster" Target="/ppt/notesMasters/notesMaster1.xml" Id="R4315b5e6a616445b" /></Relationships>
</file>

<file path=ppt/notesSlides/_rels/notesSlide5.xml.rels>&#65279;<?xml version="1.0" encoding="utf-8"?><Relationships xmlns="http://schemas.openxmlformats.org/package/2006/relationships"><Relationship Type="http://schemas.openxmlformats.org/officeDocument/2006/relationships/slide" Target="/ppt/slides/slide5.xml" Id="R830ddde30efa4805" /><Relationship Type="http://schemas.openxmlformats.org/officeDocument/2006/relationships/notesMaster" Target="/ppt/notesMasters/notesMaster1.xml" Id="Rafa3c7f37e404b70" /></Relationships>
</file>

<file path=ppt/notesSlides/_rels/notesSlide6.xml.rels>&#65279;<?xml version="1.0" encoding="utf-8"?><Relationships xmlns="http://schemas.openxmlformats.org/package/2006/relationships"><Relationship Type="http://schemas.openxmlformats.org/officeDocument/2006/relationships/slide" Target="/ppt/slides/slide6.xml" Id="Ra307a6eab8a44ce4" /><Relationship Type="http://schemas.openxmlformats.org/officeDocument/2006/relationships/notesMaster" Target="/ppt/notesMasters/notesMaster1.xml" Id="Rb588c73054494b48" /></Relationships>
</file>

<file path=ppt/notesSlides/_rels/notesSlide7.xml.rels>&#65279;<?xml version="1.0" encoding="utf-8"?><Relationships xmlns="http://schemas.openxmlformats.org/package/2006/relationships"><Relationship Type="http://schemas.openxmlformats.org/officeDocument/2006/relationships/slide" Target="/ppt/slides/slide7.xml" Id="R5d2db855a9a44807" /><Relationship Type="http://schemas.openxmlformats.org/officeDocument/2006/relationships/notesMaster" Target="/ppt/notesMasters/notesMaster1.xml" Id="Rbe618661b9c04c54" /></Relationships>
</file>

<file path=ppt/notesSlides/_rels/notesSlide8.xml.rels>&#65279;<?xml version="1.0" encoding="utf-8"?><Relationships xmlns="http://schemas.openxmlformats.org/package/2006/relationships"><Relationship Type="http://schemas.openxmlformats.org/officeDocument/2006/relationships/slide" Target="/ppt/slides/slide8.xml" Id="Rf483eefb6c124cd1" /><Relationship Type="http://schemas.openxmlformats.org/officeDocument/2006/relationships/notesMaster" Target="/ppt/notesMasters/notesMaster1.xml" Id="Rbbda930d61fd45f5" /></Relationships>
</file>

<file path=ppt/notesSlides/_rels/notesSlide9.xml.rels>&#65279;<?xml version="1.0" encoding="utf-8"?><Relationships xmlns="http://schemas.openxmlformats.org/package/2006/relationships"><Relationship Type="http://schemas.openxmlformats.org/officeDocument/2006/relationships/slide" Target="/ppt/slides/slide9.xml" Id="R64c683658151468a" /><Relationship Type="http://schemas.openxmlformats.org/officeDocument/2006/relationships/notesMaster" Target="/ppt/notesMasters/notesMaster1.xml" Id="Radd306ef049845c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21132d889e14e7e" /><Relationship Type="http://schemas.openxmlformats.org/officeDocument/2006/relationships/notesMaster" Target="/ppt/notesMasters/notesMaster1.xml" Id="Rb2d6344bd097478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7fbf89f196e438b" /><Relationship Type="http://schemas.openxmlformats.org/officeDocument/2006/relationships/notesMaster" Target="/ppt/notesMasters/notesMaster1.xml" Id="Rd908d79197a5464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90be88deac04e12" /><Relationship Type="http://schemas.openxmlformats.org/officeDocument/2006/relationships/notesMaster" Target="/ppt/notesMasters/notesMaster1.xml" Id="R1100e5cf96f049b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50b2213a49d43d3" /><Relationship Type="http://schemas.openxmlformats.org/officeDocument/2006/relationships/notesMaster" Target="/ppt/notesMasters/notesMaster1.xml" Id="R1e1c55fc662247a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791056d5e1e40bc" /><Relationship Type="http://schemas.openxmlformats.org/officeDocument/2006/relationships/notesMaster" Target="/ppt/notesMasters/notesMaster1.xml" Id="R54522d2baa934e3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15ef69865304979" /><Relationship Type="http://schemas.openxmlformats.org/officeDocument/2006/relationships/notesMaster" Target="/ppt/notesMasters/notesMaster1.xml" Id="Rb3fa8996946640b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fe8b2238bbf4d4f" /><Relationship Type="http://schemas.openxmlformats.org/officeDocument/2006/relationships/notesMaster" Target="/ppt/notesMasters/notesMaster1.xml" Id="R74b619a73ee848e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df2134e3b374fcc" /><Relationship Type="http://schemas.openxmlformats.org/officeDocument/2006/relationships/notesMaster" Target="/ppt/notesMasters/notesMaster1.xml" Id="Refe7da1bfd604d7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1756ed833bc4259" /><Relationship Type="http://schemas.openxmlformats.org/officeDocument/2006/relationships/notesMaster" Target="/ppt/notesMasters/notesMaster1.xml" Id="Rf405e13c89b34ea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58909de9df84664" /><Relationship Type="http://schemas.openxmlformats.org/officeDocument/2006/relationships/notesMaster" Target="/ppt/notesMasters/notesMaster1.xml" Id="R294682887deb4c9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b426b97c4ee4d20" /><Relationship Type="http://schemas.openxmlformats.org/officeDocument/2006/relationships/notesMaster" Target="/ppt/notesMasters/notesMaster1.xml" Id="R85e935a2d4454ef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8c6c52e82bb4387" /><Relationship Type="http://schemas.openxmlformats.org/officeDocument/2006/relationships/notesMaster" Target="/ppt/notesMasters/notesMaster1.xml" Id="Rc5b2fde99b81492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4256c353d174ef6" /><Relationship Type="http://schemas.openxmlformats.org/officeDocument/2006/relationships/notesMaster" Target="/ppt/notesMasters/notesMaster1.xml" Id="R02aa418d81a7497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questions, in order. How does the robot decide which person to follow. How does the OmTrackVLA model turn a camera frame into motion. And how are those two things connected, given that they are separate systems that were never designed to talk to each other.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docs/PROJECT_CONTEXT.md and docs/COMPUTE_PLACEMENT_PLAN.md, 2026-09-28.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clearing rule came from an upstream bug we inherited and fixed: without it, a new episode began with the previous episode's memory, in a different room, following a different person. On the robot the same hazard is a target change, so the buffer is wiped there too.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technical point I most want an opinion on. Three ways out: raise the planner rate and pay the compute, run proper pure pursuit over the whole eight-waypoint path so the horizon matches the control period, or simply select a later waypoint that really does correspond to half a second. I kept upstream parity as the safer starting point, but I do not think it is right.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docs/COMPUTE_PLACEMENT_PLAN.md, 2026-09-28. Offline comparisons are not a sustained live robot benchmark.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slide that makes the detection half necessary. A planner that cannot abstain is a planner that will confidently drive you into a wall when the person leaves the frame. Every gate in part three exists because of the right-hand column.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upstream OmTrackVLA commit e9cb1fb and docs/PROJECT_CONTEXT.md, 2026-09-28. The prompt comparison used one captured frame and is not a general accuracy measurement.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real_robot/target_perception.py and docs/PROJECT_CONTEXT.md, 2026-09-28.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real_robot/ridgeback.yaml, real_robot/target_perception.py, real_robot/inference_server.py, and docs/PROJECT_CONTEXT.md, 2026-09-29.</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Worth drawing the parallel out loud. Grounding DINO had the same failure mode as OmTrackVLA — the words were there and they were not doing the discriminating. The difference is that Grounding DINO exposes per-phrase boxes and scores, so the failure is observable and fixable from outside. OmTrackVLA exposes nothing.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camera-motion compensation is easy to overlook and it is load-bearing. On a static camera, a box that moves is a person who moved. On the Ridgeback, the whole image shifts whenever the base turns, and without compensation the tracker breaks identity every time the robot rotates — which is constantly, since it is turning to follow someone.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the prompt says “Follow the person with a bag,” the parser treats “bag” as the visual attribute and sends “person.” and “bag.” to Grounding DINO. The target manager checks whether each detected bag lies mostly inside a YOLO person box and is smaller than the person box. Because the prompt contains no colour word, the HSV colour test is skipped. If one person has a strong, unambiguous bag match, that candidate must remain verified for three consecutive target frames before the state becomes LOCKED. If no bag is found, or two people have similarly strong bag matches, the system stays in SEARCHING and the robot does not move.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appearance signature is needed because Grounding DINO runs only occasionally, while the tracker updates every target frame. After the system selects a person, it needs a lightweight way to check that the current track still resembles the same individual and to recover that individual after a brief occlusion without switching to a nearby stranger. The code stores colour distributions from the person’s clothing and compares new observations with that gallery. A poor match changes the state to UNCERTAIN and stops motion. This protects identity between grounding passes, although people wearing similar colours can still look alike to this hand-built descriptor.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target manager starts in SEARCHING. One candidate must pass the prompt and appearance checks for three target frames before LOCKED allows motion. If its track disappears or appearance similarity drops below 0.72, the state becomes UNCERTAIN immediately and motion stops. After eight unverified frames it becomes LOST. The original track can recover, or a freshly grounded candidate can recover if it also matches the stored appearance for three frames. LOST has no automatic timeout or identity replacement. The operator uses reset_target when a different person should be selected.</a:t>
            </a:r>
            <a:endParaRPr/>
          </a:p>
          <a:p xmlns:a="http://schemas.openxmlformats.org/drawingml/2006/main">
            <a:r>
              <a:t>Source: docs/PROJECT_CONTEXT.md and docs/COMPUTE_PLACEMENT_PLAN.md, 2026-09-28.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0.35 grounding threshold is the Grounding DINO library default. The 0.25 person confidence was chosen to retain weak detections for tracking. The values 0.15, 0.08, 0.72, 0.85, and the 3/8 frame counts are engineering choices in the local configuration. The observed ranges come from one live trial and did not tune these values. A labelled replay dataset and sensitivity analysis are still needed.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placement source: docs/COMPUTE_PLACEMENT_PLAN.md, 2026-09-28. Thor sources: https://developer.nvidia.com/embedded/jetpack and https://developer.nvidia.com/embedded/jetson-developer-kits. No Thor benchmark has been run for this project.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real_robot/ridgeback_ros2_node.py and docs/PROJECT_CONTEXT.md, 2026-09-28.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real_robot/ridgeback_ros2_node.py and docs/PROJECT_CONTEXT.md, 2026-09-28.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docs/RUN_REPORT_2026-09-29_OMTRACK75.md. All trial counts are from 80 status samples at 2 Hz. No continuous human ground truth or surveyed path was collected.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docs/RUN_REPORT_2026-09-29_OMTRACK75.md, Runs A and B. All denominators are 2 Hz status samples in separate 39.5-second windows. Odometry values are endpoint changes, not surveyed distance. The 75% weight in Run B was read back from the running ROS node.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docs/RUN_REPORT_2026-09-29_OMTRACK75.md, Runs C and D. Run D used target geometry for direction and yaw; OmTrackVLA still provided a fresh-planner dependency and raw speed cap. Run D odometry must not be attributed to autonomous controller output because mux inputs and output were not captured.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real_robot/ridgeback.yaml and docs/RUN_REPORT_2026-09-29_OMTRACK75.md. Current fusion_target_weight=0.75. The report notes that starting pose, scene, target motion, and lock duration were not held constant. Do not interpret sampled inference times as end-to-end speed gains.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d563000d8ca40c4"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2f5e09d8ba040b2" /><Relationship Type="http://schemas.openxmlformats.org/officeDocument/2006/relationships/slideLayout" Target="/ppt/slideLayouts/slideLayout1.xml" Id="R665cb57e9f8c4465"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5cb57e9f8c4465"/>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a0df5b5cbce486e" /><Relationship Type="http://schemas.openxmlformats.org/officeDocument/2006/relationships/notesSlide" Target="/ppt/notesSlides/notesSlide1.xml" Id="R0412ec7ee5b7443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16354c9edd04e93" /><Relationship Type="http://schemas.openxmlformats.org/officeDocument/2006/relationships/image" Target="/ppt/media/image.png" Id="R8aaeb5b57afc4691" /><Relationship Type="http://schemas.openxmlformats.org/officeDocument/2006/relationships/image" Target="/ppt/media/image2.png" Id="R816be523c80c43dd" /><Relationship Type="http://schemas.openxmlformats.org/officeDocument/2006/relationships/image" Target="/ppt/media/image3.png" Id="R5a4069e5e45c4cf8" /><Relationship Type="http://schemas.openxmlformats.org/officeDocument/2006/relationships/image" Target="/ppt/media/image4.png" Id="R30172aec068547e3" /><Relationship Type="http://schemas.openxmlformats.org/officeDocument/2006/relationships/image" Target="/ppt/media/image5.png" Id="R4d8b9636bd8141d7" /><Relationship Type="http://schemas.openxmlformats.org/officeDocument/2006/relationships/image" Target="/ppt/media/image6.png" Id="R44723d91b4ee4892" /><Relationship Type="http://schemas.openxmlformats.org/officeDocument/2006/relationships/notesSlide" Target="/ppt/notesSlides/notesSlide2.xml" Id="R6550c27c16e74d4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bc25b39cf1b4112" /><Relationship Type="http://schemas.openxmlformats.org/officeDocument/2006/relationships/image" Target="/ppt/media/image7.png" Id="R63dca703cf894407" /><Relationship Type="http://schemas.openxmlformats.org/officeDocument/2006/relationships/notesSlide" Target="/ppt/notesSlides/notesSlide3.xml" Id="Rf172ff48ac5d45c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4d34ff016974a79" /><Relationship Type="http://schemas.openxmlformats.org/officeDocument/2006/relationships/image" Target="/ppt/media/image8.png" Id="Rfbc7ad9d37ca4606" /><Relationship Type="http://schemas.openxmlformats.org/officeDocument/2006/relationships/notesSlide" Target="/ppt/notesSlides/notesSlide4.xml" Id="R1a5369b4e47544a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c0e1fb9580a460c" /><Relationship Type="http://schemas.openxmlformats.org/officeDocument/2006/relationships/notesSlide" Target="/ppt/notesSlides/notesSlide5.xml" Id="R7576994ccace424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1b793b2175a4633" /><Relationship Type="http://schemas.openxmlformats.org/officeDocument/2006/relationships/notesSlide" Target="/ppt/notesSlides/notesSlide6.xml" Id="R14e66f86e1dc44c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05b01d7698d4ef2" /><Relationship Type="http://schemas.openxmlformats.org/officeDocument/2006/relationships/notesSlide" Target="/ppt/notesSlides/notesSlide7.xml" Id="R9c8354d874fd42f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0f7a045c1ff473f" /><Relationship Type="http://schemas.openxmlformats.org/officeDocument/2006/relationships/notesSlide" Target="/ppt/notesSlides/notesSlide8.xml" Id="R04fd3c9b4eac453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f86bbe6804841f7" /><Relationship Type="http://schemas.openxmlformats.org/officeDocument/2006/relationships/notesSlide" Target="/ppt/notesSlides/notesSlide9.xml" Id="Rd0c61c4c72f9444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31371a34f244002" /><Relationship Type="http://schemas.openxmlformats.org/officeDocument/2006/relationships/notesSlide" Target="/ppt/notesSlides/notesSlide10.xml" Id="R3b458c1a134045e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0e095f741cc40d0" /><Relationship Type="http://schemas.openxmlformats.org/officeDocument/2006/relationships/notesSlide" Target="/ppt/notesSlides/notesSlide11.xml" Id="R64215ae04e8341a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400c86574824549" /><Relationship Type="http://schemas.openxmlformats.org/officeDocument/2006/relationships/notesSlide" Target="/ppt/notesSlides/notesSlide12.xml" Id="Ra07c58527cef482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3333ca691334ea8" /><Relationship Type="http://schemas.openxmlformats.org/officeDocument/2006/relationships/notesSlide" Target="/ppt/notesSlides/notesSlide13.xml" Id="R499ced72c71947f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d415a775cda471d" /><Relationship Type="http://schemas.openxmlformats.org/officeDocument/2006/relationships/notesSlide" Target="/ppt/notesSlides/notesSlide14.xml" Id="R247c197a5b23485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0bd16b72f3046f4" /><Relationship Type="http://schemas.openxmlformats.org/officeDocument/2006/relationships/notesSlide" Target="/ppt/notesSlides/notesSlide15.xml" Id="R170fc997c6214ac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49dbb5b862e4108" /><Relationship Type="http://schemas.openxmlformats.org/officeDocument/2006/relationships/notesSlide" Target="/ppt/notesSlides/notesSlide16.xml" Id="Rfe413a570047472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ec5e666ee1d4fbd" /><Relationship Type="http://schemas.openxmlformats.org/officeDocument/2006/relationships/notesSlide" Target="/ppt/notesSlides/notesSlide17.xml" Id="R49265fa9c206400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f5f03e2023b4e9f" /><Relationship Type="http://schemas.openxmlformats.org/officeDocument/2006/relationships/notesSlide" Target="/ppt/notesSlides/notesSlide18.xml" Id="R0bd699352ff84bf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2d8f245ba2644c7" /><Relationship Type="http://schemas.openxmlformats.org/officeDocument/2006/relationships/notesSlide" Target="/ppt/notesSlides/notesSlide19.xml" Id="Reae17dc0e414478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f5ccf10ce84492e" /><Relationship Type="http://schemas.openxmlformats.org/officeDocument/2006/relationships/notesSlide" Target="/ppt/notesSlides/notesSlide20.xml" Id="R453347fa70954d8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ab85ad6014f4558" /><Relationship Type="http://schemas.openxmlformats.org/officeDocument/2006/relationships/notesSlide" Target="/ppt/notesSlides/notesSlide21.xml" Id="Rad89c9d773624a0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a47a11da4b34d35" /><Relationship Type="http://schemas.openxmlformats.org/officeDocument/2006/relationships/notesSlide" Target="/ppt/notesSlides/notesSlide22.xml" Id="R6d8a37a1650f4381" /></Relationships>
</file>

<file path=ppt/slides/slide1.xml><?xml version="1.0" encoding="utf-8"?>
<p:sld xmlns:p="http://schemas.openxmlformats.org/presentationml/2006/main">
  <p:cSld>
    <p:bg>
      <p:bgPr>
        <a:solidFill xmlns:a="http://schemas.openxmlformats.org/drawingml/2006/main">
          <a:srgbClr val="10202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F1D0850-4CDC-48B4-9114-5440D24813C4}"/>
              </a:ext>
            </a:extLst>
          </p:cNvPr>
          <p:cNvSpPr>
            <a:spLocks xmlns:a="http://schemas.openxmlformats.org/drawingml/2006/main" noGrp="1"/>
          </p:cNvSpPr>
          <p:nvPr/>
        </p:nvSpPr>
        <p:spPr>
          <a:xfrm xmlns:a="http://schemas.openxmlformats.org/drawingml/2006/main">
            <a:off x="812720" y="812720"/>
            <a:ext cx="10883529" cy="23879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spc="150">
                <a:solidFill>
                  <a:srgbClr val="4FBFB4"/>
                </a:solidFill>
                <a:latin typeface="JetBrains Mono"/>
                <a:ea typeface="JetBrains Mono"/>
                <a:cs typeface="JetBrains Mono"/>
              </a:rPr>
              <a:t>TECHNICAL REVIEW</a:t>
            </a:r>
            <a:endParaRPr sz="1200"/>
          </a:p>
        </p:txBody>
      </p:sp>
      <p:sp>
        <p:nvSpPr>
          <p:cNvPr id="3" name="Text 1">
            <a:extLst xmlns:a="http://schemas.openxmlformats.org/drawingml/2006/main">
              <a:ext uri="{FF2B5EF4-FFF2-40B4-BE49-F238E27FC236}">
                <a16:creationId xmlns:a16="http://schemas.microsoft.com/office/drawing/2014/main" id="{FBAE76AA-1AE8-44D8-AD4F-DEFB1DC755F5}"/>
              </a:ext>
            </a:extLst>
          </p:cNvPr>
          <p:cNvSpPr>
            <a:spLocks xmlns:a="http://schemas.openxmlformats.org/drawingml/2006/main" noGrp="1"/>
          </p:cNvSpPr>
          <p:nvPr/>
        </p:nvSpPr>
        <p:spPr>
          <a:xfrm xmlns:a="http://schemas.openxmlformats.org/drawingml/2006/main">
            <a:off x="812720" y="2186998"/>
            <a:ext cx="9810681" cy="157982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6120"/>
              </a:lnSpc>
              <a:buNone/>
            </a:pPr>
            <a:r>
              <a:rPr sz="6000" b="1">
                <a:solidFill>
                  <a:srgbClr val="F6F6F2"/>
                </a:solidFill>
                <a:latin typeface="IBM Plex Sans"/>
                <a:ea typeface="IBM Plex Sans"/>
                <a:cs typeface="IBM Plex Sans"/>
              </a:rPr>
              <a:t>OmTrackVLA on a Clearpath Ridgeback</a:t>
            </a:r>
            <a:endParaRPr sz="6000"/>
          </a:p>
        </p:txBody>
      </p:sp>
      <p:sp>
        <p:nvSpPr>
          <p:cNvPr id="4" name="Text 2">
            <a:extLst xmlns:a="http://schemas.openxmlformats.org/drawingml/2006/main">
              <a:ext uri="{FF2B5EF4-FFF2-40B4-BE49-F238E27FC236}">
                <a16:creationId xmlns:a16="http://schemas.microsoft.com/office/drawing/2014/main" id="{3EE6FB1F-F866-4955-ACBA-7F02A3D44284}"/>
              </a:ext>
            </a:extLst>
          </p:cNvPr>
          <p:cNvSpPr>
            <a:spLocks xmlns:a="http://schemas.openxmlformats.org/drawingml/2006/main" noGrp="1"/>
          </p:cNvSpPr>
          <p:nvPr/>
        </p:nvSpPr>
        <p:spPr>
          <a:xfrm xmlns:a="http://schemas.openxmlformats.org/drawingml/2006/main">
            <a:off x="812720" y="3944584"/>
            <a:ext cx="9156617" cy="75180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860"/>
              </a:lnSpc>
              <a:buNone/>
            </a:pPr>
            <a:r>
              <a:rPr sz="2200">
                <a:solidFill>
                  <a:srgbClr val="A9BCC4"/>
                </a:solidFill>
                <a:latin typeface="IBM Plex Sans"/>
                <a:ea typeface="IBM Plex Sans"/>
                <a:cs typeface="IBM Plex Sans"/>
              </a:rPr>
              <a:t>How the person is detected, how the planner works, and how the two are joined.</a:t>
            </a:r>
            <a:endParaRPr sz="2200"/>
          </a:p>
        </p:txBody>
      </p:sp>
      <p:sp>
        <p:nvSpPr>
          <p:cNvPr id="5" name="Text 3">
            <a:extLst xmlns:a="http://schemas.openxmlformats.org/drawingml/2006/main">
              <a:ext uri="{FF2B5EF4-FFF2-40B4-BE49-F238E27FC236}">
                <a16:creationId xmlns:a16="http://schemas.microsoft.com/office/drawing/2014/main" id="{95A6C0D2-B2DD-498F-A67E-CE8B74533840}"/>
              </a:ext>
            </a:extLst>
          </p:cNvPr>
          <p:cNvSpPr>
            <a:spLocks xmlns:a="http://schemas.openxmlformats.org/drawingml/2006/main" noGrp="1"/>
          </p:cNvSpPr>
          <p:nvPr/>
        </p:nvSpPr>
        <p:spPr>
          <a:xfrm xmlns:a="http://schemas.openxmlformats.org/drawingml/2006/main">
            <a:off x="812720" y="5831873"/>
            <a:ext cx="873483" cy="23879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A9BCC4"/>
                </a:solidFill>
                <a:latin typeface="JetBrains Mono"/>
                <a:ea typeface="JetBrains Mono"/>
                <a:cs typeface="JetBrains Mono"/>
              </a:rPr>
              <a:t>r100-0160</a:t>
            </a:r>
            <a:endParaRPr sz="1200"/>
          </a:p>
        </p:txBody>
      </p:sp>
      <p:sp>
        <p:nvSpPr>
          <p:cNvPr id="6" name="Text 4">
            <a:extLst xmlns:a="http://schemas.openxmlformats.org/drawingml/2006/main">
              <a:ext uri="{FF2B5EF4-FFF2-40B4-BE49-F238E27FC236}">
                <a16:creationId xmlns:a16="http://schemas.microsoft.com/office/drawing/2014/main" id="{39BB7DE8-FB4B-4994-B9FF-3A4EE443F627}"/>
              </a:ext>
            </a:extLst>
          </p:cNvPr>
          <p:cNvSpPr>
            <a:spLocks xmlns:a="http://schemas.openxmlformats.org/drawingml/2006/main" noGrp="1"/>
          </p:cNvSpPr>
          <p:nvPr/>
        </p:nvSpPr>
        <p:spPr>
          <a:xfrm xmlns:a="http://schemas.openxmlformats.org/drawingml/2006/main">
            <a:off x="2041717" y="5831873"/>
            <a:ext cx="1056352" cy="23879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A9BCC4"/>
                </a:solidFill>
                <a:latin typeface="JetBrains Mono"/>
                <a:ea typeface="JetBrains Mono"/>
                <a:cs typeface="JetBrains Mono"/>
              </a:rPr>
              <a:t>ROS 2 Jazzy</a:t>
            </a:r>
            <a:endParaRPr sz="1200"/>
          </a:p>
        </p:txBody>
      </p:sp>
      <p:sp>
        <p:nvSpPr>
          <p:cNvPr id="7" name="Text 5">
            <a:extLst xmlns:a="http://schemas.openxmlformats.org/drawingml/2006/main">
              <a:ext uri="{FF2B5EF4-FFF2-40B4-BE49-F238E27FC236}">
                <a16:creationId xmlns:a16="http://schemas.microsoft.com/office/drawing/2014/main" id="{F3859EBF-2F26-4F5A-A42A-1AA7790C31AB}"/>
              </a:ext>
            </a:extLst>
          </p:cNvPr>
          <p:cNvSpPr>
            <a:spLocks xmlns:a="http://schemas.openxmlformats.org/drawingml/2006/main" noGrp="1"/>
          </p:cNvSpPr>
          <p:nvPr/>
        </p:nvSpPr>
        <p:spPr>
          <a:xfrm xmlns:a="http://schemas.openxmlformats.org/drawingml/2006/main">
            <a:off x="3453583" y="5831873"/>
            <a:ext cx="1239130" cy="23879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A9BCC4"/>
                </a:solidFill>
                <a:latin typeface="JetBrains Mono"/>
                <a:ea typeface="JetBrains Mono"/>
                <a:cs typeface="JetBrains Mono"/>
              </a:rPr>
              <a:t>RTX 5060 8 GB</a:t>
            </a:r>
            <a:endParaRPr sz="1200"/>
          </a:p>
        </p:txBody>
      </p:sp>
    </p:spTree>
    <p:extLst>
      <p:ext uri="{BB962C8B-B14F-4D97-AF65-F5344CB8AC3E}">
        <p14:creationId xmlns:p14="http://schemas.microsoft.com/office/powerpoint/2010/main" val="606002032"/>
      </p:ext>
    </p:extLst>
  </p:cSld>
</p:sld>
</file>

<file path=ppt/slides/slide2.xml><?xml version="1.0" encoding="utf-8"?>
<p:sld xmlns:p="http://schemas.openxmlformats.org/presentationml/2006/main">
  <p:cSld>
    <p:bg>
      <p:bgPr>
        <a:solidFill xmlns:a="http://schemas.openxmlformats.org/drawingml/2006/main">
          <a:srgbClr val="EAEAE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09AE5F5-4A1C-4292-B5F7-5FA7D57F8332}"/>
              </a:ext>
            </a:extLst>
          </p:cNvPr>
          <p:cNvSpPr>
            <a:spLocks xmlns:a="http://schemas.openxmlformats.org/drawingml/2006/main" noGrp="1"/>
          </p:cNvSpPr>
          <p:nvPr/>
        </p:nvSpPr>
        <p:spPr>
          <a:xfrm xmlns:a="http://schemas.openxmlformats.org/drawingml/2006/main">
            <a:off x="812720" y="812720"/>
            <a:ext cx="10883529" cy="1974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370"/>
              </a:lnSpc>
              <a:buNone/>
            </a:pPr>
            <a:r>
              <a:rPr sz="979" spc="150">
                <a:solidFill>
                  <a:srgbClr val="0F7D76"/>
                </a:solidFill>
                <a:latin typeface="JetBrains Mono"/>
                <a:ea typeface="JetBrains Mono"/>
                <a:cs typeface="JetBrains Mono"/>
              </a:rPr>
              <a:t>THE WHOLE SYSTEM ON ONE SLIDE</a:t>
            </a:r>
            <a:endParaRPr sz="979"/>
          </a:p>
        </p:txBody>
      </p:sp>
      <p:sp>
        <p:nvSpPr>
          <p:cNvPr id="3" name="Text 1">
            <a:extLst xmlns:a="http://schemas.openxmlformats.org/drawingml/2006/main">
              <a:ext uri="{FF2B5EF4-FFF2-40B4-BE49-F238E27FC236}">
                <a16:creationId xmlns:a16="http://schemas.microsoft.com/office/drawing/2014/main" id="{5FFF3E3A-0BF5-4B12-BA44-228F8B236CC2}"/>
              </a:ext>
            </a:extLst>
          </p:cNvPr>
          <p:cNvSpPr>
            <a:spLocks xmlns:a="http://schemas.openxmlformats.org/drawingml/2006/main" noGrp="1"/>
          </p:cNvSpPr>
          <p:nvPr/>
        </p:nvSpPr>
        <p:spPr>
          <a:xfrm xmlns:a="http://schemas.openxmlformats.org/drawingml/2006/main">
            <a:off x="812720" y="1162516"/>
            <a:ext cx="10883529" cy="75886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125"/>
              </a:lnSpc>
              <a:buNone/>
            </a:pPr>
            <a:r>
              <a:rPr sz="2790" b="1">
                <a:solidFill>
                  <a:srgbClr val="10202A"/>
                </a:solidFill>
                <a:latin typeface="IBM Plex Sans"/>
                <a:ea typeface="IBM Plex Sans"/>
                <a:cs typeface="IBM Plex Sans"/>
              </a:rPr>
              <a:t>One camera frame, two independent answers, joined afterwards</a:t>
            </a:r>
            <a:endParaRPr sz="2790"/>
          </a:p>
        </p:txBody>
      </p:sp>
      <p:sp>
        <p:nvSpPr>
          <p:cNvPr id="4" name="Shape 2">
            <a:extLst xmlns:a="http://schemas.openxmlformats.org/drawingml/2006/main">
              <a:ext uri="{FF2B5EF4-FFF2-40B4-BE49-F238E27FC236}">
                <a16:creationId xmlns:a16="http://schemas.microsoft.com/office/drawing/2014/main" id="{A710B512-DD57-4502-989F-51B6DAE21076}"/>
              </a:ext>
            </a:extLst>
          </p:cNvPr>
          <p:cNvSpPr>
            <a:spLocks xmlns:a="http://schemas.openxmlformats.org/drawingml/2006/main" noGrp="1"/>
          </p:cNvSpPr>
          <p:nvPr/>
        </p:nvSpPr>
        <p:spPr>
          <a:xfrm xmlns:a="http://schemas.openxmlformats.org/drawingml/2006/main">
            <a:off x="812720" y="3216732"/>
            <a:ext cx="1650981" cy="888983"/>
          </a:xfrm>
          <a:prstGeom xmlns:a="http://schemas.openxmlformats.org/drawingml/2006/main" prst="roundRect">
            <a:avLst>
              <a:gd name="adj" fmla="val 8572"/>
            </a:avLst>
          </a:prstGeom>
          <a:solidFill xmlns:a="http://schemas.openxmlformats.org/drawingml/2006/main">
            <a:srgbClr val="10202A"/>
          </a:solidFill>
        </p:spPr>
      </p:sp>
      <p:sp>
        <p:nvSpPr>
          <p:cNvPr id="5" name="Text 3">
            <a:extLst xmlns:a="http://schemas.openxmlformats.org/drawingml/2006/main">
              <a:ext uri="{FF2B5EF4-FFF2-40B4-BE49-F238E27FC236}">
                <a16:creationId xmlns:a16="http://schemas.microsoft.com/office/drawing/2014/main" id="{7697350A-40CE-46C7-9E0A-756897885CBB}"/>
              </a:ext>
            </a:extLst>
          </p:cNvPr>
          <p:cNvSpPr>
            <a:spLocks xmlns:a="http://schemas.openxmlformats.org/drawingml/2006/main" noGrp="1"/>
          </p:cNvSpPr>
          <p:nvPr/>
        </p:nvSpPr>
        <p:spPr>
          <a:xfrm xmlns:a="http://schemas.openxmlformats.org/drawingml/2006/main">
            <a:off x="965065" y="3404674"/>
            <a:ext cx="1397091" cy="27429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F6F6F2"/>
                </a:solidFill>
                <a:latin typeface="IBM Plex Sans"/>
                <a:ea typeface="IBM Plex Sans"/>
                <a:cs typeface="IBM Plex Sans"/>
              </a:rPr>
              <a:t>Camera frame</a:t>
            </a:r>
            <a:endParaRPr sz="1400"/>
          </a:p>
        </p:txBody>
      </p:sp>
      <p:sp>
        <p:nvSpPr>
          <p:cNvPr id="6" name="Text 4">
            <a:extLst xmlns:a="http://schemas.openxmlformats.org/drawingml/2006/main">
              <a:ext uri="{FF2B5EF4-FFF2-40B4-BE49-F238E27FC236}">
                <a16:creationId xmlns:a16="http://schemas.microsoft.com/office/drawing/2014/main" id="{D6E6EE44-2102-487B-B846-C26F6AE32925}"/>
              </a:ext>
            </a:extLst>
          </p:cNvPr>
          <p:cNvSpPr>
            <a:spLocks xmlns:a="http://schemas.openxmlformats.org/drawingml/2006/main" noGrp="1"/>
          </p:cNvSpPr>
          <p:nvPr/>
        </p:nvSpPr>
        <p:spPr>
          <a:xfrm xmlns:a="http://schemas.openxmlformats.org/drawingml/2006/main">
            <a:off x="965065" y="3704292"/>
            <a:ext cx="1397091" cy="23879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A9BCC4"/>
                </a:solidFill>
                <a:latin typeface="JetBrains Mono"/>
                <a:ea typeface="JetBrains Mono"/>
                <a:cs typeface="JetBrains Mono"/>
              </a:rPr>
              <a:t>+ the prompt</a:t>
            </a:r>
            <a:endParaRPr sz="1200"/>
          </a:p>
        </p:txBody>
      </p:sp>
      <p:sp>
        <p:nvSpPr>
          <p:cNvPr id="7" name="Shape 5">
            <a:extLst xmlns:a="http://schemas.openxmlformats.org/drawingml/2006/main">
              <a:ext uri="{FF2B5EF4-FFF2-40B4-BE49-F238E27FC236}">
                <a16:creationId xmlns:a16="http://schemas.microsoft.com/office/drawing/2014/main" id="{45D67279-8C55-48F4-8C57-0E0D842C434B}"/>
              </a:ext>
            </a:extLst>
          </p:cNvPr>
          <p:cNvSpPr>
            <a:spLocks xmlns:a="http://schemas.openxmlformats.org/drawingml/2006/main" noGrp="1"/>
          </p:cNvSpPr>
          <p:nvPr/>
        </p:nvSpPr>
        <p:spPr>
          <a:xfrm xmlns:a="http://schemas.openxmlformats.org/drawingml/2006/main">
            <a:off x="3101890" y="2267432"/>
            <a:ext cx="3549582" cy="1009618"/>
          </a:xfrm>
          <a:prstGeom xmlns:a="http://schemas.openxmlformats.org/drawingml/2006/main" prst="roundRect">
            <a:avLst>
              <a:gd name="adj" fmla="val 7233"/>
            </a:avLst>
          </a:prstGeom>
          <a:solidFill xmlns:a="http://schemas.openxmlformats.org/drawingml/2006/main">
            <a:srgbClr val="FFFFFF"/>
          </a:solidFill>
          <a:ln xmlns:a="http://schemas.openxmlformats.org/drawingml/2006/main" w="6350">
            <a:solidFill>
              <a:srgbClr val="D9DAD2"/>
            </a:solidFill>
            <a:prstDash val="solid"/>
          </a:ln>
        </p:spPr>
      </p:sp>
      <p:sp>
        <p:nvSpPr>
          <p:cNvPr id="8" name="Text 6">
            <a:extLst xmlns:a="http://schemas.openxmlformats.org/drawingml/2006/main">
              <a:ext uri="{FF2B5EF4-FFF2-40B4-BE49-F238E27FC236}">
                <a16:creationId xmlns:a16="http://schemas.microsoft.com/office/drawing/2014/main" id="{D221F39E-1FC6-45BE-8B5B-28B8170FF15F}"/>
              </a:ext>
            </a:extLst>
          </p:cNvPr>
          <p:cNvSpPr>
            <a:spLocks xmlns:a="http://schemas.openxmlformats.org/drawingml/2006/main" noGrp="1"/>
          </p:cNvSpPr>
          <p:nvPr/>
        </p:nvSpPr>
        <p:spPr>
          <a:xfrm xmlns:a="http://schemas.openxmlformats.org/drawingml/2006/main">
            <a:off x="3244176" y="2409719"/>
            <a:ext cx="3362958" cy="23833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0F7D76"/>
                </a:solidFill>
                <a:latin typeface="JetBrains Mono"/>
                <a:ea typeface="JetBrains Mono"/>
                <a:cs typeface="JetBrains Mono"/>
              </a:rPr>
              <a:t>PART 2 · DETECTION</a:t>
            </a:r>
            <a:endParaRPr sz="1200"/>
          </a:p>
        </p:txBody>
      </p:sp>
      <p:sp>
        <p:nvSpPr>
          <p:cNvPr id="9" name="Text 7">
            <a:extLst xmlns:a="http://schemas.openxmlformats.org/drawingml/2006/main">
              <a:ext uri="{FF2B5EF4-FFF2-40B4-BE49-F238E27FC236}">
                <a16:creationId xmlns:a16="http://schemas.microsoft.com/office/drawing/2014/main" id="{E80E5E24-F782-4DC7-93E3-B17B3F00CF15}"/>
              </a:ext>
            </a:extLst>
          </p:cNvPr>
          <p:cNvSpPr>
            <a:spLocks xmlns:a="http://schemas.openxmlformats.org/drawingml/2006/main" noGrp="1"/>
          </p:cNvSpPr>
          <p:nvPr/>
        </p:nvSpPr>
        <p:spPr>
          <a:xfrm xmlns:a="http://schemas.openxmlformats.org/drawingml/2006/main">
            <a:off x="3244176" y="2660699"/>
            <a:ext cx="3362958" cy="25609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0202A"/>
                </a:solidFill>
                <a:latin typeface="IBM Plex Sans"/>
                <a:ea typeface="IBM Plex Sans"/>
                <a:cs typeface="IBM Plex Sans"/>
              </a:rPr>
              <a:t>Grounding DINO · YOLO · BoT-SORT</a:t>
            </a:r>
            <a:endParaRPr sz="1300"/>
          </a:p>
        </p:txBody>
      </p:sp>
      <p:sp>
        <p:nvSpPr>
          <p:cNvPr id="10" name="Text 8">
            <a:extLst xmlns:a="http://schemas.openxmlformats.org/drawingml/2006/main">
              <a:ext uri="{FF2B5EF4-FFF2-40B4-BE49-F238E27FC236}">
                <a16:creationId xmlns:a16="http://schemas.microsoft.com/office/drawing/2014/main" id="{7F36F5BC-1BA0-4059-BEFA-0DE94EE39BC0}"/>
              </a:ext>
            </a:extLst>
          </p:cNvPr>
          <p:cNvSpPr>
            <a:spLocks xmlns:a="http://schemas.openxmlformats.org/drawingml/2006/main" noGrp="1"/>
          </p:cNvSpPr>
          <p:nvPr/>
        </p:nvSpPr>
        <p:spPr>
          <a:xfrm xmlns:a="http://schemas.openxmlformats.org/drawingml/2006/main">
            <a:off x="3244176" y="2929432"/>
            <a:ext cx="3362958" cy="23073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620"/>
              </a:lnSpc>
              <a:buNone/>
            </a:pPr>
            <a:r>
              <a:rPr sz="1200">
                <a:solidFill>
                  <a:srgbClr val="4D5A63"/>
                </a:solidFill>
                <a:latin typeface="JetBrains Mono"/>
                <a:ea typeface="JetBrains Mono"/>
                <a:cs typeface="JetBrains Mono"/>
              </a:rPr>
              <a:t>select and verify the target</a:t>
            </a:r>
            <a:endParaRPr sz="1200"/>
          </a:p>
        </p:txBody>
      </p:sp>
      <p:sp>
        <p:nvSpPr>
          <p:cNvPr id="11" name="Shape 9">
            <a:extLst xmlns:a="http://schemas.openxmlformats.org/drawingml/2006/main">
              <a:ext uri="{FF2B5EF4-FFF2-40B4-BE49-F238E27FC236}">
                <a16:creationId xmlns:a16="http://schemas.microsoft.com/office/drawing/2014/main" id="{485139C9-D534-45CA-9EDB-F5B0592C6D91}"/>
              </a:ext>
            </a:extLst>
          </p:cNvPr>
          <p:cNvSpPr>
            <a:spLocks xmlns:a="http://schemas.openxmlformats.org/drawingml/2006/main" noGrp="1"/>
          </p:cNvSpPr>
          <p:nvPr/>
        </p:nvSpPr>
        <p:spPr>
          <a:xfrm xmlns:a="http://schemas.openxmlformats.org/drawingml/2006/main">
            <a:off x="3101890" y="4235875"/>
            <a:ext cx="3549582" cy="1009618"/>
          </a:xfrm>
          <a:prstGeom xmlns:a="http://schemas.openxmlformats.org/drawingml/2006/main" prst="roundRect">
            <a:avLst>
              <a:gd name="adj" fmla="val 7233"/>
            </a:avLst>
          </a:prstGeom>
          <a:solidFill xmlns:a="http://schemas.openxmlformats.org/drawingml/2006/main">
            <a:srgbClr val="FFFFFF"/>
          </a:solidFill>
          <a:ln xmlns:a="http://schemas.openxmlformats.org/drawingml/2006/main" w="6350">
            <a:solidFill>
              <a:srgbClr val="D9DAD2"/>
            </a:solidFill>
            <a:prstDash val="solid"/>
          </a:ln>
        </p:spPr>
      </p:sp>
      <p:sp>
        <p:nvSpPr>
          <p:cNvPr id="12" name="Text 10">
            <a:extLst xmlns:a="http://schemas.openxmlformats.org/drawingml/2006/main">
              <a:ext uri="{FF2B5EF4-FFF2-40B4-BE49-F238E27FC236}">
                <a16:creationId xmlns:a16="http://schemas.microsoft.com/office/drawing/2014/main" id="{EDD5D14E-D418-42B6-8998-951B438DE1F9}"/>
              </a:ext>
            </a:extLst>
          </p:cNvPr>
          <p:cNvSpPr>
            <a:spLocks xmlns:a="http://schemas.openxmlformats.org/drawingml/2006/main" noGrp="1"/>
          </p:cNvSpPr>
          <p:nvPr/>
        </p:nvSpPr>
        <p:spPr>
          <a:xfrm xmlns:a="http://schemas.openxmlformats.org/drawingml/2006/main">
            <a:off x="3244176" y="4378161"/>
            <a:ext cx="3362958" cy="18716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270"/>
              </a:lnSpc>
              <a:buNone/>
            </a:pPr>
            <a:r>
              <a:rPr sz="907">
                <a:solidFill>
                  <a:srgbClr val="9C5308"/>
                </a:solidFill>
                <a:latin typeface="JetBrains Mono"/>
                <a:ea typeface="JetBrains Mono"/>
                <a:cs typeface="JetBrains Mono"/>
              </a:rPr>
              <a:t>PART 1 · PLANNING</a:t>
            </a:r>
            <a:endParaRPr sz="907"/>
          </a:p>
        </p:txBody>
      </p:sp>
      <p:sp>
        <p:nvSpPr>
          <p:cNvPr id="13" name="Text 11">
            <a:extLst xmlns:a="http://schemas.openxmlformats.org/drawingml/2006/main">
              <a:ext uri="{FF2B5EF4-FFF2-40B4-BE49-F238E27FC236}">
                <a16:creationId xmlns:a16="http://schemas.microsoft.com/office/drawing/2014/main" id="{B56C91D6-716C-4200-9B68-A1F77FA011E1}"/>
              </a:ext>
            </a:extLst>
          </p:cNvPr>
          <p:cNvSpPr>
            <a:spLocks xmlns:a="http://schemas.openxmlformats.org/drawingml/2006/main" noGrp="1"/>
          </p:cNvSpPr>
          <p:nvPr/>
        </p:nvSpPr>
        <p:spPr>
          <a:xfrm xmlns:a="http://schemas.openxmlformats.org/drawingml/2006/main">
            <a:off x="3244176" y="4577968"/>
            <a:ext cx="3362958" cy="20057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22"/>
              </a:lnSpc>
              <a:buNone/>
            </a:pPr>
            <a:r>
              <a:rPr sz="1016" b="1">
                <a:solidFill>
                  <a:srgbClr val="10202A"/>
                </a:solidFill>
                <a:latin typeface="IBM Plex Sans"/>
                <a:ea typeface="IBM Plex Sans"/>
                <a:cs typeface="IBM Plex Sans"/>
              </a:rPr>
              <a:t>OmTrackVLA 0.6B</a:t>
            </a:r>
            <a:endParaRPr sz="1016"/>
          </a:p>
        </p:txBody>
      </p:sp>
      <p:sp>
        <p:nvSpPr>
          <p:cNvPr id="14" name="Text 12">
            <a:extLst xmlns:a="http://schemas.openxmlformats.org/drawingml/2006/main">
              <a:ext uri="{FF2B5EF4-FFF2-40B4-BE49-F238E27FC236}">
                <a16:creationId xmlns:a16="http://schemas.microsoft.com/office/drawing/2014/main" id="{F5072E79-EA7F-4E1D-BC7B-79B63849F459}"/>
              </a:ext>
            </a:extLst>
          </p:cNvPr>
          <p:cNvSpPr>
            <a:spLocks xmlns:a="http://schemas.openxmlformats.org/drawingml/2006/main" noGrp="1"/>
          </p:cNvSpPr>
          <p:nvPr/>
        </p:nvSpPr>
        <p:spPr>
          <a:xfrm xmlns:a="http://schemas.openxmlformats.org/drawingml/2006/main">
            <a:off x="3244176" y="4791179"/>
            <a:ext cx="3362958" cy="33742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235"/>
              </a:lnSpc>
              <a:buNone/>
            </a:pPr>
            <a:r>
              <a:rPr sz="915">
                <a:solidFill>
                  <a:srgbClr val="4D5A63"/>
                </a:solidFill>
                <a:latin typeface="JetBrains Mono"/>
                <a:ea typeface="JetBrains Mono"/>
                <a:cs typeface="JetBrains Mono"/>
              </a:rPr>
              <a:t>full image and prompt become a waypoint path</a:t>
            </a:r>
            <a:endParaRPr sz="915"/>
          </a:p>
        </p:txBody>
      </p:sp>
      <p:sp>
        <p:nvSpPr>
          <p:cNvPr id="15" name="Shape 13">
            <a:extLst xmlns:a="http://schemas.openxmlformats.org/drawingml/2006/main">
              <a:ext uri="{FF2B5EF4-FFF2-40B4-BE49-F238E27FC236}">
                <a16:creationId xmlns:a16="http://schemas.microsoft.com/office/drawing/2014/main" id="{D1607F85-2588-470B-A3D5-BB4049193AE1}"/>
              </a:ext>
            </a:extLst>
          </p:cNvPr>
          <p:cNvSpPr>
            <a:spLocks xmlns:a="http://schemas.openxmlformats.org/drawingml/2006/main" noGrp="1"/>
          </p:cNvSpPr>
          <p:nvPr/>
        </p:nvSpPr>
        <p:spPr>
          <a:xfrm xmlns:a="http://schemas.openxmlformats.org/drawingml/2006/main">
            <a:off x="7038866" y="2330924"/>
            <a:ext cx="1898600" cy="882633"/>
          </a:xfrm>
          <a:prstGeom xmlns:a="http://schemas.openxmlformats.org/drawingml/2006/main" prst="roundRect">
            <a:avLst>
              <a:gd name="adj" fmla="val 8274"/>
            </a:avLst>
          </a:prstGeom>
          <a:solidFill xmlns:a="http://schemas.openxmlformats.org/drawingml/2006/main">
            <a:srgbClr val="FFFFFF"/>
          </a:solidFill>
          <a:ln xmlns:a="http://schemas.openxmlformats.org/drawingml/2006/main" w="6350">
            <a:solidFill>
              <a:srgbClr val="D9DAD2"/>
            </a:solidFill>
            <a:prstDash val="solid"/>
          </a:ln>
        </p:spPr>
      </p:sp>
      <p:sp>
        <p:nvSpPr>
          <p:cNvPr id="16" name="Text 14">
            <a:extLst xmlns:a="http://schemas.openxmlformats.org/drawingml/2006/main">
              <a:ext uri="{FF2B5EF4-FFF2-40B4-BE49-F238E27FC236}">
                <a16:creationId xmlns:a16="http://schemas.microsoft.com/office/drawing/2014/main" id="{3C212728-71D9-4B72-B0F4-0526A2E38934}"/>
              </a:ext>
            </a:extLst>
          </p:cNvPr>
          <p:cNvSpPr>
            <a:spLocks xmlns:a="http://schemas.openxmlformats.org/drawingml/2006/main" noGrp="1"/>
          </p:cNvSpPr>
          <p:nvPr/>
        </p:nvSpPr>
        <p:spPr>
          <a:xfrm xmlns:a="http://schemas.openxmlformats.org/drawingml/2006/main">
            <a:off x="7181152" y="2473211"/>
            <a:ext cx="1664827" cy="23172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621"/>
              </a:lnSpc>
              <a:buNone/>
            </a:pPr>
            <a:r>
              <a:rPr sz="1158" b="1">
                <a:solidFill>
                  <a:srgbClr val="10202A"/>
                </a:solidFill>
                <a:latin typeface="IBM Plex Sans"/>
                <a:ea typeface="IBM Plex Sans"/>
                <a:cs typeface="IBM Plex Sans"/>
              </a:rPr>
              <a:t>Leader position</a:t>
            </a:r>
            <a:endParaRPr sz="1158"/>
          </a:p>
        </p:txBody>
      </p:sp>
      <p:sp>
        <p:nvSpPr>
          <p:cNvPr id="17" name="Text 15">
            <a:extLst xmlns:a="http://schemas.openxmlformats.org/drawingml/2006/main">
              <a:ext uri="{FF2B5EF4-FFF2-40B4-BE49-F238E27FC236}">
                <a16:creationId xmlns:a16="http://schemas.microsoft.com/office/drawing/2014/main" id="{D6A8C94F-0DCB-41AA-BAD1-9782586F13CA}"/>
              </a:ext>
            </a:extLst>
          </p:cNvPr>
          <p:cNvSpPr>
            <a:spLocks xmlns:a="http://schemas.openxmlformats.org/drawingml/2006/main" noGrp="1"/>
          </p:cNvSpPr>
          <p:nvPr/>
        </p:nvSpPr>
        <p:spPr>
          <a:xfrm xmlns:a="http://schemas.openxmlformats.org/drawingml/2006/main">
            <a:off x="7181152" y="2717580"/>
            <a:ext cx="1664827" cy="37909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409"/>
              </a:lnSpc>
              <a:buNone/>
            </a:pPr>
            <a:r>
              <a:rPr sz="1084">
                <a:solidFill>
                  <a:srgbClr val="4D5A63"/>
                </a:solidFill>
                <a:latin typeface="IBM Plex Sans"/>
                <a:ea typeface="IBM Plex Sans"/>
                <a:cs typeface="IBM Plex Sans"/>
              </a:rPr>
              <a:t>bounding box and depth become a direction</a:t>
            </a:r>
            <a:endParaRPr sz="1084"/>
          </a:p>
        </p:txBody>
      </p:sp>
      <p:sp>
        <p:nvSpPr>
          <p:cNvPr id="18" name="Shape 16">
            <a:extLst xmlns:a="http://schemas.openxmlformats.org/drawingml/2006/main">
              <a:ext uri="{FF2B5EF4-FFF2-40B4-BE49-F238E27FC236}">
                <a16:creationId xmlns:a16="http://schemas.microsoft.com/office/drawing/2014/main" id="{B19B29AF-01FE-41AF-B7CF-BF9639A9AED8}"/>
              </a:ext>
            </a:extLst>
          </p:cNvPr>
          <p:cNvSpPr>
            <a:spLocks xmlns:a="http://schemas.openxmlformats.org/drawingml/2006/main" noGrp="1"/>
          </p:cNvSpPr>
          <p:nvPr/>
        </p:nvSpPr>
        <p:spPr>
          <a:xfrm xmlns:a="http://schemas.openxmlformats.org/drawingml/2006/main">
            <a:off x="7038866" y="4299367"/>
            <a:ext cx="1898600" cy="882633"/>
          </a:xfrm>
          <a:prstGeom xmlns:a="http://schemas.openxmlformats.org/drawingml/2006/main" prst="roundRect">
            <a:avLst>
              <a:gd name="adj" fmla="val 8274"/>
            </a:avLst>
          </a:prstGeom>
          <a:solidFill xmlns:a="http://schemas.openxmlformats.org/drawingml/2006/main">
            <a:srgbClr val="FFFFFF"/>
          </a:solidFill>
          <a:ln xmlns:a="http://schemas.openxmlformats.org/drawingml/2006/main" w="6350">
            <a:solidFill>
              <a:srgbClr val="D9DAD2"/>
            </a:solidFill>
            <a:prstDash val="solid"/>
          </a:ln>
        </p:spPr>
      </p:sp>
      <p:sp>
        <p:nvSpPr>
          <p:cNvPr id="19" name="Text 17">
            <a:extLst xmlns:a="http://schemas.openxmlformats.org/drawingml/2006/main">
              <a:ext uri="{FF2B5EF4-FFF2-40B4-BE49-F238E27FC236}">
                <a16:creationId xmlns:a16="http://schemas.microsoft.com/office/drawing/2014/main" id="{E5897E03-B0F1-4B81-8416-CBCB2C9BAB89}"/>
              </a:ext>
            </a:extLst>
          </p:cNvPr>
          <p:cNvSpPr>
            <a:spLocks xmlns:a="http://schemas.openxmlformats.org/drawingml/2006/main" noGrp="1"/>
          </p:cNvSpPr>
          <p:nvPr/>
        </p:nvSpPr>
        <p:spPr>
          <a:xfrm xmlns:a="http://schemas.openxmlformats.org/drawingml/2006/main">
            <a:off x="7181152" y="4507048"/>
            <a:ext cx="1664827" cy="25654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820"/>
              </a:lnSpc>
              <a:buNone/>
            </a:pPr>
            <a:r>
              <a:rPr sz="1300" b="1">
                <a:solidFill>
                  <a:srgbClr val="10202A"/>
                </a:solidFill>
                <a:latin typeface="IBM Plex Sans"/>
                <a:ea typeface="IBM Plex Sans"/>
                <a:cs typeface="IBM Plex Sans"/>
              </a:rPr>
              <a:t>OmTrackVLA path</a:t>
            </a:r>
            <a:endParaRPr sz="1300"/>
          </a:p>
        </p:txBody>
      </p:sp>
      <p:sp>
        <p:nvSpPr>
          <p:cNvPr id="20" name="Text 18">
            <a:extLst xmlns:a="http://schemas.openxmlformats.org/drawingml/2006/main">
              <a:ext uri="{FF2B5EF4-FFF2-40B4-BE49-F238E27FC236}">
                <a16:creationId xmlns:a16="http://schemas.microsoft.com/office/drawing/2014/main" id="{7176EC0F-879E-4861-A7A8-2329BC49499F}"/>
              </a:ext>
            </a:extLst>
          </p:cNvPr>
          <p:cNvSpPr>
            <a:spLocks xmlns:a="http://schemas.openxmlformats.org/drawingml/2006/main" noGrp="1"/>
          </p:cNvSpPr>
          <p:nvPr/>
        </p:nvSpPr>
        <p:spPr>
          <a:xfrm xmlns:a="http://schemas.openxmlformats.org/drawingml/2006/main">
            <a:off x="7181152" y="4776234"/>
            <a:ext cx="1664827" cy="22348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90916"/>
          </a:bodyPr>
          <a:lstStyle xmlns:a="http://schemas.openxmlformats.org/drawingml/2006/main"/>
          <a:p xmlns:a="http://schemas.openxmlformats.org/drawingml/2006/main">
            <a:pPr marL="0" indent="0" algn="l">
              <a:lnSpc>
                <a:spcPts val="1560"/>
              </a:lnSpc>
              <a:buNone/>
            </a:pPr>
            <a:r>
              <a:rPr sz="1200">
                <a:solidFill>
                  <a:srgbClr val="4D5A63"/>
                </a:solidFill>
                <a:latin typeface="IBM Plex Sans"/>
                <a:ea typeface="IBM Plex Sans"/>
                <a:cs typeface="IBM Plex Sans"/>
              </a:rPr>
              <a:t>first waypoint sets direction</a:t>
            </a:r>
            <a:endParaRPr sz="1200"/>
          </a:p>
        </p:txBody>
      </p:sp>
      <p:sp>
        <p:nvSpPr>
          <p:cNvPr id="21" name="Shape 19">
            <a:extLst xmlns:a="http://schemas.openxmlformats.org/drawingml/2006/main">
              <a:ext uri="{FF2B5EF4-FFF2-40B4-BE49-F238E27FC236}">
                <a16:creationId xmlns:a16="http://schemas.microsoft.com/office/drawing/2014/main" id="{523427C0-B11A-4F2C-A3EC-861D869CE572}"/>
              </a:ext>
            </a:extLst>
          </p:cNvPr>
          <p:cNvSpPr>
            <a:spLocks xmlns:a="http://schemas.openxmlformats.org/drawingml/2006/main" noGrp="1"/>
          </p:cNvSpPr>
          <p:nvPr/>
        </p:nvSpPr>
        <p:spPr>
          <a:xfrm xmlns:a="http://schemas.openxmlformats.org/drawingml/2006/main">
            <a:off x="9321685" y="3216732"/>
            <a:ext cx="2057386" cy="888983"/>
          </a:xfrm>
          <a:prstGeom xmlns:a="http://schemas.openxmlformats.org/drawingml/2006/main" prst="roundRect">
            <a:avLst>
              <a:gd name="adj" fmla="val 8572"/>
            </a:avLst>
          </a:prstGeom>
          <a:solidFill xmlns:a="http://schemas.openxmlformats.org/drawingml/2006/main">
            <a:srgbClr val="0F7D76"/>
          </a:solidFill>
        </p:spPr>
      </p:sp>
      <p:sp>
        <p:nvSpPr>
          <p:cNvPr id="22" name="Text 20">
            <a:extLst xmlns:a="http://schemas.openxmlformats.org/drawingml/2006/main">
              <a:ext uri="{FF2B5EF4-FFF2-40B4-BE49-F238E27FC236}">
                <a16:creationId xmlns:a16="http://schemas.microsoft.com/office/drawing/2014/main" id="{833A4BCE-6C84-455E-8163-121A66E8D931}"/>
              </a:ext>
            </a:extLst>
          </p:cNvPr>
          <p:cNvSpPr>
            <a:spLocks xmlns:a="http://schemas.openxmlformats.org/drawingml/2006/main" noGrp="1"/>
          </p:cNvSpPr>
          <p:nvPr/>
        </p:nvSpPr>
        <p:spPr>
          <a:xfrm xmlns:a="http://schemas.openxmlformats.org/drawingml/2006/main">
            <a:off x="9461350" y="3356397"/>
            <a:ext cx="1831398" cy="20265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23"/>
              </a:lnSpc>
              <a:buNone/>
            </a:pPr>
            <a:r>
              <a:rPr sz="1016">
                <a:solidFill>
                  <a:srgbClr val="F6F6F2"/>
                </a:solidFill>
                <a:latin typeface="JetBrains Mono"/>
                <a:ea typeface="JetBrains Mono"/>
                <a:cs typeface="JetBrains Mono"/>
              </a:rPr>
              <a:t>PART 3</a:t>
            </a:r>
            <a:endParaRPr sz="1016"/>
          </a:p>
        </p:txBody>
      </p:sp>
      <p:sp>
        <p:nvSpPr>
          <p:cNvPr id="23" name="Text 21">
            <a:extLst xmlns:a="http://schemas.openxmlformats.org/drawingml/2006/main">
              <a:ext uri="{FF2B5EF4-FFF2-40B4-BE49-F238E27FC236}">
                <a16:creationId xmlns:a16="http://schemas.microsoft.com/office/drawing/2014/main" id="{6D40BD27-45DA-45F9-8B1C-B6E88C4C17F1}"/>
              </a:ext>
            </a:extLst>
          </p:cNvPr>
          <p:cNvSpPr>
            <a:spLocks xmlns:a="http://schemas.openxmlformats.org/drawingml/2006/main" noGrp="1"/>
          </p:cNvSpPr>
          <p:nvPr/>
        </p:nvSpPr>
        <p:spPr>
          <a:xfrm xmlns:a="http://schemas.openxmlformats.org/drawingml/2006/main">
            <a:off x="9461350" y="3571691"/>
            <a:ext cx="1831398" cy="21723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98137"/>
          </a:bodyPr>
          <a:lstStyle xmlns:a="http://schemas.openxmlformats.org/drawingml/2006/main"/>
          <a:p xmlns:a="http://schemas.openxmlformats.org/drawingml/2006/main">
            <a:pPr marL="0" indent="0" algn="l">
              <a:lnSpc>
                <a:spcPts val="1524"/>
              </a:lnSpc>
              <a:buNone/>
            </a:pPr>
            <a:r>
              <a:rPr sz="1089" b="1">
                <a:solidFill>
                  <a:srgbClr val="F6F6F2"/>
                </a:solidFill>
                <a:latin typeface="IBM Plex Sans"/>
                <a:ea typeface="IBM Plex Sans"/>
                <a:cs typeface="IBM Plex Sans"/>
              </a:rPr>
              <a:t>Direction fusion, then safety</a:t>
            </a:r>
            <a:endParaRPr sz="1089"/>
          </a:p>
        </p:txBody>
      </p:sp>
      <p:sp>
        <p:nvSpPr>
          <p:cNvPr id="24" name="Text 22">
            <a:extLst xmlns:a="http://schemas.openxmlformats.org/drawingml/2006/main">
              <a:ext uri="{FF2B5EF4-FFF2-40B4-BE49-F238E27FC236}">
                <a16:creationId xmlns:a16="http://schemas.microsoft.com/office/drawing/2014/main" id="{01589A1C-8204-46E0-A58D-49B7035B8E70}"/>
              </a:ext>
            </a:extLst>
          </p:cNvPr>
          <p:cNvSpPr>
            <a:spLocks xmlns:a="http://schemas.openxmlformats.org/drawingml/2006/main" noGrp="1"/>
          </p:cNvSpPr>
          <p:nvPr/>
        </p:nvSpPr>
        <p:spPr>
          <a:xfrm xmlns:a="http://schemas.openxmlformats.org/drawingml/2006/main">
            <a:off x="9461350" y="3801568"/>
            <a:ext cx="1831398" cy="18988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321"/>
              </a:lnSpc>
              <a:buNone/>
            </a:pPr>
            <a:r>
              <a:rPr sz="1016">
                <a:solidFill>
                  <a:srgbClr val="F6F6F2"/>
                </a:solidFill>
                <a:latin typeface="IBM Plex Sans"/>
                <a:ea typeface="IBM Plex Sans"/>
                <a:cs typeface="IBM Plex Sans"/>
              </a:rPr>
              <a:t>then cmd_vel</a:t>
            </a:r>
            <a:endParaRPr sz="1016"/>
          </a:p>
        </p:txBody>
      </p:sp>
      <p:pic>
        <p:nvPicPr>
          <p:cNvPr id="61" name="Image 0"/>
          <p:cNvPicPr>
            <a:picLocks xmlns:a="http://schemas.openxmlformats.org/drawingml/2006/main" noChangeAspect="1"/>
          </p:cNvPicPr>
          <p:nvPr/>
        </p:nvPicPr>
        <p:blipFill>
          <a:blip xmlns:r="http://schemas.openxmlformats.org/officeDocument/2006/relationships" xmlns:a="http://schemas.openxmlformats.org/drawingml/2006/main" r:embed="R8aaeb5b57afc4691"/>
          <a:srcRect xmlns:a="http://schemas.openxmlformats.org/drawingml/2006/main" l="-1" t="0" r="-1" b="0"/>
          <a:stretch xmlns:a="http://schemas.openxmlformats.org/drawingml/2006/main"/>
        </p:blipFill>
        <p:spPr>
          <a:xfrm xmlns:a="http://schemas.openxmlformats.org/drawingml/2006/main">
            <a:off x="1587398" y="2721474"/>
            <a:ext cx="1562038" cy="546070"/>
          </a:xfrm>
          <a:prstGeom xmlns:a="http://schemas.openxmlformats.org/drawingml/2006/main" prst="rect">
            <a:avLst/>
          </a:prstGeom>
        </p:spPr>
      </p:pic>
      <p:pic>
        <p:nvPicPr>
          <p:cNvPr id="62" name="Image 1"/>
          <p:cNvPicPr>
            <a:picLocks xmlns:a="http://schemas.openxmlformats.org/drawingml/2006/main" noChangeAspect="1"/>
          </p:cNvPicPr>
          <p:nvPr/>
        </p:nvPicPr>
        <p:blipFill>
          <a:blip xmlns:r="http://schemas.openxmlformats.org/officeDocument/2006/relationships" xmlns:a="http://schemas.openxmlformats.org/drawingml/2006/main" r:embed="R816be523c80c43dd"/>
          <a:srcRect xmlns:a="http://schemas.openxmlformats.org/drawingml/2006/main" l="-2" t="0" r="-2" b="0"/>
          <a:stretch xmlns:a="http://schemas.openxmlformats.org/drawingml/2006/main"/>
        </p:blipFill>
        <p:spPr>
          <a:xfrm xmlns:a="http://schemas.openxmlformats.org/drawingml/2006/main">
            <a:off x="1587398" y="4054904"/>
            <a:ext cx="1562038" cy="736547"/>
          </a:xfrm>
          <a:prstGeom xmlns:a="http://schemas.openxmlformats.org/drawingml/2006/main" prst="rect">
            <a:avLst/>
          </a:prstGeom>
        </p:spPr>
      </p:pic>
      <p:pic>
        <p:nvPicPr>
          <p:cNvPr id="63" name="Image 2"/>
          <p:cNvPicPr>
            <a:picLocks xmlns:a="http://schemas.openxmlformats.org/drawingml/2006/main" noChangeAspect="1"/>
          </p:cNvPicPr>
          <p:nvPr/>
        </p:nvPicPr>
        <p:blipFill>
          <a:blip xmlns:r="http://schemas.openxmlformats.org/officeDocument/2006/relationships" xmlns:a="http://schemas.openxmlformats.org/drawingml/2006/main" r:embed="R5a4069e5e45c4cf8"/>
          <a:srcRect xmlns:a="http://schemas.openxmlformats.org/drawingml/2006/main" l="-31" t="0" r="-31" b="0"/>
          <a:stretch xmlns:a="http://schemas.openxmlformats.org/drawingml/2006/main"/>
        </p:blipFill>
        <p:spPr>
          <a:xfrm xmlns:a="http://schemas.openxmlformats.org/drawingml/2006/main">
            <a:off x="6603834" y="2721474"/>
            <a:ext cx="482578" cy="101533"/>
          </a:xfrm>
          <a:prstGeom xmlns:a="http://schemas.openxmlformats.org/drawingml/2006/main" prst="rect">
            <a:avLst/>
          </a:prstGeom>
        </p:spPr>
      </p:pic>
      <p:pic>
        <p:nvPicPr>
          <p:cNvPr id="64" name="Image 3"/>
          <p:cNvPicPr>
            <a:picLocks xmlns:a="http://schemas.openxmlformats.org/drawingml/2006/main" noChangeAspect="1"/>
          </p:cNvPicPr>
          <p:nvPr/>
        </p:nvPicPr>
        <p:blipFill>
          <a:blip xmlns:r="http://schemas.openxmlformats.org/officeDocument/2006/relationships" xmlns:a="http://schemas.openxmlformats.org/drawingml/2006/main" r:embed="R30172aec068547e3"/>
          <a:srcRect xmlns:a="http://schemas.openxmlformats.org/drawingml/2006/main" l="-31" t="0" r="-31" b="0"/>
          <a:stretch xmlns:a="http://schemas.openxmlformats.org/drawingml/2006/main"/>
        </p:blipFill>
        <p:spPr>
          <a:xfrm xmlns:a="http://schemas.openxmlformats.org/drawingml/2006/main">
            <a:off x="6603834" y="4689917"/>
            <a:ext cx="482578" cy="101533"/>
          </a:xfrm>
          <a:prstGeom xmlns:a="http://schemas.openxmlformats.org/drawingml/2006/main" prst="rect">
            <a:avLst/>
          </a:prstGeom>
        </p:spPr>
      </p:pic>
      <p:pic>
        <p:nvPicPr>
          <p:cNvPr id="65" name="Image 4"/>
          <p:cNvPicPr>
            <a:picLocks xmlns:a="http://schemas.openxmlformats.org/drawingml/2006/main" noChangeAspect="1"/>
          </p:cNvPicPr>
          <p:nvPr/>
        </p:nvPicPr>
        <p:blipFill>
          <a:blip xmlns:r="http://schemas.openxmlformats.org/officeDocument/2006/relationships" xmlns:a="http://schemas.openxmlformats.org/drawingml/2006/main" r:embed="R4d8b9636bd8141d7"/>
          <a:srcRect xmlns:a="http://schemas.openxmlformats.org/drawingml/2006/main" l="0" t="0" r="0" b="0"/>
          <a:stretch xmlns:a="http://schemas.openxmlformats.org/drawingml/2006/main"/>
        </p:blipFill>
        <p:spPr>
          <a:xfrm xmlns:a="http://schemas.openxmlformats.org/drawingml/2006/main">
            <a:off x="8889919" y="2721474"/>
            <a:ext cx="1511226" cy="546070"/>
          </a:xfrm>
          <a:prstGeom xmlns:a="http://schemas.openxmlformats.org/drawingml/2006/main" prst="rect">
            <a:avLst/>
          </a:prstGeom>
        </p:spPr>
      </p:pic>
      <p:pic>
        <p:nvPicPr>
          <p:cNvPr id="66" name="Image 5"/>
          <p:cNvPicPr>
            <a:picLocks xmlns:a="http://schemas.openxmlformats.org/drawingml/2006/main" noChangeAspect="1"/>
          </p:cNvPicPr>
          <p:nvPr/>
        </p:nvPicPr>
        <p:blipFill>
          <a:blip xmlns:r="http://schemas.openxmlformats.org/officeDocument/2006/relationships" xmlns:a="http://schemas.openxmlformats.org/drawingml/2006/main" r:embed="R44723d91b4ee4892"/>
          <a:srcRect xmlns:a="http://schemas.openxmlformats.org/drawingml/2006/main" l="-1" t="0" r="-1" b="0"/>
          <a:stretch xmlns:a="http://schemas.openxmlformats.org/drawingml/2006/main"/>
        </p:blipFill>
        <p:spPr>
          <a:xfrm xmlns:a="http://schemas.openxmlformats.org/drawingml/2006/main">
            <a:off x="8889919" y="4054904"/>
            <a:ext cx="1511226" cy="736547"/>
          </a:xfrm>
          <a:prstGeom xmlns:a="http://schemas.openxmlformats.org/drawingml/2006/main" prst="rect">
            <a:avLst/>
          </a:prstGeom>
        </p:spPr>
      </p:pic>
      <p:sp>
        <p:nvSpPr>
          <p:cNvPr id="31" name="Text 23">
            <a:extLst xmlns:a="http://schemas.openxmlformats.org/drawingml/2006/main">
              <a:ext uri="{FF2B5EF4-FFF2-40B4-BE49-F238E27FC236}">
                <a16:creationId xmlns:a16="http://schemas.microsoft.com/office/drawing/2014/main" id="{506DEED0-2339-48C1-AC12-2C13F4BD1FEC}"/>
              </a:ext>
            </a:extLst>
          </p:cNvPr>
          <p:cNvSpPr>
            <a:spLocks xmlns:a="http://schemas.openxmlformats.org/drawingml/2006/main" noGrp="1"/>
          </p:cNvSpPr>
          <p:nvPr/>
        </p:nvSpPr>
        <p:spPr>
          <a:xfrm xmlns:a="http://schemas.openxmlformats.org/drawingml/2006/main">
            <a:off x="812720" y="5426555"/>
            <a:ext cx="10464746" cy="44086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637"/>
              </a:lnSpc>
              <a:buNone/>
            </a:pPr>
            <a:r>
              <a:rPr sz="1129">
                <a:solidFill>
                  <a:srgbClr val="10202A"/>
                </a:solidFill>
                <a:latin typeface="IBM Plex Sans"/>
                <a:ea typeface="IBM Plex Sans"/>
                <a:cs typeface="IBM Plex Sans"/>
              </a:rPr>
              <a:t>The detection branch decides who the robot follows and measures that person in 3D. OmTrackVLA independently suggests a path from the full scene and prompt. The controller combines movement directions only after both branches finish. The 75% and 25% weights apply to direction, not target detection.</a:t>
            </a:r>
            <a:endParaRPr sz="1129"/>
          </a:p>
        </p:txBody>
      </p:sp>
    </p:spTree>
    <p:extLst>
      <p:ext uri="{BB962C8B-B14F-4D97-AF65-F5344CB8AC3E}">
        <p14:creationId xmlns:p14="http://schemas.microsoft.com/office/powerpoint/2010/main" val="1459052720"/>
      </p:ext>
    </p:extLst>
  </p:cSld>
</p:sld>
</file>

<file path=ppt/slides/slide3.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C29AB78-892B-449A-B64C-2D5C7301F40C}"/>
              </a:ext>
            </a:extLst>
          </p:cNvPr>
          <p:cNvSpPr>
            <a:spLocks xmlns:a="http://schemas.openxmlformats.org/drawingml/2006/main" noGrp="1"/>
          </p:cNvSpPr>
          <p:nvPr/>
        </p:nvSpPr>
        <p:spPr>
          <a:xfrm xmlns:a="http://schemas.openxmlformats.org/drawingml/2006/main">
            <a:off x="812720" y="812719"/>
            <a:ext cx="10883529" cy="22058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75"/>
              </a:lnSpc>
              <a:buNone/>
            </a:pPr>
            <a:r>
              <a:rPr sz="1125" spc="150">
                <a:solidFill>
                  <a:srgbClr val="0F7D76"/>
                </a:solidFill>
                <a:latin typeface="JetBrains Mono"/>
                <a:ea typeface="JetBrains Mono"/>
                <a:cs typeface="JetBrains Mono"/>
              </a:rPr>
              <a:t>PART 1 · THE MEMORY</a:t>
            </a:r>
            <a:endParaRPr sz="1125"/>
          </a:p>
        </p:txBody>
      </p:sp>
      <p:sp>
        <p:nvSpPr>
          <p:cNvPr id="3" name="Text 1">
            <a:extLst xmlns:a="http://schemas.openxmlformats.org/drawingml/2006/main">
              <a:ext uri="{FF2B5EF4-FFF2-40B4-BE49-F238E27FC236}">
                <a16:creationId xmlns:a16="http://schemas.microsoft.com/office/drawing/2014/main" id="{A3962F49-D86C-458C-96E6-BAD27089DD7F}"/>
              </a:ext>
            </a:extLst>
          </p:cNvPr>
          <p:cNvSpPr>
            <a:spLocks xmlns:a="http://schemas.openxmlformats.org/drawingml/2006/main" noGrp="1"/>
          </p:cNvSpPr>
          <p:nvPr/>
        </p:nvSpPr>
        <p:spPr>
          <a:xfrm xmlns:a="http://schemas.openxmlformats.org/drawingml/2006/main">
            <a:off x="812720" y="1211064"/>
            <a:ext cx="10883529" cy="44149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15"/>
              </a:lnSpc>
              <a:buNone/>
            </a:pPr>
            <a:r>
              <a:rPr sz="2960" b="1">
                <a:solidFill>
                  <a:srgbClr val="10202A"/>
                </a:solidFill>
                <a:latin typeface="IBM Plex Sans"/>
                <a:ea typeface="IBM Plex Sans"/>
                <a:cs typeface="IBM Plex Sans"/>
              </a:rPr>
              <a:t>Thirty-one frames of history, and how it is filled</a:t>
            </a:r>
            <a:endParaRPr sz="2960"/>
          </a:p>
        </p:txBody>
      </p:sp>
      <p:pic>
        <p:nvPicPr>
          <p:cNvPr id="20" name="Image 0"/>
          <p:cNvPicPr>
            <a:picLocks xmlns:a="http://schemas.openxmlformats.org/drawingml/2006/main" noChangeAspect="1"/>
          </p:cNvPicPr>
          <p:nvPr/>
        </p:nvPicPr>
        <p:blipFill>
          <a:blip xmlns:r="http://schemas.openxmlformats.org/officeDocument/2006/relationships" xmlns:a="http://schemas.openxmlformats.org/drawingml/2006/main" r:embed="R63dca703cf894407"/>
          <a:srcRect xmlns:a="http://schemas.openxmlformats.org/drawingml/2006/main" l="-109" t="0" r="-109" b="0"/>
          <a:stretch xmlns:a="http://schemas.openxmlformats.org/drawingml/2006/main"/>
        </p:blipFill>
        <p:spPr>
          <a:xfrm xmlns:a="http://schemas.openxmlformats.org/drawingml/2006/main">
            <a:off x="812720" y="2211271"/>
            <a:ext cx="10566081" cy="952385"/>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A0B49E24-38C4-4C0E-97F4-1488C1F4E024}"/>
              </a:ext>
            </a:extLst>
          </p:cNvPr>
          <p:cNvSpPr>
            <a:spLocks xmlns:a="http://schemas.openxmlformats.org/drawingml/2006/main" noGrp="1"/>
          </p:cNvSpPr>
          <p:nvPr/>
        </p:nvSpPr>
        <p:spPr>
          <a:xfrm xmlns:a="http://schemas.openxmlformats.org/drawingml/2006/main">
            <a:off x="812720" y="3201879"/>
            <a:ext cx="1320737" cy="64275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D5A63"/>
                </a:solidFill>
                <a:latin typeface="IBM Plex Sans"/>
                <a:ea typeface="IBM Plex Sans"/>
                <a:cs typeface="IBM Plex Sans"/>
              </a:rPr>
              <a:t>padding: copies of the earliest real frame</a:t>
            </a:r>
            <a:endParaRPr sz="1200"/>
          </a:p>
        </p:txBody>
      </p:sp>
      <p:sp>
        <p:nvSpPr>
          <p:cNvPr id="6" name="Text 3">
            <a:extLst xmlns:a="http://schemas.openxmlformats.org/drawingml/2006/main">
              <a:ext uri="{FF2B5EF4-FFF2-40B4-BE49-F238E27FC236}">
                <a16:creationId xmlns:a16="http://schemas.microsoft.com/office/drawing/2014/main" id="{ED157F5B-E345-43FE-9A49-6A402EE98806}"/>
              </a:ext>
            </a:extLst>
          </p:cNvPr>
          <p:cNvSpPr>
            <a:spLocks xmlns:a="http://schemas.openxmlformats.org/drawingml/2006/main" noGrp="1"/>
          </p:cNvSpPr>
          <p:nvPr/>
        </p:nvSpPr>
        <p:spPr>
          <a:xfrm xmlns:a="http://schemas.openxmlformats.org/drawingml/2006/main">
            <a:off x="4622711" y="3201879"/>
            <a:ext cx="3401021" cy="43696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D5A63"/>
                </a:solidFill>
                <a:latin typeface="IBM Plex Sans"/>
                <a:ea typeface="IBM Plex Sans"/>
                <a:cs typeface="IBM Plex Sans"/>
              </a:rPr>
              <a:t>31 slots, 4 coarse tokens each, each preceded by its own time token</a:t>
            </a:r>
            <a:endParaRPr sz="1200"/>
          </a:p>
        </p:txBody>
      </p:sp>
      <p:sp>
        <p:nvSpPr>
          <p:cNvPr id="7" name="Text 4">
            <a:extLst xmlns:a="http://schemas.openxmlformats.org/drawingml/2006/main">
              <a:ext uri="{FF2B5EF4-FFF2-40B4-BE49-F238E27FC236}">
                <a16:creationId xmlns:a16="http://schemas.microsoft.com/office/drawing/2014/main" id="{BE40717F-3BF0-4699-8BC6-F5401C3E219A}"/>
              </a:ext>
            </a:extLst>
          </p:cNvPr>
          <p:cNvSpPr>
            <a:spLocks xmlns:a="http://schemas.openxmlformats.org/drawingml/2006/main" noGrp="1"/>
          </p:cNvSpPr>
          <p:nvPr/>
        </p:nvSpPr>
        <p:spPr>
          <a:xfrm xmlns:a="http://schemas.openxmlformats.org/drawingml/2006/main">
            <a:off x="9728091" y="3201879"/>
            <a:ext cx="1701781" cy="64275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9C5308"/>
                </a:solidFill>
                <a:latin typeface="IBM Plex Sans"/>
                <a:ea typeface="IBM Plex Sans"/>
                <a:cs typeface="IBM Plex Sans"/>
              </a:rPr>
              <a:t>the current frame, 64 fine tokens, time index 31</a:t>
            </a:r>
            <a:endParaRPr sz="1200"/>
          </a:p>
        </p:txBody>
      </p:sp>
      <p:sp>
        <p:nvSpPr>
          <p:cNvPr id="8" name="Shape 5">
            <a:extLst xmlns:a="http://schemas.openxmlformats.org/drawingml/2006/main">
              <a:ext uri="{FF2B5EF4-FFF2-40B4-BE49-F238E27FC236}">
                <a16:creationId xmlns:a16="http://schemas.microsoft.com/office/drawing/2014/main" id="{39257E94-BD55-43ED-838D-33858B0AFFDC}"/>
              </a:ext>
            </a:extLst>
          </p:cNvPr>
          <p:cNvSpPr>
            <a:spLocks xmlns:a="http://schemas.openxmlformats.org/drawingml/2006/main" noGrp="1"/>
          </p:cNvSpPr>
          <p:nvPr/>
        </p:nvSpPr>
        <p:spPr>
          <a:xfrm xmlns:a="http://schemas.openxmlformats.org/drawingml/2006/main">
            <a:off x="815895" y="4322645"/>
            <a:ext cx="3397236" cy="1516197"/>
          </a:xfrm>
          <a:prstGeom xmlns:a="http://schemas.openxmlformats.org/drawingml/2006/main" prst="roundRect">
            <a:avLst>
              <a:gd name="adj" fmla="val 6492"/>
            </a:avLst>
          </a:prstGeom>
          <a:solidFill xmlns:a="http://schemas.openxmlformats.org/drawingml/2006/main">
            <a:srgbClr val="FFFFFF"/>
          </a:solidFill>
          <a:ln xmlns:a="http://schemas.openxmlformats.org/drawingml/2006/main" w="6350">
            <a:solidFill>
              <a:srgbClr val="D9DAD2"/>
            </a:solidFill>
            <a:prstDash val="solid"/>
          </a:ln>
        </p:spPr>
      </p:sp>
      <p:sp>
        <p:nvSpPr>
          <p:cNvPr id="9" name="Text 6">
            <a:extLst xmlns:a="http://schemas.openxmlformats.org/drawingml/2006/main">
              <a:ext uri="{FF2B5EF4-FFF2-40B4-BE49-F238E27FC236}">
                <a16:creationId xmlns:a16="http://schemas.microsoft.com/office/drawing/2014/main" id="{3AA12A49-7305-4EAA-BDCE-6732CD0E523F}"/>
              </a:ext>
            </a:extLst>
          </p:cNvPr>
          <p:cNvSpPr>
            <a:spLocks xmlns:a="http://schemas.openxmlformats.org/drawingml/2006/main" noGrp="1"/>
          </p:cNvSpPr>
          <p:nvPr/>
        </p:nvSpPr>
        <p:spPr>
          <a:xfrm xmlns:a="http://schemas.openxmlformats.org/drawingml/2006/main">
            <a:off x="1021674" y="4528424"/>
            <a:ext cx="3075249" cy="21279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23"/>
              </a:lnSpc>
              <a:buNone/>
            </a:pPr>
            <a:r>
              <a:rPr sz="1269" b="1">
                <a:solidFill>
                  <a:srgbClr val="0F7D76"/>
                </a:solidFill>
                <a:latin typeface="IBM Plex Sans"/>
                <a:ea typeface="IBM Plex Sans"/>
                <a:cs typeface="IBM Plex Sans"/>
              </a:rPr>
              <a:t>Filling it</a:t>
            </a:r>
            <a:endParaRPr sz="1269"/>
          </a:p>
        </p:txBody>
      </p:sp>
      <p:sp>
        <p:nvSpPr>
          <p:cNvPr id="10" name="Text 7">
            <a:extLst xmlns:a="http://schemas.openxmlformats.org/drawingml/2006/main">
              <a:ext uri="{FF2B5EF4-FFF2-40B4-BE49-F238E27FC236}">
                <a16:creationId xmlns:a16="http://schemas.microsoft.com/office/drawing/2014/main" id="{E8C3DDBF-7B11-42F4-B99F-A4BC76A523FE}"/>
              </a:ext>
            </a:extLst>
          </p:cNvPr>
          <p:cNvSpPr>
            <a:spLocks xmlns:a="http://schemas.openxmlformats.org/drawingml/2006/main" noGrp="1"/>
          </p:cNvSpPr>
          <p:nvPr/>
        </p:nvSpPr>
        <p:spPr>
          <a:xfrm xmlns:a="http://schemas.openxmlformats.org/drawingml/2006/main">
            <a:off x="1021674" y="4791994"/>
            <a:ext cx="3075249" cy="86646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55"/>
              </a:lnSpc>
              <a:buNone/>
            </a:pPr>
            <a:r>
              <a:rPr sz="1142">
                <a:solidFill>
                  <a:srgbClr val="4D5A63"/>
                </a:solidFill>
                <a:latin typeface="IBM Plex Sans"/>
                <a:ea typeface="IBM Plex Sans"/>
                <a:cs typeface="IBM Plex Sans"/>
              </a:rPr>
              <a:t>A fixed-length queue. Until 31 real frames exist, the earliest one is repeated on the left, so the sequence length the model sees never changes.</a:t>
            </a:r>
            <a:endParaRPr sz="1142"/>
          </a:p>
        </p:txBody>
      </p:sp>
      <p:sp>
        <p:nvSpPr>
          <p:cNvPr id="11" name="Shape 8">
            <a:extLst xmlns:a="http://schemas.openxmlformats.org/drawingml/2006/main">
              <a:ext uri="{FF2B5EF4-FFF2-40B4-BE49-F238E27FC236}">
                <a16:creationId xmlns:a16="http://schemas.microsoft.com/office/drawing/2014/main" id="{A80CF3E2-0065-4D61-B8B0-4F42302C7F16}"/>
              </a:ext>
            </a:extLst>
          </p:cNvPr>
          <p:cNvSpPr>
            <a:spLocks xmlns:a="http://schemas.openxmlformats.org/drawingml/2006/main" noGrp="1"/>
          </p:cNvSpPr>
          <p:nvPr/>
        </p:nvSpPr>
        <p:spPr>
          <a:xfrm xmlns:a="http://schemas.openxmlformats.org/drawingml/2006/main">
            <a:off x="4397278" y="4322645"/>
            <a:ext cx="3397327" cy="1516197"/>
          </a:xfrm>
          <a:prstGeom xmlns:a="http://schemas.openxmlformats.org/drawingml/2006/main" prst="roundRect">
            <a:avLst>
              <a:gd name="adj" fmla="val 6492"/>
            </a:avLst>
          </a:prstGeom>
          <a:solidFill xmlns:a="http://schemas.openxmlformats.org/drawingml/2006/main">
            <a:srgbClr val="FFFFFF"/>
          </a:solidFill>
          <a:ln xmlns:a="http://schemas.openxmlformats.org/drawingml/2006/main" w="6350">
            <a:solidFill>
              <a:srgbClr val="D9DAD2"/>
            </a:solidFill>
            <a:prstDash val="solid"/>
          </a:ln>
        </p:spPr>
      </p:sp>
      <p:sp>
        <p:nvSpPr>
          <p:cNvPr id="12" name="Text 9">
            <a:extLst xmlns:a="http://schemas.openxmlformats.org/drawingml/2006/main">
              <a:ext uri="{FF2B5EF4-FFF2-40B4-BE49-F238E27FC236}">
                <a16:creationId xmlns:a16="http://schemas.microsoft.com/office/drawing/2014/main" id="{1F05E70F-1C41-4C21-B218-F181A75F29E3}"/>
              </a:ext>
            </a:extLst>
          </p:cNvPr>
          <p:cNvSpPr>
            <a:spLocks xmlns:a="http://schemas.openxmlformats.org/drawingml/2006/main" noGrp="1"/>
          </p:cNvSpPr>
          <p:nvPr/>
        </p:nvSpPr>
        <p:spPr>
          <a:xfrm xmlns:a="http://schemas.openxmlformats.org/drawingml/2006/main">
            <a:off x="4603057" y="4528424"/>
            <a:ext cx="3075342" cy="21279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23"/>
              </a:lnSpc>
              <a:buNone/>
            </a:pPr>
            <a:r>
              <a:rPr sz="1269" b="1">
                <a:solidFill>
                  <a:srgbClr val="9C5308"/>
                </a:solidFill>
                <a:latin typeface="IBM Plex Sans"/>
                <a:ea typeface="IBM Plex Sans"/>
                <a:cs typeface="IBM Plex Sans"/>
              </a:rPr>
              <a:t>Clearing it</a:t>
            </a:r>
            <a:endParaRPr sz="1269"/>
          </a:p>
        </p:txBody>
      </p:sp>
      <p:sp>
        <p:nvSpPr>
          <p:cNvPr id="13" name="Text 10">
            <a:extLst xmlns:a="http://schemas.openxmlformats.org/drawingml/2006/main">
              <a:ext uri="{FF2B5EF4-FFF2-40B4-BE49-F238E27FC236}">
                <a16:creationId xmlns:a16="http://schemas.microsoft.com/office/drawing/2014/main" id="{35033440-6A31-4191-82AA-CF463E5D8402}"/>
              </a:ext>
            </a:extLst>
          </p:cNvPr>
          <p:cNvSpPr>
            <a:spLocks xmlns:a="http://schemas.openxmlformats.org/drawingml/2006/main" noGrp="1"/>
          </p:cNvSpPr>
          <p:nvPr/>
        </p:nvSpPr>
        <p:spPr>
          <a:xfrm xmlns:a="http://schemas.openxmlformats.org/drawingml/2006/main">
            <a:off x="4603057" y="4791994"/>
            <a:ext cx="3075342" cy="86646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55"/>
              </a:lnSpc>
              <a:buNone/>
            </a:pPr>
            <a:r>
              <a:rPr sz="1142">
                <a:solidFill>
                  <a:srgbClr val="4D5A63"/>
                </a:solidFill>
                <a:latin typeface="IBM Plex Sans"/>
                <a:ea typeface="IBM Plex Sans"/>
                <a:cs typeface="IBM Plex Sans"/>
              </a:rPr>
              <a:t>Wiped on a prompt change, on target loss, and on re-acquisition — so the model never reasons across a gap where it was following someone else.</a:t>
            </a:r>
            <a:endParaRPr sz="1142"/>
          </a:p>
        </p:txBody>
      </p:sp>
      <p:sp>
        <p:nvSpPr>
          <p:cNvPr id="14" name="Shape 11">
            <a:extLst xmlns:a="http://schemas.openxmlformats.org/drawingml/2006/main">
              <a:ext uri="{FF2B5EF4-FFF2-40B4-BE49-F238E27FC236}">
                <a16:creationId xmlns:a16="http://schemas.microsoft.com/office/drawing/2014/main" id="{4F91BC2E-4715-4749-B70D-64594AF1C92F}"/>
              </a:ext>
            </a:extLst>
          </p:cNvPr>
          <p:cNvSpPr>
            <a:spLocks xmlns:a="http://schemas.openxmlformats.org/drawingml/2006/main" noGrp="1"/>
          </p:cNvSpPr>
          <p:nvPr/>
        </p:nvSpPr>
        <p:spPr>
          <a:xfrm xmlns:a="http://schemas.openxmlformats.org/drawingml/2006/main">
            <a:off x="7978751" y="4322645"/>
            <a:ext cx="3397327" cy="1516197"/>
          </a:xfrm>
          <a:prstGeom xmlns:a="http://schemas.openxmlformats.org/drawingml/2006/main" prst="roundRect">
            <a:avLst>
              <a:gd name="adj" fmla="val 6492"/>
            </a:avLst>
          </a:prstGeom>
          <a:solidFill xmlns:a="http://schemas.openxmlformats.org/drawingml/2006/main">
            <a:srgbClr val="FFFFFF"/>
          </a:solidFill>
          <a:ln xmlns:a="http://schemas.openxmlformats.org/drawingml/2006/main" w="6350">
            <a:solidFill>
              <a:srgbClr val="D9DAD2"/>
            </a:solidFill>
            <a:prstDash val="solid"/>
          </a:ln>
        </p:spPr>
      </p:sp>
      <p:sp>
        <p:nvSpPr>
          <p:cNvPr id="15" name="Text 12">
            <a:extLst xmlns:a="http://schemas.openxmlformats.org/drawingml/2006/main">
              <a:ext uri="{FF2B5EF4-FFF2-40B4-BE49-F238E27FC236}">
                <a16:creationId xmlns:a16="http://schemas.microsoft.com/office/drawing/2014/main" id="{323ABAE6-D0E4-4F46-8C13-AABA0F48A709}"/>
              </a:ext>
            </a:extLst>
          </p:cNvPr>
          <p:cNvSpPr>
            <a:spLocks xmlns:a="http://schemas.openxmlformats.org/drawingml/2006/main" noGrp="1"/>
          </p:cNvSpPr>
          <p:nvPr/>
        </p:nvSpPr>
        <p:spPr>
          <a:xfrm xmlns:a="http://schemas.openxmlformats.org/drawingml/2006/main">
            <a:off x="8184530" y="4528424"/>
            <a:ext cx="3075342" cy="2387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400" b="1">
                <a:solidFill>
                  <a:srgbClr val="0F7D76"/>
                </a:solidFill>
                <a:latin typeface="IBM Plex Sans"/>
                <a:ea typeface="IBM Plex Sans"/>
                <a:cs typeface="IBM Plex Sans"/>
              </a:rPr>
              <a:t>What it spans</a:t>
            </a:r>
            <a:endParaRPr sz="1400"/>
          </a:p>
        </p:txBody>
      </p:sp>
      <p:sp>
        <p:nvSpPr>
          <p:cNvPr id="16" name="Text 13">
            <a:extLst xmlns:a="http://schemas.openxmlformats.org/drawingml/2006/main">
              <a:ext uri="{FF2B5EF4-FFF2-40B4-BE49-F238E27FC236}">
                <a16:creationId xmlns:a16="http://schemas.microsoft.com/office/drawing/2014/main" id="{1BC48E2E-9E79-4CE0-9FC2-B210C80E13DA}"/>
              </a:ext>
            </a:extLst>
          </p:cNvPr>
          <p:cNvSpPr>
            <a:spLocks xmlns:a="http://schemas.openxmlformats.org/drawingml/2006/main" noGrp="1"/>
          </p:cNvSpPr>
          <p:nvPr/>
        </p:nvSpPr>
        <p:spPr>
          <a:xfrm xmlns:a="http://schemas.openxmlformats.org/drawingml/2006/main">
            <a:off x="8184530" y="4817898"/>
            <a:ext cx="3075342" cy="743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85"/>
              </a:lnSpc>
              <a:buNone/>
            </a:pPr>
            <a:r>
              <a:rPr sz="1300">
                <a:solidFill>
                  <a:srgbClr val="4D5A63"/>
                </a:solidFill>
                <a:latin typeface="IBM Plex Sans"/>
                <a:ea typeface="IBM Plex Sans"/>
                <a:cs typeface="IBM Plex Sans"/>
              </a:rPr>
              <a:t>At the 2 Hz planner rate, 31 frames is about 15 seconds of scene — far longer than the 0.8 s it plans forward.</a:t>
            </a:r>
            <a:endParaRPr sz="1300"/>
          </a:p>
        </p:txBody>
      </p:sp>
    </p:spTree>
    <p:extLst>
      <p:ext uri="{BB962C8B-B14F-4D97-AF65-F5344CB8AC3E}">
        <p14:creationId xmlns:p14="http://schemas.microsoft.com/office/powerpoint/2010/main" val="871188609"/>
      </p:ext>
    </p:extLst>
  </p:cSld>
</p:sld>
</file>

<file path=ppt/slides/slide4.xml><?xml version="1.0" encoding="utf-8"?>
<p:sld xmlns:p="http://schemas.openxmlformats.org/presentationml/2006/main">
  <p:cSld>
    <p:bg>
      <p:bgPr>
        <a:solidFill xmlns:a="http://schemas.openxmlformats.org/drawingml/2006/main">
          <a:srgbClr val="EAEAE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DF1DDB2-94E9-46B3-9993-252DD20FAB8C}"/>
              </a:ext>
            </a:extLst>
          </p:cNvPr>
          <p:cNvSpPr>
            <a:spLocks xmlns:a="http://schemas.openxmlformats.org/drawingml/2006/main" noGrp="1"/>
          </p:cNvSpPr>
          <p:nvPr/>
        </p:nvSpPr>
        <p:spPr>
          <a:xfrm xmlns:a="http://schemas.openxmlformats.org/drawingml/2006/main">
            <a:off x="812720" y="812719"/>
            <a:ext cx="10883529" cy="20020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23"/>
              </a:lnSpc>
              <a:buNone/>
            </a:pPr>
            <a:r>
              <a:rPr sz="1016" spc="150">
                <a:solidFill>
                  <a:srgbClr val="9C5308"/>
                </a:solidFill>
                <a:latin typeface="JetBrains Mono"/>
                <a:ea typeface="JetBrains Mono"/>
                <a:cs typeface="JetBrains Mono"/>
              </a:rPr>
              <a:t>PART 1 · OUTPUT TO MOTION</a:t>
            </a:r>
            <a:endParaRPr sz="1016"/>
          </a:p>
        </p:txBody>
      </p:sp>
      <p:sp>
        <p:nvSpPr>
          <p:cNvPr id="3" name="Text 1">
            <a:extLst xmlns:a="http://schemas.openxmlformats.org/drawingml/2006/main">
              <a:ext uri="{FF2B5EF4-FFF2-40B4-BE49-F238E27FC236}">
                <a16:creationId xmlns:a16="http://schemas.microsoft.com/office/drawing/2014/main" id="{C979C534-1F0D-4529-9CE8-1BD4BD3D3476}"/>
              </a:ext>
            </a:extLst>
          </p:cNvPr>
          <p:cNvSpPr>
            <a:spLocks xmlns:a="http://schemas.openxmlformats.org/drawingml/2006/main" noGrp="1"/>
          </p:cNvSpPr>
          <p:nvPr/>
        </p:nvSpPr>
        <p:spPr>
          <a:xfrm xmlns:a="http://schemas.openxmlformats.org/drawingml/2006/main">
            <a:off x="812720" y="1165324"/>
            <a:ext cx="10883529" cy="77118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3282"/>
              </a:lnSpc>
              <a:buNone/>
            </a:pPr>
            <a:r>
              <a:rPr sz="2930" b="1">
                <a:solidFill>
                  <a:srgbClr val="10202A"/>
                </a:solidFill>
                <a:latin typeface="IBM Plex Sans"/>
                <a:ea typeface="IBM Plex Sans"/>
                <a:cs typeface="IBM Plex Sans"/>
              </a:rPr>
              <a:t>A 0.1 s waypoint command reused for up to 0.75 s</a:t>
            </a:r>
            <a:endParaRPr sz="2930"/>
          </a:p>
        </p:txBody>
      </p:sp>
      <p:pic>
        <p:nvPicPr>
          <p:cNvPr id="14" name="Image 0"/>
          <p:cNvPicPr>
            <a:picLocks xmlns:a="http://schemas.openxmlformats.org/drawingml/2006/main" noChangeAspect="1"/>
          </p:cNvPicPr>
          <p:nvPr/>
        </p:nvPicPr>
        <p:blipFill>
          <a:blip xmlns:r="http://schemas.openxmlformats.org/officeDocument/2006/relationships" xmlns:a="http://schemas.openxmlformats.org/drawingml/2006/main" r:embed="Rfbc7ad9d37ca4606"/>
          <a:srcRect xmlns:a="http://schemas.openxmlformats.org/drawingml/2006/main" l="0" t="-20" r="0" b="-20"/>
          <a:stretch xmlns:a="http://schemas.openxmlformats.org/drawingml/2006/main"/>
        </p:blipFill>
        <p:spPr>
          <a:xfrm xmlns:a="http://schemas.openxmlformats.org/drawingml/2006/main">
            <a:off x="812720" y="2088907"/>
            <a:ext cx="10566171" cy="2730350"/>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257B7D8C-37FF-4CA1-8609-5C90917C7258}"/>
              </a:ext>
            </a:extLst>
          </p:cNvPr>
          <p:cNvSpPr>
            <a:spLocks xmlns:a="http://schemas.openxmlformats.org/drawingml/2006/main" noGrp="1"/>
          </p:cNvSpPr>
          <p:nvPr/>
        </p:nvSpPr>
        <p:spPr>
          <a:xfrm xmlns:a="http://schemas.openxmlformats.org/drawingml/2006/main">
            <a:off x="2781162" y="2444499"/>
            <a:ext cx="4970738" cy="27429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a:solidFill>
                  <a:srgbClr val="10202A"/>
                </a:solidFill>
                <a:latin typeface="IBM Plex Sans"/>
                <a:ea typeface="IBM Plex Sans"/>
                <a:cs typeface="IBM Plex Sans"/>
              </a:rPr>
              <a:t>The 0.1 s of motion that waypoint 1 actually describes</a:t>
            </a:r>
            <a:endParaRPr sz="1400"/>
          </a:p>
        </p:txBody>
      </p:sp>
      <p:sp>
        <p:nvSpPr>
          <p:cNvPr id="6" name="Text 3">
            <a:extLst xmlns:a="http://schemas.openxmlformats.org/drawingml/2006/main">
              <a:ext uri="{FF2B5EF4-FFF2-40B4-BE49-F238E27FC236}">
                <a16:creationId xmlns:a16="http://schemas.microsoft.com/office/drawing/2014/main" id="{1B4AC237-9140-4CF1-874B-4D04927E1BDF}"/>
              </a:ext>
            </a:extLst>
          </p:cNvPr>
          <p:cNvSpPr>
            <a:spLocks xmlns:a="http://schemas.openxmlformats.org/drawingml/2006/main" noGrp="1"/>
          </p:cNvSpPr>
          <p:nvPr/>
        </p:nvSpPr>
        <p:spPr>
          <a:xfrm xmlns:a="http://schemas.openxmlformats.org/drawingml/2006/main">
            <a:off x="1422282" y="3485828"/>
            <a:ext cx="812798" cy="23879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7A848C"/>
                </a:solidFill>
                <a:latin typeface="IBM Plex Sans"/>
                <a:ea typeface="IBM Plex Sans"/>
                <a:cs typeface="IBM Plex Sans"/>
              </a:rPr>
              <a:t>t = 0</a:t>
            </a:r>
            <a:endParaRPr sz="1200"/>
          </a:p>
        </p:txBody>
      </p:sp>
      <p:sp>
        <p:nvSpPr>
          <p:cNvPr id="7" name="Text 4">
            <a:extLst xmlns:a="http://schemas.openxmlformats.org/drawingml/2006/main">
              <a:ext uri="{FF2B5EF4-FFF2-40B4-BE49-F238E27FC236}">
                <a16:creationId xmlns:a16="http://schemas.microsoft.com/office/drawing/2014/main" id="{E12BF7C2-DD48-4AAE-B5B2-76FA47E67E35}"/>
              </a:ext>
            </a:extLst>
          </p:cNvPr>
          <p:cNvSpPr>
            <a:spLocks xmlns:a="http://schemas.openxmlformats.org/drawingml/2006/main" noGrp="1"/>
          </p:cNvSpPr>
          <p:nvPr/>
        </p:nvSpPr>
        <p:spPr>
          <a:xfrm xmlns:a="http://schemas.openxmlformats.org/drawingml/2006/main">
            <a:off x="9524843" y="3485828"/>
            <a:ext cx="1320737" cy="23879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7A848C"/>
                </a:solidFill>
                <a:latin typeface="IBM Plex Sans"/>
                <a:ea typeface="IBM Plex Sans"/>
                <a:cs typeface="IBM Plex Sans"/>
              </a:rPr>
              <a:t>t = 0.8 s</a:t>
            </a:r>
            <a:endParaRPr sz="1200"/>
          </a:p>
        </p:txBody>
      </p:sp>
      <p:sp>
        <p:nvSpPr>
          <p:cNvPr id="8" name="Text 5">
            <a:extLst xmlns:a="http://schemas.openxmlformats.org/drawingml/2006/main">
              <a:ext uri="{FF2B5EF4-FFF2-40B4-BE49-F238E27FC236}">
                <a16:creationId xmlns:a16="http://schemas.microsoft.com/office/drawing/2014/main" id="{A6A31D1A-3A6E-4478-98AE-9561B27756F7}"/>
              </a:ext>
            </a:extLst>
          </p:cNvPr>
          <p:cNvSpPr>
            <a:spLocks xmlns:a="http://schemas.openxmlformats.org/drawingml/2006/main" noGrp="1"/>
          </p:cNvSpPr>
          <p:nvPr/>
        </p:nvSpPr>
        <p:spPr>
          <a:xfrm xmlns:a="http://schemas.openxmlformats.org/drawingml/2006/main">
            <a:off x="6908706" y="3905004"/>
            <a:ext cx="4185880" cy="27429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a:solidFill>
                  <a:srgbClr val="9C5308"/>
                </a:solidFill>
                <a:latin typeface="IBM Plex Sans"/>
                <a:ea typeface="IBM Plex Sans"/>
                <a:cs typeface="IBM Plex Sans"/>
              </a:rPr>
              <a:t>Held for one 2 Hz control period: 0.5 s</a:t>
            </a:r>
            <a:endParaRPr sz="1400"/>
          </a:p>
        </p:txBody>
      </p:sp>
      <p:sp>
        <p:nvSpPr>
          <p:cNvPr id="9" name="Text 6">
            <a:extLst xmlns:a="http://schemas.openxmlformats.org/drawingml/2006/main">
              <a:ext uri="{FF2B5EF4-FFF2-40B4-BE49-F238E27FC236}">
                <a16:creationId xmlns:a16="http://schemas.microsoft.com/office/drawing/2014/main" id="{63111E73-C4B6-48FF-B11B-70FB05E4AE9B}"/>
              </a:ext>
            </a:extLst>
          </p:cNvPr>
          <p:cNvSpPr>
            <a:spLocks xmlns:a="http://schemas.openxmlformats.org/drawingml/2006/main" noGrp="1"/>
          </p:cNvSpPr>
          <p:nvPr/>
        </p:nvSpPr>
        <p:spPr>
          <a:xfrm xmlns:a="http://schemas.openxmlformats.org/drawingml/2006/main">
            <a:off x="1574718" y="4590738"/>
            <a:ext cx="7848582" cy="27429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a:solidFill>
                  <a:srgbClr val="9C5308"/>
                </a:solidFill>
                <a:latin typeface="IBM Plex Sans"/>
                <a:ea typeface="IBM Plex Sans"/>
                <a:cs typeface="IBM Plex Sans"/>
              </a:rPr>
              <a:t>Worst case inside the bounded reuse window: 0.75 s</a:t>
            </a:r>
            <a:endParaRPr sz="1400"/>
          </a:p>
        </p:txBody>
      </p:sp>
      <p:sp>
        <p:nvSpPr>
          <p:cNvPr id="10" name="Text 7">
            <a:extLst xmlns:a="http://schemas.openxmlformats.org/drawingml/2006/main">
              <a:ext uri="{FF2B5EF4-FFF2-40B4-BE49-F238E27FC236}">
                <a16:creationId xmlns:a16="http://schemas.microsoft.com/office/drawing/2014/main" id="{5D84AE51-5BC8-40FF-AE8F-0EA700F7D441}"/>
              </a:ext>
            </a:extLst>
          </p:cNvPr>
          <p:cNvSpPr>
            <a:spLocks xmlns:a="http://schemas.openxmlformats.org/drawingml/2006/main" noGrp="1"/>
          </p:cNvSpPr>
          <p:nvPr/>
        </p:nvSpPr>
        <p:spPr>
          <a:xfrm xmlns:a="http://schemas.openxmlformats.org/drawingml/2006/main">
            <a:off x="812720" y="4997145"/>
            <a:ext cx="10464746" cy="87027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03"/>
              </a:lnSpc>
              <a:buNone/>
            </a:pPr>
            <a:r>
              <a:rPr sz="1313">
                <a:solidFill>
                  <a:srgbClr val="10202A"/>
                </a:solidFill>
                <a:latin typeface="IBM Plex Sans"/>
                <a:ea typeface="IBM Plex Sans"/>
                <a:cs typeface="IBM Plex Sans"/>
              </a:rPr>
              <a:t>Waypoints land at t = 0, 0.1, 0.2, 0.3, </a:t>
            </a:r>
            <a:r>
              <a:rPr sz="1313" b="1">
                <a:solidFill>
                  <a:srgbClr val="10202A"/>
                </a:solidFill>
                <a:latin typeface="IBM Plex Sans"/>
                <a:ea typeface="IBM Plex Sans"/>
                <a:cs typeface="IBM Plex Sans"/>
              </a:rPr>
              <a:t>0.5</a:t>
            </a:r>
            <a:r>
              <a:rPr sz="1313">
                <a:solidFill>
                  <a:srgbClr val="10202A"/>
                </a:solidFill>
                <a:latin typeface="IBM Plex Sans"/>
                <a:ea typeface="IBM Plex Sans"/>
                <a:cs typeface="IBM Plex Sans"/>
              </a:rPr>
              <a:t>, 0.6, 0.7, 0.8 s — the training pipeline subsamples nine integrated steps down to eight, so the spacing is uneven. Upstream takes index 1 and divides by dt = 0.1, which is the mean velocity over the first tenth of a second. The bridge then holds that number five to seven times longer. Speed clipping and acceleration limits bound the consequence; they do not remove it.</a:t>
            </a:r>
            <a:endParaRPr sz="1313"/>
          </a:p>
        </p:txBody>
      </p:sp>
    </p:spTree>
    <p:extLst>
      <p:ext uri="{BB962C8B-B14F-4D97-AF65-F5344CB8AC3E}">
        <p14:creationId xmlns:p14="http://schemas.microsoft.com/office/powerpoint/2010/main" val="1533922940"/>
      </p:ext>
    </p:extLst>
  </p:cSld>
</p:sld>
</file>

<file path=ppt/slides/slide5.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F8B27DD-1430-499C-BBE9-AC633ED90ADB}"/>
              </a:ext>
            </a:extLst>
          </p:cNvPr>
          <p:cNvSpPr>
            <a:spLocks xmlns:a="http://schemas.openxmlformats.org/drawingml/2006/main" noGrp="1"/>
          </p:cNvSpPr>
          <p:nvPr/>
        </p:nvSpPr>
        <p:spPr>
          <a:xfrm xmlns:a="http://schemas.openxmlformats.org/drawingml/2006/main">
            <a:off x="812720" y="812719"/>
            <a:ext cx="10883342" cy="23879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spc="150">
                <a:solidFill>
                  <a:srgbClr val="0F7D76"/>
                </a:solidFill>
                <a:latin typeface="JetBrains Mono"/>
                <a:ea typeface="JetBrains Mono"/>
                <a:cs typeface="JetBrains Mono"/>
              </a:rPr>
              <a:t>PART 1 · WHAT IT COSTS TO RUN</a:t>
            </a:r>
            <a:endParaRPr sz="1200"/>
          </a:p>
        </p:txBody>
      </p:sp>
      <p:sp>
        <p:nvSpPr>
          <p:cNvPr id="6" name="Current title">
            <a:extLst xmlns:a="http://schemas.openxmlformats.org/drawingml/2006/main">
              <a:ext uri="{FF2B5EF4-FFF2-40B4-BE49-F238E27FC236}">
                <a16:creationId xmlns:a16="http://schemas.microsoft.com/office/drawing/2014/main" id="{F48E5B99-46FF-402B-AF8D-6680BF5DBB9F}"/>
              </a:ext>
            </a:extLst>
          </p:cNvPr>
          <p:cNvSpPr>
            <a:spLocks xmlns:a="http://schemas.openxmlformats.org/drawingml/2006/main" noGrp="1"/>
          </p:cNvSpPr>
          <p:nvPr/>
        </p:nvSpPr>
        <p:spPr>
          <a:xfrm xmlns:a="http://schemas.openxmlformats.org/drawingml/2006/main">
            <a:off x="809625" y="1238250"/>
            <a:ext cx="108870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850" b="1">
                <a:solidFill>
                  <a:srgbClr val="273943"/>
                </a:solidFill>
                <a:latin typeface="IBM Plex Sans"/>
                <a:ea typeface="IBM Plex Sans"/>
                <a:cs typeface="IBM Plex Sans"/>
              </a:defRPr>
            </a:pPr>
            <a:r>
              <a:t>Planner work begins after target lock</a:t>
            </a:r>
          </a:p>
        </p:txBody>
      </p:sp>
      <p:sp>
        <p:nvSpPr>
          <p:cNvPr id="7" name="Current evidence">
            <a:extLst xmlns:a="http://schemas.openxmlformats.org/drawingml/2006/main">
              <a:ext uri="{FF2B5EF4-FFF2-40B4-BE49-F238E27FC236}">
                <a16:creationId xmlns:a16="http://schemas.microsoft.com/office/drawing/2014/main" id="{E330AF32-80CC-41BB-829F-DD4828F6DCDF}"/>
              </a:ext>
            </a:extLst>
          </p:cNvPr>
          <p:cNvSpPr>
            <a:spLocks xmlns:a="http://schemas.openxmlformats.org/drawingml/2006/main" noGrp="1"/>
          </p:cNvSpPr>
          <p:nvPr/>
        </p:nvSpPr>
        <p:spPr>
          <a:xfrm xmlns:a="http://schemas.openxmlformats.org/drawingml/2006/main">
            <a:off x="1047750" y="2238375"/>
            <a:ext cx="10001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nSpc>
                <a:spcPct val="120000"/>
              </a:lnSpc>
              <a:buNone/>
              <a:defRPr sz="1875">
                <a:solidFill>
                  <a:srgbClr val="273943"/>
                </a:solidFill>
                <a:latin typeface="IBM Plex Sans"/>
                <a:ea typeface="IBM Plex Sans"/>
                <a:cs typeface="IBM Plex Sans"/>
              </a:defRPr>
            </a:pPr>
            <a:r>
              <a:rPr sz="1875">
                <a:solidFill>
                  <a:srgbClr val="273943"/>
                </a:solidFill>
                <a:latin typeface="IBM Plex Sans"/>
                <a:ea typeface="IBM Plex Sans"/>
                <a:cs typeface="IBM Plex Sans"/>
              </a:rPr>
              <a:t>The local server runs target detection first. While the target is SEARCHING, UNCERTAIN, or LOST, it skips OmTrackVLA visual encoding and waypoint inference and returns zero motion. After LOCKED, target tracking continues near 3 Hz and the heavier planner runs at up to 2 Hz. The current implementation uploads the RGB frame once, then resizes and normalizes the DINOv3 and SigLIP inputs on CUDA. In two short offline comparisons, locked-frame median pipeline time fell from 303.8–319.1 ms to 193.2–197.6 ms. Live p95 latency and sustained cadence still need measurement.</a:t>
            </a:r>
          </a:p>
        </p:txBody>
      </p:sp>
    </p:spTree>
    <p:extLst>
      <p:ext uri="{BB962C8B-B14F-4D97-AF65-F5344CB8AC3E}">
        <p14:creationId xmlns:p14="http://schemas.microsoft.com/office/powerpoint/2010/main" val="562323345"/>
      </p:ext>
    </p:extLst>
  </p:cSld>
</p:sld>
</file>

<file path=ppt/slides/slide6.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EED752E-60B8-4B60-8A62-A168D2018B45}"/>
              </a:ext>
            </a:extLst>
          </p:cNvPr>
          <p:cNvSpPr>
            <a:spLocks xmlns:a="http://schemas.openxmlformats.org/drawingml/2006/main" noGrp="1"/>
          </p:cNvSpPr>
          <p:nvPr/>
        </p:nvSpPr>
        <p:spPr>
          <a:xfrm xmlns:a="http://schemas.openxmlformats.org/drawingml/2006/main">
            <a:off x="812720" y="812719"/>
            <a:ext cx="10883529" cy="21152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70"/>
              </a:lnSpc>
              <a:buNone/>
            </a:pPr>
            <a:r>
              <a:rPr sz="1050" spc="150">
                <a:solidFill>
                  <a:srgbClr val="0F7D76"/>
                </a:solidFill>
                <a:latin typeface="JetBrains Mono"/>
                <a:ea typeface="JetBrains Mono"/>
                <a:cs typeface="JetBrains Mono"/>
              </a:rPr>
              <a:t>PART 1 · THE INTERFACE CONTRACT</a:t>
            </a:r>
            <a:endParaRPr sz="1050"/>
          </a:p>
        </p:txBody>
      </p:sp>
      <p:sp>
        <p:nvSpPr>
          <p:cNvPr id="3" name="Text 1">
            <a:extLst xmlns:a="http://schemas.openxmlformats.org/drawingml/2006/main">
              <a:ext uri="{FF2B5EF4-FFF2-40B4-BE49-F238E27FC236}">
                <a16:creationId xmlns:a16="http://schemas.microsoft.com/office/drawing/2014/main" id="{07FDF76F-163E-40DE-A191-14263BA19F12}"/>
              </a:ext>
            </a:extLst>
          </p:cNvPr>
          <p:cNvSpPr>
            <a:spLocks xmlns:a="http://schemas.openxmlformats.org/drawingml/2006/main" noGrp="1"/>
          </p:cNvSpPr>
          <p:nvPr/>
        </p:nvSpPr>
        <p:spPr>
          <a:xfrm xmlns:a="http://schemas.openxmlformats.org/drawingml/2006/main">
            <a:off x="812720" y="1278179"/>
            <a:ext cx="10883529" cy="8192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438"/>
              </a:lnSpc>
              <a:buNone/>
            </a:pPr>
            <a:r>
              <a:rPr sz="3070" b="1">
                <a:solidFill>
                  <a:srgbClr val="10202A"/>
                </a:solidFill>
                <a:latin typeface="IBM Plex Sans"/>
                <a:ea typeface="IBM Plex Sans"/>
                <a:cs typeface="IBM Plex Sans"/>
              </a:rPr>
              <a:t>It always returns a path, and never says who it is following</a:t>
            </a:r>
            <a:endParaRPr sz="3070"/>
          </a:p>
        </p:txBody>
      </p:sp>
      <p:sp>
        <p:nvSpPr>
          <p:cNvPr id="4" name="Shape 2">
            <a:extLst xmlns:a="http://schemas.openxmlformats.org/drawingml/2006/main">
              <a:ext uri="{FF2B5EF4-FFF2-40B4-BE49-F238E27FC236}">
                <a16:creationId xmlns:a16="http://schemas.microsoft.com/office/drawing/2014/main" id="{FA979C43-A62C-4D29-8C47-65ECABDA37AD}"/>
              </a:ext>
            </a:extLst>
          </p:cNvPr>
          <p:cNvSpPr>
            <a:spLocks xmlns:a="http://schemas.openxmlformats.org/drawingml/2006/main" noGrp="1"/>
          </p:cNvSpPr>
          <p:nvPr/>
        </p:nvSpPr>
        <p:spPr>
          <a:xfrm xmlns:a="http://schemas.openxmlformats.org/drawingml/2006/main">
            <a:off x="815895" y="2354563"/>
            <a:ext cx="5155729" cy="3484278"/>
          </a:xfrm>
          <a:prstGeom xmlns:a="http://schemas.openxmlformats.org/drawingml/2006/main" prst="roundRect">
            <a:avLst>
              <a:gd name="adj" fmla="val 2825"/>
            </a:avLst>
          </a:prstGeom>
          <a:solidFill xmlns:a="http://schemas.openxmlformats.org/drawingml/2006/main">
            <a:srgbClr val="FFFFFF"/>
          </a:solidFill>
          <a:ln xmlns:a="http://schemas.openxmlformats.org/drawingml/2006/main" w="6350">
            <a:solidFill>
              <a:srgbClr val="D9DAD2"/>
            </a:solidFill>
            <a:prstDash val="solid"/>
          </a:ln>
        </p:spPr>
      </p:sp>
      <p:sp>
        <p:nvSpPr>
          <p:cNvPr id="5" name="Text 3">
            <a:extLst xmlns:a="http://schemas.openxmlformats.org/drawingml/2006/main">
              <a:ext uri="{FF2B5EF4-FFF2-40B4-BE49-F238E27FC236}">
                <a16:creationId xmlns:a16="http://schemas.microsoft.com/office/drawing/2014/main" id="{96CCEB0C-F28F-4D02-AA4E-271892F41169}"/>
              </a:ext>
            </a:extLst>
          </p:cNvPr>
          <p:cNvSpPr>
            <a:spLocks xmlns:a="http://schemas.openxmlformats.org/drawingml/2006/main" noGrp="1"/>
          </p:cNvSpPr>
          <p:nvPr/>
        </p:nvSpPr>
        <p:spPr>
          <a:xfrm xmlns:a="http://schemas.openxmlformats.org/drawingml/2006/main">
            <a:off x="1097846" y="2636515"/>
            <a:ext cx="4729580" cy="29875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60"/>
              </a:lnSpc>
              <a:buNone/>
            </a:pPr>
            <a:r>
              <a:rPr sz="1800" b="1">
                <a:solidFill>
                  <a:srgbClr val="0F7D76"/>
                </a:solidFill>
                <a:latin typeface="IBM Plex Sans"/>
                <a:ea typeface="IBM Plex Sans"/>
                <a:cs typeface="IBM Plex Sans"/>
              </a:rPr>
              <a:t>What it returns</a:t>
            </a:r>
            <a:endParaRPr sz="1800"/>
          </a:p>
        </p:txBody>
      </p:sp>
      <p:sp>
        <p:nvSpPr>
          <p:cNvPr id="6" name="Text 4">
            <a:extLst xmlns:a="http://schemas.openxmlformats.org/drawingml/2006/main">
              <a:ext uri="{FF2B5EF4-FFF2-40B4-BE49-F238E27FC236}">
                <a16:creationId xmlns:a16="http://schemas.microsoft.com/office/drawing/2014/main" id="{5D8457CA-C29C-4DDB-98B1-7C6BD5E246BA}"/>
              </a:ext>
            </a:extLst>
          </p:cNvPr>
          <p:cNvSpPr>
            <a:spLocks xmlns:a="http://schemas.openxmlformats.org/drawingml/2006/main" noGrp="1"/>
          </p:cNvSpPr>
          <p:nvPr/>
        </p:nvSpPr>
        <p:spPr>
          <a:xfrm xmlns:a="http://schemas.openxmlformats.org/drawingml/2006/main">
            <a:off x="1097846" y="3036853"/>
            <a:ext cx="4729580" cy="139813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212693" indent="-175735" algn="l">
              <a:lnSpc>
                <a:spcPts val="2163"/>
              </a:lnSpc>
              <a:buSzPct val="100000"/>
              <a:buChar char="•"/>
            </a:pPr>
            <a:r>
              <a:rPr sz="1396">
                <a:solidFill>
                  <a:srgbClr val="4D5A63"/>
                </a:solidFill>
                <a:latin typeface="IBM Plex Sans"/>
                <a:ea typeface="IBM Plex Sans"/>
                <a:cs typeface="IBM Plex Sans"/>
              </a:rPr>
              <a:t>Eight waypoints, each [x, y, yaw] in the robot's local frame</a:t>
            </a:r>
            <a:endParaRPr sz="1396"/>
          </a:p>
          <a:p xmlns:a="http://schemas.openxmlformats.org/drawingml/2006/main">
            <a:pPr marL="212693" indent="-175735" algn="l">
              <a:lnSpc>
                <a:spcPts val="2163"/>
              </a:lnSpc>
              <a:buSzPct val="100000"/>
              <a:buChar char="•"/>
            </a:pPr>
            <a:r>
              <a:rPr sz="1396">
                <a:solidFill>
                  <a:srgbClr val="4D5A63"/>
                </a:solidFill>
                <a:latin typeface="IBM Plex Sans"/>
                <a:ea typeface="IBM Plex Sans"/>
                <a:cs typeface="IBM Plex Sans"/>
              </a:rPr>
              <a:t>Always eight, on every single forward pass</a:t>
            </a:r>
            <a:endParaRPr sz="1396"/>
          </a:p>
          <a:p xmlns:a="http://schemas.openxmlformats.org/drawingml/2006/main">
            <a:pPr marL="212693" indent="-175735" algn="l">
              <a:lnSpc>
                <a:spcPts val="2163"/>
              </a:lnSpc>
              <a:buSzPct val="100000"/>
              <a:buChar char="•"/>
            </a:pPr>
            <a:r>
              <a:rPr sz="1396">
                <a:solidFill>
                  <a:srgbClr val="4D5A63"/>
                </a:solidFill>
                <a:latin typeface="IBM Plex Sans"/>
                <a:ea typeface="IBM Plex Sans"/>
                <a:cs typeface="IBM Plex Sans"/>
              </a:rPr>
              <a:t>Metres and radians, unnormalised, scaled by a constant</a:t>
            </a:r>
            <a:endParaRPr sz="1396"/>
          </a:p>
        </p:txBody>
      </p:sp>
      <p:sp>
        <p:nvSpPr>
          <p:cNvPr id="7" name="Shape 5">
            <a:extLst xmlns:a="http://schemas.openxmlformats.org/drawingml/2006/main">
              <a:ext uri="{FF2B5EF4-FFF2-40B4-BE49-F238E27FC236}">
                <a16:creationId xmlns:a16="http://schemas.microsoft.com/office/drawing/2014/main" id="{75F03D25-8001-427D-921B-1160C902C5E0}"/>
              </a:ext>
            </a:extLst>
          </p:cNvPr>
          <p:cNvSpPr>
            <a:spLocks xmlns:a="http://schemas.openxmlformats.org/drawingml/2006/main" noGrp="1"/>
          </p:cNvSpPr>
          <p:nvPr/>
        </p:nvSpPr>
        <p:spPr>
          <a:xfrm xmlns:a="http://schemas.openxmlformats.org/drawingml/2006/main">
            <a:off x="1097846" y="4536576"/>
            <a:ext cx="4591826" cy="1020315"/>
          </a:xfrm>
          <a:prstGeom xmlns:a="http://schemas.openxmlformats.org/drawingml/2006/main" prst="roundRect">
            <a:avLst>
              <a:gd name="adj" fmla="val 7468"/>
            </a:avLst>
          </a:prstGeom>
          <a:solidFill xmlns:a="http://schemas.openxmlformats.org/drawingml/2006/main">
            <a:srgbClr val="EAEAE4"/>
          </a:solidFill>
        </p:spPr>
      </p:sp>
      <p:sp>
        <p:nvSpPr>
          <p:cNvPr id="8" name="Text 6">
            <a:extLst xmlns:a="http://schemas.openxmlformats.org/drawingml/2006/main">
              <a:ext uri="{FF2B5EF4-FFF2-40B4-BE49-F238E27FC236}">
                <a16:creationId xmlns:a16="http://schemas.microsoft.com/office/drawing/2014/main" id="{351A9221-4CDF-4152-88B4-67AA7701D550}"/>
              </a:ext>
            </a:extLst>
          </p:cNvPr>
          <p:cNvSpPr>
            <a:spLocks xmlns:a="http://schemas.openxmlformats.org/drawingml/2006/main" noGrp="1"/>
          </p:cNvSpPr>
          <p:nvPr/>
        </p:nvSpPr>
        <p:spPr>
          <a:xfrm xmlns:a="http://schemas.openxmlformats.org/drawingml/2006/main">
            <a:off x="1250246" y="4688976"/>
            <a:ext cx="4415636" cy="74091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85"/>
              </a:lnSpc>
              <a:buNone/>
            </a:pPr>
            <a:r>
              <a:rPr sz="1300">
                <a:solidFill>
                  <a:srgbClr val="4D5A63"/>
                </a:solidFill>
                <a:latin typeface="IBM Plex Sans"/>
                <a:ea typeface="IBM Plex Sans"/>
                <a:cs typeface="IBM Plex Sans"/>
              </a:rPr>
              <a:t>The upstream agent takes waypoint index 1, divides by dt = 0.1 s, and uses that as the base velocity. The bridge does exactly the same thing before clipping.</a:t>
            </a:r>
            <a:endParaRPr sz="1300"/>
          </a:p>
        </p:txBody>
      </p:sp>
      <p:sp>
        <p:nvSpPr>
          <p:cNvPr id="9" name="Shape 7">
            <a:extLst xmlns:a="http://schemas.openxmlformats.org/drawingml/2006/main">
              <a:ext uri="{FF2B5EF4-FFF2-40B4-BE49-F238E27FC236}">
                <a16:creationId xmlns:a16="http://schemas.microsoft.com/office/drawing/2014/main" id="{0102E05D-B3D7-4EAA-9925-22B09DB02BAA}"/>
              </a:ext>
            </a:extLst>
          </p:cNvPr>
          <p:cNvSpPr>
            <a:spLocks xmlns:a="http://schemas.openxmlformats.org/drawingml/2006/main" noGrp="1"/>
          </p:cNvSpPr>
          <p:nvPr/>
        </p:nvSpPr>
        <p:spPr>
          <a:xfrm xmlns:a="http://schemas.openxmlformats.org/drawingml/2006/main">
            <a:off x="6228767" y="2351388"/>
            <a:ext cx="5150485" cy="3490628"/>
          </a:xfrm>
          <a:prstGeom xmlns:a="http://schemas.openxmlformats.org/drawingml/2006/main" prst="roundRect">
            <a:avLst>
              <a:gd name="adj" fmla="val 2911"/>
            </a:avLst>
          </a:prstGeom>
          <a:solidFill xmlns:a="http://schemas.openxmlformats.org/drawingml/2006/main">
            <a:srgbClr val="10202A"/>
          </a:solidFill>
        </p:spPr>
      </p:sp>
      <p:sp>
        <p:nvSpPr>
          <p:cNvPr id="10" name="Text 8">
            <a:extLst xmlns:a="http://schemas.openxmlformats.org/drawingml/2006/main">
              <a:ext uri="{FF2B5EF4-FFF2-40B4-BE49-F238E27FC236}">
                <a16:creationId xmlns:a16="http://schemas.microsoft.com/office/drawing/2014/main" id="{2E7F46CE-81BD-450B-BFF4-94DAD7861749}"/>
              </a:ext>
            </a:extLst>
          </p:cNvPr>
          <p:cNvSpPr>
            <a:spLocks xmlns:a="http://schemas.openxmlformats.org/drawingml/2006/main" noGrp="1"/>
          </p:cNvSpPr>
          <p:nvPr/>
        </p:nvSpPr>
        <p:spPr>
          <a:xfrm xmlns:a="http://schemas.openxmlformats.org/drawingml/2006/main">
            <a:off x="6508097" y="2630720"/>
            <a:ext cx="4729580" cy="25092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3"/>
              </a:lnSpc>
              <a:buNone/>
            </a:pPr>
            <a:r>
              <a:rPr sz="1519" b="1">
                <a:solidFill>
                  <a:srgbClr val="E0913C"/>
                </a:solidFill>
                <a:latin typeface="IBM Plex Sans"/>
                <a:ea typeface="IBM Plex Sans"/>
                <a:cs typeface="IBM Plex Sans"/>
              </a:rPr>
              <a:t>What it never returns</a:t>
            </a:r>
            <a:endParaRPr sz="1519"/>
          </a:p>
        </p:txBody>
      </p:sp>
      <p:sp>
        <p:nvSpPr>
          <p:cNvPr id="11" name="Text 9">
            <a:extLst xmlns:a="http://schemas.openxmlformats.org/drawingml/2006/main">
              <a:ext uri="{FF2B5EF4-FFF2-40B4-BE49-F238E27FC236}">
                <a16:creationId xmlns:a16="http://schemas.microsoft.com/office/drawing/2014/main" id="{513AD725-3CBC-41BD-8B06-78E761C66C7E}"/>
              </a:ext>
            </a:extLst>
          </p:cNvPr>
          <p:cNvSpPr>
            <a:spLocks xmlns:a="http://schemas.openxmlformats.org/drawingml/2006/main" noGrp="1"/>
          </p:cNvSpPr>
          <p:nvPr/>
        </p:nvSpPr>
        <p:spPr>
          <a:xfrm xmlns:a="http://schemas.openxmlformats.org/drawingml/2006/main">
            <a:off x="6508097" y="2983232"/>
            <a:ext cx="4729580" cy="138536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176022" indent="-154851" algn="l">
              <a:lnSpc>
                <a:spcPts val="1790"/>
              </a:lnSpc>
              <a:buSzPct val="100000"/>
              <a:buChar char="•"/>
            </a:pPr>
            <a:r>
              <a:rPr sz="1155">
                <a:solidFill>
                  <a:srgbClr val="A9BCC4"/>
                </a:solidFill>
                <a:latin typeface="IBM Plex Sans"/>
                <a:ea typeface="IBM Plex Sans"/>
                <a:cs typeface="IBM Plex Sans"/>
              </a:rPr>
              <a:t>A target identity or a track</a:t>
            </a:r>
            <a:endParaRPr sz="1155"/>
          </a:p>
          <a:p xmlns:a="http://schemas.openxmlformats.org/drawingml/2006/main">
            <a:pPr marL="176022" indent="-154851" algn="l">
              <a:lnSpc>
                <a:spcPts val="1790"/>
              </a:lnSpc>
              <a:buSzPct val="100000"/>
              <a:buChar char="•"/>
            </a:pPr>
            <a:r>
              <a:rPr sz="1155">
                <a:solidFill>
                  <a:srgbClr val="A9BCC4"/>
                </a:solidFill>
                <a:latin typeface="IBM Plex Sans"/>
                <a:ea typeface="IBM Plex Sans"/>
                <a:cs typeface="IBM Plex Sans"/>
              </a:rPr>
              <a:t>A confidence in that target</a:t>
            </a:r>
            <a:endParaRPr sz="1155"/>
          </a:p>
          <a:p xmlns:a="http://schemas.openxmlformats.org/drawingml/2006/main">
            <a:pPr marL="176022" indent="-154851" algn="l">
              <a:lnSpc>
                <a:spcPts val="1790"/>
              </a:lnSpc>
              <a:buSzPct val="100000"/>
              <a:buChar char="•"/>
            </a:pPr>
            <a:r>
              <a:rPr sz="1155">
                <a:solidFill>
                  <a:srgbClr val="A9BCC4"/>
                </a:solidFill>
                <a:latin typeface="IBM Plex Sans"/>
                <a:ea typeface="IBM Plex Sans"/>
                <a:cs typeface="IBM Plex Sans"/>
              </a:rPr>
              <a:t>A target-present flag</a:t>
            </a:r>
            <a:endParaRPr sz="1155"/>
          </a:p>
          <a:p xmlns:a="http://schemas.openxmlformats.org/drawingml/2006/main">
            <a:pPr marL="176022" indent="-154851" algn="l">
              <a:lnSpc>
                <a:spcPts val="1790"/>
              </a:lnSpc>
              <a:buSzPct val="100000"/>
              <a:buChar char="•"/>
            </a:pPr>
            <a:r>
              <a:rPr sz="1155">
                <a:solidFill>
                  <a:srgbClr val="A9BCC4"/>
                </a:solidFill>
                <a:latin typeface="IBM Plex Sans"/>
                <a:ea typeface="IBM Plex Sans"/>
                <a:cs typeface="IBM Plex Sans"/>
              </a:rPr>
              <a:t>A target-lost signal</a:t>
            </a:r>
            <a:endParaRPr sz="1155"/>
          </a:p>
          <a:p xmlns:a="http://schemas.openxmlformats.org/drawingml/2006/main">
            <a:pPr marL="176022" indent="-154851" algn="l">
              <a:lnSpc>
                <a:spcPts val="1790"/>
              </a:lnSpc>
              <a:buSzPct val="100000"/>
              <a:buChar char="•"/>
            </a:pPr>
            <a:r>
              <a:rPr sz="1155">
                <a:solidFill>
                  <a:srgbClr val="A9BCC4"/>
                </a:solidFill>
                <a:latin typeface="IBM Plex Sans"/>
                <a:ea typeface="IBM Plex Sans"/>
                <a:cs typeface="IBM Plex Sans"/>
              </a:rPr>
              <a:t>Any way to abstain — it always returns eight well-formed waypoints</a:t>
            </a:r>
            <a:endParaRPr sz="1155"/>
          </a:p>
        </p:txBody>
      </p:sp>
      <p:sp>
        <p:nvSpPr>
          <p:cNvPr id="12" name="Shape 10">
            <a:extLst xmlns:a="http://schemas.openxmlformats.org/drawingml/2006/main">
              <a:ext uri="{FF2B5EF4-FFF2-40B4-BE49-F238E27FC236}">
                <a16:creationId xmlns:a16="http://schemas.microsoft.com/office/drawing/2014/main" id="{75308B67-CAB9-4080-952F-90E8E339F319}"/>
              </a:ext>
            </a:extLst>
          </p:cNvPr>
          <p:cNvSpPr>
            <a:spLocks xmlns:a="http://schemas.openxmlformats.org/drawingml/2006/main" noGrp="1"/>
          </p:cNvSpPr>
          <p:nvPr/>
        </p:nvSpPr>
        <p:spPr>
          <a:xfrm xmlns:a="http://schemas.openxmlformats.org/drawingml/2006/main">
            <a:off x="6508097" y="4470186"/>
            <a:ext cx="4591826" cy="1092503"/>
          </a:xfrm>
          <a:prstGeom xmlns:a="http://schemas.openxmlformats.org/drawingml/2006/main" prst="roundRect">
            <a:avLst>
              <a:gd name="adj" fmla="val 6975"/>
            </a:avLst>
          </a:prstGeom>
          <a:solidFill xmlns:a="http://schemas.openxmlformats.org/drawingml/2006/main">
            <a:srgbClr val="17303D"/>
          </a:solidFill>
        </p:spPr>
      </p:sp>
      <p:sp>
        <p:nvSpPr>
          <p:cNvPr id="13" name="Text 11">
            <a:extLst xmlns:a="http://schemas.openxmlformats.org/drawingml/2006/main">
              <a:ext uri="{FF2B5EF4-FFF2-40B4-BE49-F238E27FC236}">
                <a16:creationId xmlns:a16="http://schemas.microsoft.com/office/drawing/2014/main" id="{38B7D63F-B4D5-4D0A-8ED2-22BCECC0614F}"/>
              </a:ext>
            </a:extLst>
          </p:cNvPr>
          <p:cNvSpPr>
            <a:spLocks xmlns:a="http://schemas.openxmlformats.org/drawingml/2006/main" noGrp="1"/>
          </p:cNvSpPr>
          <p:nvPr/>
        </p:nvSpPr>
        <p:spPr>
          <a:xfrm xmlns:a="http://schemas.openxmlformats.org/drawingml/2006/main">
            <a:off x="6660497" y="4622586"/>
            <a:ext cx="4415636" cy="81310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38"/>
              </a:lnSpc>
              <a:buNone/>
            </a:pPr>
            <a:r>
              <a:rPr sz="1268">
                <a:solidFill>
                  <a:srgbClr val="F6F6F2"/>
                </a:solidFill>
                <a:latin typeface="IBM Plex Sans"/>
                <a:ea typeface="IBM Plex Sans"/>
                <a:cs typeface="IBM Plex Sans"/>
              </a:rPr>
              <a:t>With no target-present output, an empty corridor and a correctly-followed leader produce the same kind of answer. Something outside the network has to tell them apart.</a:t>
            </a:r>
            <a:endParaRPr sz="1268"/>
          </a:p>
        </p:txBody>
      </p:sp>
      <p:sp>
        <p:nvSpPr>
          <p:cNvPr id="14" name="Text 12">
            <a:extLst xmlns:a="http://schemas.openxmlformats.org/drawingml/2006/main">
              <a:ext uri="{FF2B5EF4-FFF2-40B4-BE49-F238E27FC236}">
                <a16:creationId xmlns:a16="http://schemas.microsoft.com/office/drawing/2014/main" id="{21FF454A-5231-4B16-90A2-D75AB86BB360}"/>
              </a:ext>
            </a:extLst>
          </p:cNvPr>
          <p:cNvSpPr>
            <a:spLocks xmlns:a="http://schemas.openxmlformats.org/drawingml/2006/main" noGrp="1"/>
          </p:cNvSpPr>
          <p:nvPr/>
        </p:nvSpPr>
        <p:spPr>
          <a:xfrm xmlns:a="http://schemas.openxmlformats.org/drawingml/2006/main">
            <a:off x="812720" y="6238280"/>
            <a:ext cx="9590141" cy="23879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7A848C"/>
                </a:solidFill>
                <a:latin typeface="IBM Plex Sans"/>
                <a:ea typeface="IBM Plex Sans"/>
                <a:cs typeface="IBM Plex Sans"/>
              </a:rPr>
              <a:t>Audited against upstream commit e9cb1fb. A provision for a presence signal exists in the data pipeline but its call site is commented out.</a:t>
            </a:r>
            <a:endParaRPr sz="1200"/>
          </a:p>
        </p:txBody>
      </p:sp>
    </p:spTree>
    <p:extLst>
      <p:ext uri="{BB962C8B-B14F-4D97-AF65-F5344CB8AC3E}">
        <p14:creationId xmlns:p14="http://schemas.microsoft.com/office/powerpoint/2010/main" val="2060278271"/>
      </p:ext>
    </p:extLst>
  </p:cSld>
</p:sld>
</file>

<file path=ppt/slides/slide7.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A6E5F75-CA2F-463E-BE8A-B1E28A858A20}"/>
              </a:ext>
            </a:extLst>
          </p:cNvPr>
          <p:cNvSpPr>
            <a:spLocks xmlns:a="http://schemas.openxmlformats.org/drawingml/2006/main" noGrp="1"/>
          </p:cNvSpPr>
          <p:nvPr/>
        </p:nvSpPr>
        <p:spPr>
          <a:xfrm xmlns:a="http://schemas.openxmlformats.org/drawingml/2006/main">
            <a:off x="812720" y="812719"/>
            <a:ext cx="10883529" cy="21587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23"/>
              </a:lnSpc>
              <a:buNone/>
            </a:pPr>
            <a:r>
              <a:rPr sz="1088" spc="150">
                <a:solidFill>
                  <a:srgbClr val="9C5308"/>
                </a:solidFill>
                <a:latin typeface="JetBrains Mono"/>
                <a:ea typeface="JetBrains Mono"/>
                <a:cs typeface="JetBrains Mono"/>
              </a:rPr>
              <a:t>PART 1 · THE FINDING THAT SHAPED EVERYTHING</a:t>
            </a:r>
            <a:endParaRPr sz="1088"/>
          </a:p>
        </p:txBody>
      </p:sp>
      <p:sp>
        <p:nvSpPr>
          <p:cNvPr id="3" name="Text 1">
            <a:extLst xmlns:a="http://schemas.openxmlformats.org/drawingml/2006/main">
              <a:ext uri="{FF2B5EF4-FFF2-40B4-BE49-F238E27FC236}">
                <a16:creationId xmlns:a16="http://schemas.microsoft.com/office/drawing/2014/main" id="{8D92A39E-D8B3-44E8-969B-4BA7002AB731}"/>
              </a:ext>
            </a:extLst>
          </p:cNvPr>
          <p:cNvSpPr>
            <a:spLocks xmlns:a="http://schemas.openxmlformats.org/drawingml/2006/main" noGrp="1"/>
          </p:cNvSpPr>
          <p:nvPr/>
        </p:nvSpPr>
        <p:spPr>
          <a:xfrm xmlns:a="http://schemas.openxmlformats.org/drawingml/2006/main">
            <a:off x="812720" y="1257167"/>
            <a:ext cx="10883529" cy="83793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3203"/>
              </a:lnSpc>
              <a:buNone/>
            </a:pPr>
            <a:r>
              <a:rPr sz="2860" b="1">
                <a:solidFill>
                  <a:srgbClr val="10202A"/>
                </a:solidFill>
                <a:latin typeface="IBM Plex Sans"/>
                <a:ea typeface="IBM Plex Sans"/>
                <a:cs typeface="IBM Plex Sans"/>
              </a:rPr>
              <a:t>Why the leader system remains necessary</a:t>
            </a:r>
            <a:endParaRPr sz="2860"/>
          </a:p>
        </p:txBody>
      </p:sp>
      <p:sp>
        <p:nvSpPr>
          <p:cNvPr id="4" name="Current evidence">
            <a:extLst xmlns:a="http://schemas.openxmlformats.org/drawingml/2006/main">
              <a:ext uri="{FF2B5EF4-FFF2-40B4-BE49-F238E27FC236}">
                <a16:creationId xmlns:a16="http://schemas.microsoft.com/office/drawing/2014/main" id="{B045345F-8BC4-4BD0-AD69-5C1ED777EF8A}"/>
              </a:ext>
            </a:extLst>
          </p:cNvPr>
          <p:cNvSpPr>
            <a:spLocks xmlns:a="http://schemas.openxmlformats.org/drawingml/2006/main" noGrp="1"/>
          </p:cNvSpPr>
          <p:nvPr/>
        </p:nvSpPr>
        <p:spPr>
          <a:xfrm xmlns:a="http://schemas.openxmlformats.org/drawingml/2006/main">
            <a:off x="1047750" y="2238375"/>
            <a:ext cx="10001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nSpc>
                <a:spcPct val="120000"/>
              </a:lnSpc>
              <a:buNone/>
              <a:defRPr sz="1950">
                <a:solidFill>
                  <a:srgbClr val="273943"/>
                </a:solidFill>
                <a:latin typeface="IBM Plex Sans"/>
                <a:ea typeface="IBM Plex Sans"/>
                <a:cs typeface="IBM Plex Sans"/>
              </a:defRPr>
            </a:pPr>
            <a:r>
              <a:rPr sz="1950">
                <a:solidFill>
                  <a:srgbClr val="273943"/>
                </a:solidFill>
                <a:latin typeface="IBM Plex Sans"/>
                <a:ea typeface="IBM Plex Sans"/>
                <a:cs typeface="IBM Plex Sans"/>
              </a:rPr>
              <a:t>The released OmTrackVLA checkpoint sees the full camera image, the prompt, and recent visual history, then predicts waypoints. It does not return a target identity, confidence, target-present flag, or target-lost signal. Tests on one real camera frame also produced similar forward commands for very different prompts. Grounding DINO, YOLO, BoT-SORT, appearance checks, and depth therefore decide which person is the target and where that person is. OmTrackVLA still contributes a path suggestion, but only after the leader system has established a reliable target reference.</a:t>
            </a:r>
          </a:p>
        </p:txBody>
      </p:sp>
    </p:spTree>
    <p:extLst>
      <p:ext uri="{BB962C8B-B14F-4D97-AF65-F5344CB8AC3E}">
        <p14:creationId xmlns:p14="http://schemas.microsoft.com/office/powerpoint/2010/main" val="933901017"/>
      </p:ext>
    </p:extLst>
  </p:cSld>
</p:sld>
</file>

<file path=ppt/slides/slide8.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FBE9BA6-DD46-4B0D-940A-C1554C8072DC}"/>
              </a:ext>
            </a:extLst>
          </p:cNvPr>
          <p:cNvSpPr>
            <a:spLocks xmlns:a="http://schemas.openxmlformats.org/drawingml/2006/main" noGrp="1"/>
          </p:cNvSpPr>
          <p:nvPr/>
        </p:nvSpPr>
        <p:spPr>
          <a:xfrm xmlns:a="http://schemas.openxmlformats.org/drawingml/2006/main">
            <a:off x="812720" y="812719"/>
            <a:ext cx="10883529" cy="20310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23"/>
              </a:lnSpc>
              <a:buNone/>
            </a:pPr>
            <a:r>
              <a:rPr sz="1016" spc="150">
                <a:solidFill>
                  <a:srgbClr val="0F7D76"/>
                </a:solidFill>
                <a:latin typeface="JetBrains Mono"/>
                <a:ea typeface="JetBrains Mono"/>
                <a:cs typeface="JetBrains Mono"/>
              </a:rPr>
              <a:t>PART 2 · HOW DETECTION WORKS</a:t>
            </a:r>
            <a:endParaRPr sz="1016"/>
          </a:p>
        </p:txBody>
      </p:sp>
      <p:sp>
        <p:nvSpPr>
          <p:cNvPr id="3" name="Text 1">
            <a:extLst xmlns:a="http://schemas.openxmlformats.org/drawingml/2006/main">
              <a:ext uri="{FF2B5EF4-FFF2-40B4-BE49-F238E27FC236}">
                <a16:creationId xmlns:a16="http://schemas.microsoft.com/office/drawing/2014/main" id="{86CFE491-C88C-48BF-8EDA-9F5FA82EAD4E}"/>
              </a:ext>
            </a:extLst>
          </p:cNvPr>
          <p:cNvSpPr>
            <a:spLocks xmlns:a="http://schemas.openxmlformats.org/drawingml/2006/main" noGrp="1"/>
          </p:cNvSpPr>
          <p:nvPr/>
        </p:nvSpPr>
        <p:spPr>
          <a:xfrm xmlns:a="http://schemas.openxmlformats.org/drawingml/2006/main">
            <a:off x="812720" y="1168223"/>
            <a:ext cx="10883529" cy="78359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3102"/>
              </a:lnSpc>
              <a:buNone/>
            </a:pPr>
            <a:r>
              <a:rPr sz="2770" b="1">
                <a:solidFill>
                  <a:srgbClr val="10202A"/>
                </a:solidFill>
                <a:latin typeface="IBM Plex Sans"/>
                <a:ea typeface="IBM Plex Sans"/>
                <a:cs typeface="IBM Plex Sans"/>
              </a:rPr>
              <a:t>How the target is detected and tracked</a:t>
            </a:r>
            <a:endParaRPr sz="2770"/>
          </a:p>
        </p:txBody>
      </p:sp>
      <p:sp>
        <p:nvSpPr>
          <p:cNvPr id="4" name="Plain-language explanation">
            <a:extLst xmlns:a="http://schemas.openxmlformats.org/drawingml/2006/main">
              <a:ext uri="{FF2B5EF4-FFF2-40B4-BE49-F238E27FC236}">
                <a16:creationId xmlns:a16="http://schemas.microsoft.com/office/drawing/2014/main" id="{BE53D997-2419-42EA-8569-A17375A373F1}"/>
              </a:ext>
            </a:extLst>
          </p:cNvPr>
          <p:cNvSpPr>
            <a:spLocks xmlns:a="http://schemas.openxmlformats.org/drawingml/2006/main" noGrp="1"/>
          </p:cNvSpPr>
          <p:nvPr/>
        </p:nvSpPr>
        <p:spPr>
          <a:xfrm xmlns:a="http://schemas.openxmlformats.org/drawingml/2006/main">
            <a:off x="1047750" y="2333625"/>
            <a:ext cx="10001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nSpc>
                <a:spcPct val="120000"/>
              </a:lnSpc>
              <a:buNone/>
              <a:defRPr sz="1875">
                <a:solidFill>
                  <a:srgbClr val="273943"/>
                </a:solidFill>
                <a:latin typeface="IBM Plex Sans"/>
                <a:ea typeface="IBM Plex Sans"/>
                <a:cs typeface="IBM Plex Sans"/>
              </a:defRPr>
            </a:pPr>
            <a:r>
              <a:rPr sz="1875">
                <a:solidFill>
                  <a:srgbClr val="273943"/>
                </a:solidFill>
                <a:latin typeface="IBM Plex Sans"/>
                <a:ea typeface="IBM Plex Sans"/>
                <a:cs typeface="IBM Plex Sans"/>
              </a:rPr>
              <a:t>On every 3 Hz target frame, YOLO detects people and BoT-SORT maintains their track IDs. While the system is searching or recovering, Grounding DINO runs once every eight target frames to connect the prompt attribute, such as “blue basket,” to a detected person. Geometry, colour when named, ambiguity, and appearance checks decide whether a candidate can become LOCKED. In the operator image, green marks the locked target, orange marks a selected candidate that has not passed all lock checks, and grey marks other tracked people. This branch returns identity and position information. It does not use a 75/25 split and does not produce velocity.</a:t>
            </a:r>
          </a:p>
        </p:txBody>
      </p:sp>
    </p:spTree>
    <p:extLst>
      <p:ext uri="{BB962C8B-B14F-4D97-AF65-F5344CB8AC3E}">
        <p14:creationId xmlns:p14="http://schemas.microsoft.com/office/powerpoint/2010/main" val="445267375"/>
      </p:ext>
    </p:extLst>
  </p:cSld>
</p:sld>
</file>

<file path=ppt/slides/slide9.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C85E3F8-50AB-47CE-AD4E-926FFAD9B4CA}"/>
              </a:ext>
            </a:extLst>
          </p:cNvPr>
          <p:cNvSpPr>
            <a:spLocks xmlns:a="http://schemas.openxmlformats.org/drawingml/2006/main" noGrp="1"/>
          </p:cNvSpPr>
          <p:nvPr/>
        </p:nvSpPr>
        <p:spPr>
          <a:xfrm xmlns:a="http://schemas.openxmlformats.org/drawingml/2006/main">
            <a:off x="812720" y="812719"/>
            <a:ext cx="10883529" cy="23879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spc="150">
                <a:solidFill>
                  <a:srgbClr val="0F7D76"/>
                </a:solidFill>
                <a:latin typeface="JetBrains Mono"/>
                <a:ea typeface="JetBrains Mono"/>
                <a:cs typeface="JetBrains Mono"/>
              </a:rPr>
              <a:t>PART 2 · FROM SENTENCE TO QUERY</a:t>
            </a:r>
            <a:endParaRPr sz="1200"/>
          </a:p>
        </p:txBody>
      </p:sp>
      <p:sp>
        <p:nvSpPr>
          <p:cNvPr id="3" name="Text 1">
            <a:extLst xmlns:a="http://schemas.openxmlformats.org/drawingml/2006/main">
              <a:ext uri="{FF2B5EF4-FFF2-40B4-BE49-F238E27FC236}">
                <a16:creationId xmlns:a16="http://schemas.microsoft.com/office/drawing/2014/main" id="{BC0A3840-6F74-457A-BD62-1388F0028731}"/>
              </a:ext>
            </a:extLst>
          </p:cNvPr>
          <p:cNvSpPr>
            <a:spLocks xmlns:a="http://schemas.openxmlformats.org/drawingml/2006/main" noGrp="1"/>
          </p:cNvSpPr>
          <p:nvPr/>
        </p:nvSpPr>
        <p:spPr>
          <a:xfrm xmlns:a="http://schemas.openxmlformats.org/drawingml/2006/main">
            <a:off x="812720" y="1229271"/>
            <a:ext cx="10883529" cy="48053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3584"/>
              </a:lnSpc>
              <a:buNone/>
            </a:pPr>
            <a:r>
              <a:rPr sz="3200" b="1">
                <a:solidFill>
                  <a:srgbClr val="10202A"/>
                </a:solidFill>
                <a:latin typeface="IBM Plex Sans"/>
                <a:ea typeface="IBM Plex Sans"/>
                <a:cs typeface="IBM Plex Sans"/>
              </a:rPr>
              <a:t>How one instruction becomes two model inputs</a:t>
            </a:r>
            <a:endParaRPr sz="3200"/>
          </a:p>
        </p:txBody>
      </p:sp>
      <p:sp>
        <p:nvSpPr>
          <p:cNvPr id="4" name="Current evidence">
            <a:extLst xmlns:a="http://schemas.openxmlformats.org/drawingml/2006/main">
              <a:ext uri="{FF2B5EF4-FFF2-40B4-BE49-F238E27FC236}">
                <a16:creationId xmlns:a16="http://schemas.microsoft.com/office/drawing/2014/main" id="{56750A5C-299F-4FED-9693-CA1DB718F08D}"/>
              </a:ext>
            </a:extLst>
          </p:cNvPr>
          <p:cNvSpPr>
            <a:spLocks xmlns:a="http://schemas.openxmlformats.org/drawingml/2006/main" noGrp="1"/>
          </p:cNvSpPr>
          <p:nvPr/>
        </p:nvSpPr>
        <p:spPr>
          <a:xfrm xmlns:a="http://schemas.openxmlformats.org/drawingml/2006/main">
            <a:off x="1047750" y="2238375"/>
            <a:ext cx="10001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nSpc>
                <a:spcPct val="118000"/>
              </a:lnSpc>
              <a:buNone/>
              <a:defRPr sz="1875">
                <a:solidFill>
                  <a:srgbClr val="273943"/>
                </a:solidFill>
                <a:latin typeface="IBM Plex Sans"/>
                <a:ea typeface="IBM Plex Sans"/>
                <a:cs typeface="IBM Plex Sans"/>
              </a:defRPr>
            </a:pPr>
            <a:r>
              <a:rPr sz="1875">
                <a:solidFill>
                  <a:srgbClr val="273943"/>
                </a:solidFill>
                <a:latin typeface="IBM Plex Sans"/>
                <a:ea typeface="IBM Plex Sans"/>
                <a:cs typeface="IBM Plex Sans"/>
              </a:rPr>
              <a:t>The current startup instruction is “Follow the person who is wearing black T-shirt.” OmTrackVLA receives the complete sentence with the full camera image. Separately, the target manager extracts “black T-shirt” and asks Grounding DINO for a person and the named garment. It accepts the attribute only when the grounding box fits a detected person and passes the configured checks. The selected bounding box is not passed into the released OmTrackVLA computation. Its depth-localized position enters the controller after OmTrackVLA has produced a path.</a:t>
            </a:r>
          </a:p>
        </p:txBody>
      </p:sp>
    </p:spTree>
    <p:extLst>
      <p:ext uri="{BB962C8B-B14F-4D97-AF65-F5344CB8AC3E}">
        <p14:creationId xmlns:p14="http://schemas.microsoft.com/office/powerpoint/2010/main" val="219000640"/>
      </p:ext>
    </p:extLst>
  </p:cSld>
</p:sld>
</file>

<file path=ppt/slides/slide10.xml><?xml version="1.0" encoding="utf-8"?>
<p:sld xmlns:p="http://schemas.openxmlformats.org/presentationml/2006/main">
  <p:cSld>
    <p:bg>
      <p:bgPr>
        <a:solidFill xmlns:a="http://schemas.openxmlformats.org/drawingml/2006/main">
          <a:srgbClr val="EAEAE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ED1381F-141C-4B6E-937F-5109629AD92B}"/>
              </a:ext>
            </a:extLst>
          </p:cNvPr>
          <p:cNvSpPr>
            <a:spLocks xmlns:a="http://schemas.openxmlformats.org/drawingml/2006/main" noGrp="1"/>
          </p:cNvSpPr>
          <p:nvPr/>
        </p:nvSpPr>
        <p:spPr>
          <a:xfrm xmlns:a="http://schemas.openxmlformats.org/drawingml/2006/main">
            <a:off x="812720" y="812719"/>
            <a:ext cx="10883529" cy="22221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75"/>
              </a:lnSpc>
              <a:buNone/>
            </a:pPr>
            <a:r>
              <a:rPr sz="1125" spc="150">
                <a:solidFill>
                  <a:srgbClr val="0F7D76"/>
                </a:solidFill>
                <a:latin typeface="JetBrains Mono"/>
                <a:ea typeface="JetBrains Mono"/>
                <a:cs typeface="JetBrains Mono"/>
              </a:rPr>
              <a:t>PART 2 · WHY THE PROMPT IS SPLIT</a:t>
            </a:r>
            <a:endParaRPr sz="1125"/>
          </a:p>
        </p:txBody>
      </p:sp>
      <p:sp>
        <p:nvSpPr>
          <p:cNvPr id="3" name="Text 1">
            <a:extLst xmlns:a="http://schemas.openxmlformats.org/drawingml/2006/main">
              <a:ext uri="{FF2B5EF4-FFF2-40B4-BE49-F238E27FC236}">
                <a16:creationId xmlns:a16="http://schemas.microsoft.com/office/drawing/2014/main" id="{32CA665C-D1F4-4282-A75D-EDA53ABAC8F8}"/>
              </a:ext>
            </a:extLst>
          </p:cNvPr>
          <p:cNvSpPr>
            <a:spLocks xmlns:a="http://schemas.openxmlformats.org/drawingml/2006/main" noGrp="1"/>
          </p:cNvSpPr>
          <p:nvPr/>
        </p:nvSpPr>
        <p:spPr>
          <a:xfrm xmlns:a="http://schemas.openxmlformats.org/drawingml/2006/main">
            <a:off x="812720" y="1263501"/>
            <a:ext cx="10883529" cy="44502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15"/>
              </a:lnSpc>
              <a:buNone/>
            </a:pPr>
            <a:r>
              <a:rPr sz="2960" b="1">
                <a:solidFill>
                  <a:srgbClr val="10202A"/>
                </a:solidFill>
                <a:latin typeface="IBM Plex Sans"/>
                <a:ea typeface="IBM Plex Sans"/>
                <a:cs typeface="IBM Plex Sans"/>
              </a:rPr>
              <a:t>A whole sentence made every human a match</a:t>
            </a:r>
            <a:endParaRPr sz="2960"/>
          </a:p>
        </p:txBody>
      </p:sp>
      <p:sp>
        <p:nvSpPr>
          <p:cNvPr id="4" name="Shape 2">
            <a:extLst xmlns:a="http://schemas.openxmlformats.org/drawingml/2006/main">
              <a:ext uri="{FF2B5EF4-FFF2-40B4-BE49-F238E27FC236}">
                <a16:creationId xmlns:a16="http://schemas.microsoft.com/office/drawing/2014/main" id="{37F13A1D-AAE0-47C8-B3ED-899D74DCFA78}"/>
              </a:ext>
            </a:extLst>
          </p:cNvPr>
          <p:cNvSpPr>
            <a:spLocks xmlns:a="http://schemas.openxmlformats.org/drawingml/2006/main" noGrp="1"/>
          </p:cNvSpPr>
          <p:nvPr/>
        </p:nvSpPr>
        <p:spPr>
          <a:xfrm xmlns:a="http://schemas.openxmlformats.org/drawingml/2006/main">
            <a:off x="815895" y="1940278"/>
            <a:ext cx="5149932" cy="2525100"/>
          </a:xfrm>
          <a:prstGeom xmlns:a="http://schemas.openxmlformats.org/drawingml/2006/main" prst="roundRect">
            <a:avLst>
              <a:gd name="adj" fmla="val 3898"/>
            </a:avLst>
          </a:prstGeom>
          <a:solidFill xmlns:a="http://schemas.openxmlformats.org/drawingml/2006/main">
            <a:srgbClr val="F6F6F2"/>
          </a:solidFill>
          <a:ln xmlns:a="http://schemas.openxmlformats.org/drawingml/2006/main" w="6350">
            <a:solidFill>
              <a:srgbClr val="D9DAD2"/>
            </a:solidFill>
            <a:prstDash val="solid"/>
          </a:ln>
        </p:spPr>
      </p:sp>
      <p:sp>
        <p:nvSpPr>
          <p:cNvPr id="5" name="Text 3">
            <a:extLst xmlns:a="http://schemas.openxmlformats.org/drawingml/2006/main">
              <a:ext uri="{FF2B5EF4-FFF2-40B4-BE49-F238E27FC236}">
                <a16:creationId xmlns:a16="http://schemas.microsoft.com/office/drawing/2014/main" id="{58751BFF-4E4D-491D-B756-A100B156DE9D}"/>
              </a:ext>
            </a:extLst>
          </p:cNvPr>
          <p:cNvSpPr>
            <a:spLocks xmlns:a="http://schemas.openxmlformats.org/drawingml/2006/main" noGrp="1"/>
          </p:cNvSpPr>
          <p:nvPr/>
        </p:nvSpPr>
        <p:spPr>
          <a:xfrm xmlns:a="http://schemas.openxmlformats.org/drawingml/2006/main">
            <a:off x="1072486" y="2196871"/>
            <a:ext cx="4775852" cy="23879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722"/>
              </a:lnSpc>
              <a:buNone/>
            </a:pPr>
            <a:r>
              <a:rPr sz="1435" b="1">
                <a:solidFill>
                  <a:srgbClr val="9E3B2F"/>
                </a:solidFill>
                <a:latin typeface="IBM Plex Sans"/>
                <a:ea typeface="IBM Plex Sans"/>
                <a:cs typeface="IBM Plex Sans"/>
              </a:rPr>
              <a:t>Before — one caption</a:t>
            </a:r>
            <a:endParaRPr sz="1435"/>
          </a:p>
        </p:txBody>
      </p:sp>
      <p:sp>
        <p:nvSpPr>
          <p:cNvPr id="6" name="Shape 4">
            <a:extLst xmlns:a="http://schemas.openxmlformats.org/drawingml/2006/main">
              <a:ext uri="{FF2B5EF4-FFF2-40B4-BE49-F238E27FC236}">
                <a16:creationId xmlns:a16="http://schemas.microsoft.com/office/drawing/2014/main" id="{DBA5DFE1-E809-4C15-BDB2-E84F2BC1C1B4}"/>
              </a:ext>
            </a:extLst>
          </p:cNvPr>
          <p:cNvSpPr>
            <a:spLocks xmlns:a="http://schemas.openxmlformats.org/drawingml/2006/main" noGrp="1"/>
          </p:cNvSpPr>
          <p:nvPr/>
        </p:nvSpPr>
        <p:spPr>
          <a:xfrm xmlns:a="http://schemas.openxmlformats.org/drawingml/2006/main">
            <a:off x="1072486" y="2537247"/>
            <a:ext cx="4636750" cy="456402"/>
          </a:xfrm>
          <a:prstGeom xmlns:a="http://schemas.openxmlformats.org/drawingml/2006/main" prst="roundRect">
            <a:avLst>
              <a:gd name="adj" fmla="val 13913"/>
            </a:avLst>
          </a:prstGeom>
          <a:solidFill xmlns:a="http://schemas.openxmlformats.org/drawingml/2006/main">
            <a:srgbClr val="EAEAE4"/>
          </a:solidFill>
        </p:spPr>
      </p:sp>
      <p:sp>
        <p:nvSpPr>
          <p:cNvPr id="7" name="Text 5">
            <a:extLst xmlns:a="http://schemas.openxmlformats.org/drawingml/2006/main">
              <a:ext uri="{FF2B5EF4-FFF2-40B4-BE49-F238E27FC236}">
                <a16:creationId xmlns:a16="http://schemas.microsoft.com/office/drawing/2014/main" id="{F1C39F26-9774-409C-94A6-4EBD95317739}"/>
              </a:ext>
            </a:extLst>
          </p:cNvPr>
          <p:cNvSpPr>
            <a:spLocks xmlns:a="http://schemas.openxmlformats.org/drawingml/2006/main" noGrp="1"/>
          </p:cNvSpPr>
          <p:nvPr/>
        </p:nvSpPr>
        <p:spPr>
          <a:xfrm xmlns:a="http://schemas.openxmlformats.org/drawingml/2006/main">
            <a:off x="1199486" y="2664247"/>
            <a:ext cx="4514232" cy="2278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1"/>
              </a:lnSpc>
              <a:buNone/>
            </a:pPr>
            <a:r>
              <a:rPr sz="1158">
                <a:solidFill>
                  <a:srgbClr val="10202A"/>
                </a:solidFill>
                <a:latin typeface="JetBrains Mono"/>
                <a:ea typeface="JetBrains Mono"/>
                <a:cs typeface="JetBrains Mono"/>
              </a:rPr>
              <a:t>"the person who is holding a blue basket"</a:t>
            </a:r>
            <a:endParaRPr sz="1158"/>
          </a:p>
        </p:txBody>
      </p:sp>
      <p:sp>
        <p:nvSpPr>
          <p:cNvPr id="8" name="Text 6">
            <a:extLst xmlns:a="http://schemas.openxmlformats.org/drawingml/2006/main">
              <a:ext uri="{FF2B5EF4-FFF2-40B4-BE49-F238E27FC236}">
                <a16:creationId xmlns:a16="http://schemas.microsoft.com/office/drawing/2014/main" id="{6C89355E-F45B-4C3B-A91B-5DF54698CC30}"/>
              </a:ext>
            </a:extLst>
          </p:cNvPr>
          <p:cNvSpPr>
            <a:spLocks xmlns:a="http://schemas.openxmlformats.org/drawingml/2006/main" noGrp="1"/>
          </p:cNvSpPr>
          <p:nvPr/>
        </p:nvSpPr>
        <p:spPr>
          <a:xfrm xmlns:a="http://schemas.openxmlformats.org/drawingml/2006/main">
            <a:off x="1072486" y="3120628"/>
            <a:ext cx="4775852" cy="111355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17"/>
              </a:lnSpc>
              <a:buNone/>
            </a:pPr>
            <a:r>
              <a:rPr sz="1253">
                <a:solidFill>
                  <a:srgbClr val="4D5A63"/>
                </a:solidFill>
                <a:latin typeface="IBM Plex Sans"/>
                <a:ea typeface="IBM Plex Sans"/>
                <a:cs typeface="IBM Plex Sans"/>
              </a:rPr>
              <a:t>The word </a:t>
            </a:r>
            <a:r>
              <a:rPr sz="1253" b="1">
                <a:solidFill>
                  <a:srgbClr val="4D5A63"/>
                </a:solidFill>
                <a:latin typeface="IBM Plex Sans"/>
                <a:ea typeface="IBM Plex Sans"/>
                <a:cs typeface="IBM Plex Sans"/>
              </a:rPr>
              <a:t>person</a:t>
            </a:r>
            <a:r>
              <a:rPr sz="1253">
                <a:solidFill>
                  <a:srgbClr val="4D5A63"/>
                </a:solidFill>
                <a:latin typeface="IBM Plex Sans"/>
                <a:ea typeface="IBM Plex Sans"/>
                <a:cs typeface="IBM Plex Sans"/>
              </a:rPr>
              <a:t> on its own matched two basket-less people in a test image, at 0.50 and 0.39. Whoever appeared first was locked. Appearance-gated recovery then refused the genuine target, and the run sat at LOST with a stale grounding score of 0.731.</a:t>
            </a:r>
            <a:endParaRPr sz="1253"/>
          </a:p>
        </p:txBody>
      </p:sp>
      <p:sp>
        <p:nvSpPr>
          <p:cNvPr id="9" name="Shape 7">
            <a:extLst xmlns:a="http://schemas.openxmlformats.org/drawingml/2006/main">
              <a:ext uri="{FF2B5EF4-FFF2-40B4-BE49-F238E27FC236}">
                <a16:creationId xmlns:a16="http://schemas.microsoft.com/office/drawing/2014/main" id="{9F284C03-4209-40C3-934B-F5F0C1770857}"/>
              </a:ext>
            </a:extLst>
          </p:cNvPr>
          <p:cNvSpPr>
            <a:spLocks xmlns:a="http://schemas.openxmlformats.org/drawingml/2006/main" noGrp="1"/>
          </p:cNvSpPr>
          <p:nvPr/>
        </p:nvSpPr>
        <p:spPr>
          <a:xfrm xmlns:a="http://schemas.openxmlformats.org/drawingml/2006/main">
            <a:off x="6226146" y="1940278"/>
            <a:ext cx="5149932" cy="2525100"/>
          </a:xfrm>
          <a:prstGeom xmlns:a="http://schemas.openxmlformats.org/drawingml/2006/main" prst="roundRect">
            <a:avLst>
              <a:gd name="adj" fmla="val 3898"/>
            </a:avLst>
          </a:prstGeom>
          <a:solidFill xmlns:a="http://schemas.openxmlformats.org/drawingml/2006/main">
            <a:srgbClr val="F6F6F2"/>
          </a:solidFill>
          <a:ln xmlns:a="http://schemas.openxmlformats.org/drawingml/2006/main" w="6350">
            <a:solidFill>
              <a:srgbClr val="D9DAD2"/>
            </a:solidFill>
            <a:prstDash val="solid"/>
          </a:ln>
        </p:spPr>
      </p:sp>
      <p:sp>
        <p:nvSpPr>
          <p:cNvPr id="10" name="Text 8">
            <a:extLst xmlns:a="http://schemas.openxmlformats.org/drawingml/2006/main">
              <a:ext uri="{FF2B5EF4-FFF2-40B4-BE49-F238E27FC236}">
                <a16:creationId xmlns:a16="http://schemas.microsoft.com/office/drawing/2014/main" id="{A810D2F9-F0D7-4073-A4B7-88C3F6DFDC76}"/>
              </a:ext>
            </a:extLst>
          </p:cNvPr>
          <p:cNvSpPr>
            <a:spLocks xmlns:a="http://schemas.openxmlformats.org/drawingml/2006/main" noGrp="1"/>
          </p:cNvSpPr>
          <p:nvPr/>
        </p:nvSpPr>
        <p:spPr>
          <a:xfrm xmlns:a="http://schemas.openxmlformats.org/drawingml/2006/main">
            <a:off x="6482737" y="2196871"/>
            <a:ext cx="4775852" cy="26913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20"/>
              </a:lnSpc>
              <a:buNone/>
            </a:pPr>
            <a:r>
              <a:rPr sz="1600" b="1">
                <a:solidFill>
                  <a:srgbClr val="0F7D76"/>
                </a:solidFill>
                <a:latin typeface="IBM Plex Sans"/>
                <a:ea typeface="IBM Plex Sans"/>
                <a:cs typeface="IBM Plex Sans"/>
              </a:rPr>
              <a:t>After — two phrases</a:t>
            </a:r>
            <a:endParaRPr sz="1600"/>
          </a:p>
        </p:txBody>
      </p:sp>
      <p:sp>
        <p:nvSpPr>
          <p:cNvPr id="11" name="Shape 9">
            <a:extLst xmlns:a="http://schemas.openxmlformats.org/drawingml/2006/main">
              <a:ext uri="{FF2B5EF4-FFF2-40B4-BE49-F238E27FC236}">
                <a16:creationId xmlns:a16="http://schemas.microsoft.com/office/drawing/2014/main" id="{1CEE83DB-0450-4411-9832-300DE71AF216}"/>
              </a:ext>
            </a:extLst>
          </p:cNvPr>
          <p:cNvSpPr>
            <a:spLocks xmlns:a="http://schemas.openxmlformats.org/drawingml/2006/main" noGrp="1"/>
          </p:cNvSpPr>
          <p:nvPr/>
        </p:nvSpPr>
        <p:spPr>
          <a:xfrm xmlns:a="http://schemas.openxmlformats.org/drawingml/2006/main">
            <a:off x="6482737" y="2567589"/>
            <a:ext cx="4636750" cy="485114"/>
          </a:xfrm>
          <a:prstGeom xmlns:a="http://schemas.openxmlformats.org/drawingml/2006/main" prst="roundRect">
            <a:avLst>
              <a:gd name="adj" fmla="val 13090"/>
            </a:avLst>
          </a:prstGeom>
          <a:solidFill xmlns:a="http://schemas.openxmlformats.org/drawingml/2006/main">
            <a:srgbClr val="EAEAE4"/>
          </a:solidFill>
        </p:spPr>
      </p:sp>
      <p:sp>
        <p:nvSpPr>
          <p:cNvPr id="12" name="Text 10">
            <a:extLst xmlns:a="http://schemas.openxmlformats.org/drawingml/2006/main">
              <a:ext uri="{FF2B5EF4-FFF2-40B4-BE49-F238E27FC236}">
                <a16:creationId xmlns:a16="http://schemas.microsoft.com/office/drawing/2014/main" id="{6ECFA54A-4AD2-4857-8D1A-08855AF0145B}"/>
              </a:ext>
            </a:extLst>
          </p:cNvPr>
          <p:cNvSpPr>
            <a:spLocks xmlns:a="http://schemas.openxmlformats.org/drawingml/2006/main" noGrp="1"/>
          </p:cNvSpPr>
          <p:nvPr/>
        </p:nvSpPr>
        <p:spPr>
          <a:xfrm xmlns:a="http://schemas.openxmlformats.org/drawingml/2006/main">
            <a:off x="6609737" y="2694589"/>
            <a:ext cx="4514232" cy="25651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0202A"/>
                </a:solidFill>
                <a:latin typeface="JetBrains Mono"/>
                <a:ea typeface="JetBrains Mono"/>
                <a:cs typeface="JetBrains Mono"/>
              </a:rPr>
              <a:t>"person. blue basket."</a:t>
            </a:r>
            <a:endParaRPr sz="1300"/>
          </a:p>
        </p:txBody>
      </p:sp>
      <p:sp>
        <p:nvSpPr>
          <p:cNvPr id="13" name="Text 11">
            <a:extLst xmlns:a="http://schemas.openxmlformats.org/drawingml/2006/main">
              <a:ext uri="{FF2B5EF4-FFF2-40B4-BE49-F238E27FC236}">
                <a16:creationId xmlns:a16="http://schemas.microsoft.com/office/drawing/2014/main" id="{CFAC3A1D-19BE-4E44-AF2A-244065176D51}"/>
              </a:ext>
            </a:extLst>
          </p:cNvPr>
          <p:cNvSpPr>
            <a:spLocks xmlns:a="http://schemas.openxmlformats.org/drawingml/2006/main" noGrp="1"/>
          </p:cNvSpPr>
          <p:nvPr/>
        </p:nvSpPr>
        <p:spPr>
          <a:xfrm xmlns:a="http://schemas.openxmlformats.org/drawingml/2006/main">
            <a:off x="6482737" y="3179688"/>
            <a:ext cx="4775852" cy="101953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58"/>
              </a:lnSpc>
              <a:buNone/>
            </a:pPr>
            <a:r>
              <a:rPr sz="1350">
                <a:solidFill>
                  <a:srgbClr val="4D5A63"/>
                </a:solidFill>
                <a:latin typeface="IBM Plex Sans"/>
                <a:ea typeface="IBM Plex Sans"/>
                <a:cs typeface="IBM Plex Sans"/>
              </a:rPr>
              <a:t>The attribute is grounded as its own phrase and must then be found </a:t>
            </a:r>
            <a:r>
              <a:rPr sz="1350" i="1">
                <a:solidFill>
                  <a:srgbClr val="4D5A63"/>
                </a:solidFill>
                <a:latin typeface="IBM Plex Sans"/>
                <a:ea typeface="IBM Plex Sans"/>
                <a:cs typeface="IBM Plex Sans"/>
              </a:rPr>
              <a:t>on</a:t>
            </a:r>
            <a:r>
              <a:rPr sz="1350">
                <a:solidFill>
                  <a:srgbClr val="4D5A63"/>
                </a:solidFill>
                <a:latin typeface="IBM Plex Sans"/>
                <a:ea typeface="IBM Plex Sans"/>
                <a:cs typeface="IBM Plex Sans"/>
              </a:rPr>
              <a:t> a detected person. Verified on test images: no lock when no basket is present, a correct lock on "black jacket", and a mislabelled tie rejected by the colour test.</a:t>
            </a:r>
            <a:endParaRPr sz="1350"/>
          </a:p>
        </p:txBody>
      </p:sp>
    </p:spTree>
    <p:extLst>
      <p:ext uri="{BB962C8B-B14F-4D97-AF65-F5344CB8AC3E}">
        <p14:creationId xmlns:p14="http://schemas.microsoft.com/office/powerpoint/2010/main" val="565404268"/>
      </p:ext>
    </p:extLst>
  </p:cSld>
</p:sld>
</file>

<file path=ppt/slides/slide11.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E5588CB-3C14-41E2-B8A6-6BBA4E95395D}"/>
              </a:ext>
            </a:extLst>
          </p:cNvPr>
          <p:cNvSpPr>
            <a:spLocks xmlns:a="http://schemas.openxmlformats.org/drawingml/2006/main" noGrp="1"/>
          </p:cNvSpPr>
          <p:nvPr/>
        </p:nvSpPr>
        <p:spPr>
          <a:xfrm xmlns:a="http://schemas.openxmlformats.org/drawingml/2006/main">
            <a:off x="812720" y="812719"/>
            <a:ext cx="10883529" cy="19395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370"/>
              </a:lnSpc>
              <a:buNone/>
            </a:pPr>
            <a:r>
              <a:rPr sz="979" spc="150">
                <a:solidFill>
                  <a:srgbClr val="0F7D76"/>
                </a:solidFill>
                <a:latin typeface="JetBrains Mono"/>
                <a:ea typeface="JetBrains Mono"/>
                <a:cs typeface="JetBrains Mono"/>
              </a:rPr>
              <a:t>PART 2 · TRACKING EVERYONE</a:t>
            </a:r>
            <a:endParaRPr sz="979"/>
          </a:p>
        </p:txBody>
      </p:sp>
      <p:sp>
        <p:nvSpPr>
          <p:cNvPr id="3" name="Text 1">
            <a:extLst xmlns:a="http://schemas.openxmlformats.org/drawingml/2006/main">
              <a:ext uri="{FF2B5EF4-FFF2-40B4-BE49-F238E27FC236}">
                <a16:creationId xmlns:a16="http://schemas.microsoft.com/office/drawing/2014/main" id="{F49C07EE-C878-4C81-94D5-4BF0B0216E4D}"/>
              </a:ext>
            </a:extLst>
          </p:cNvPr>
          <p:cNvSpPr>
            <a:spLocks xmlns:a="http://schemas.openxmlformats.org/drawingml/2006/main" noGrp="1"/>
          </p:cNvSpPr>
          <p:nvPr/>
        </p:nvSpPr>
        <p:spPr>
          <a:xfrm xmlns:a="http://schemas.openxmlformats.org/drawingml/2006/main">
            <a:off x="812720" y="1209799"/>
            <a:ext cx="10883529" cy="74428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427"/>
              </a:lnSpc>
              <a:buNone/>
            </a:pPr>
            <a:r>
              <a:rPr sz="3060" b="1">
                <a:solidFill>
                  <a:srgbClr val="10202A"/>
                </a:solidFill>
                <a:latin typeface="IBM Plex Sans"/>
                <a:ea typeface="IBM Plex Sans"/>
                <a:cs typeface="IBM Plex Sans"/>
              </a:rPr>
              <a:t>The detector finds every person, not only the one asked for</a:t>
            </a:r>
            <a:endParaRPr sz="3060"/>
          </a:p>
        </p:txBody>
      </p:sp>
      <p:sp>
        <p:nvSpPr>
          <p:cNvPr id="4" name="Shape 2">
            <a:extLst xmlns:a="http://schemas.openxmlformats.org/drawingml/2006/main">
              <a:ext uri="{FF2B5EF4-FFF2-40B4-BE49-F238E27FC236}">
                <a16:creationId xmlns:a16="http://schemas.microsoft.com/office/drawing/2014/main" id="{96FD07A9-F132-4666-8A9D-8836F9759E18}"/>
              </a:ext>
            </a:extLst>
          </p:cNvPr>
          <p:cNvSpPr>
            <a:spLocks xmlns:a="http://schemas.openxmlformats.org/drawingml/2006/main" noGrp="1"/>
          </p:cNvSpPr>
          <p:nvPr/>
        </p:nvSpPr>
        <p:spPr>
          <a:xfrm xmlns:a="http://schemas.openxmlformats.org/drawingml/2006/main">
            <a:off x="815895" y="2160377"/>
            <a:ext cx="3397236" cy="1559763"/>
          </a:xfrm>
          <a:prstGeom xmlns:a="http://schemas.openxmlformats.org/drawingml/2006/main" prst="roundRect">
            <a:avLst>
              <a:gd name="adj" fmla="val 6310"/>
            </a:avLst>
          </a:prstGeom>
          <a:solidFill xmlns:a="http://schemas.openxmlformats.org/drawingml/2006/main">
            <a:srgbClr val="FFFFFF"/>
          </a:solidFill>
          <a:ln xmlns:a="http://schemas.openxmlformats.org/drawingml/2006/main" w="6350">
            <a:solidFill>
              <a:srgbClr val="D9DAD2"/>
            </a:solidFill>
            <a:prstDash val="solid"/>
          </a:ln>
        </p:spPr>
      </p:sp>
      <p:sp>
        <p:nvSpPr>
          <p:cNvPr id="5" name="Text 3">
            <a:extLst xmlns:a="http://schemas.openxmlformats.org/drawingml/2006/main">
              <a:ext uri="{FF2B5EF4-FFF2-40B4-BE49-F238E27FC236}">
                <a16:creationId xmlns:a16="http://schemas.microsoft.com/office/drawing/2014/main" id="{BC33DA04-AE89-432E-96BC-D5289E464B51}"/>
              </a:ext>
            </a:extLst>
          </p:cNvPr>
          <p:cNvSpPr>
            <a:spLocks xmlns:a="http://schemas.openxmlformats.org/drawingml/2006/main" noGrp="1"/>
          </p:cNvSpPr>
          <p:nvPr/>
        </p:nvSpPr>
        <p:spPr>
          <a:xfrm xmlns:a="http://schemas.openxmlformats.org/drawingml/2006/main">
            <a:off x="1047034" y="2391513"/>
            <a:ext cx="3023006" cy="21977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75"/>
              </a:lnSpc>
              <a:buNone/>
            </a:pPr>
            <a:r>
              <a:rPr sz="1313" b="1">
                <a:solidFill>
                  <a:srgbClr val="0F7D76"/>
                </a:solidFill>
                <a:latin typeface="IBM Plex Sans"/>
                <a:ea typeface="IBM Plex Sans"/>
                <a:cs typeface="IBM Plex Sans"/>
              </a:rPr>
              <a:t>Detect</a:t>
            </a:r>
            <a:endParaRPr sz="1313"/>
          </a:p>
        </p:txBody>
      </p:sp>
      <p:sp>
        <p:nvSpPr>
          <p:cNvPr id="6" name="Text 4">
            <a:extLst xmlns:a="http://schemas.openxmlformats.org/drawingml/2006/main">
              <a:ext uri="{FF2B5EF4-FFF2-40B4-BE49-F238E27FC236}">
                <a16:creationId xmlns:a16="http://schemas.microsoft.com/office/drawing/2014/main" id="{FFFCE226-AE86-4D9B-A887-DA3AD6FAB27C}"/>
              </a:ext>
            </a:extLst>
          </p:cNvPr>
          <p:cNvSpPr>
            <a:spLocks xmlns:a="http://schemas.openxmlformats.org/drawingml/2006/main" noGrp="1"/>
          </p:cNvSpPr>
          <p:nvPr/>
        </p:nvSpPr>
        <p:spPr>
          <a:xfrm xmlns:a="http://schemas.openxmlformats.org/drawingml/2006/main">
            <a:off x="1047034" y="2674739"/>
            <a:ext cx="3023006" cy="83965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02"/>
              </a:lnSpc>
              <a:buNone/>
            </a:pPr>
            <a:r>
              <a:rPr sz="1105">
                <a:solidFill>
                  <a:srgbClr val="4D5A63"/>
                </a:solidFill>
                <a:latin typeface="IBM Plex Sans"/>
                <a:ea typeface="IBM Plex Sans"/>
                <a:cs typeface="IBM Plex Sans"/>
              </a:rPr>
              <a:t>YOLO11n at 416 pixels, person class only, confidence 0.25. The threshold is deliberately low: a missed distractor is more dangerous than a spurious one.</a:t>
            </a:r>
            <a:endParaRPr sz="1105"/>
          </a:p>
        </p:txBody>
      </p:sp>
      <p:sp>
        <p:nvSpPr>
          <p:cNvPr id="7" name="Shape 5">
            <a:extLst xmlns:a="http://schemas.openxmlformats.org/drawingml/2006/main">
              <a:ext uri="{FF2B5EF4-FFF2-40B4-BE49-F238E27FC236}">
                <a16:creationId xmlns:a16="http://schemas.microsoft.com/office/drawing/2014/main" id="{BF80B74E-D96C-4404-BACE-42C72661FC78}"/>
              </a:ext>
            </a:extLst>
          </p:cNvPr>
          <p:cNvSpPr>
            <a:spLocks xmlns:a="http://schemas.openxmlformats.org/drawingml/2006/main" noGrp="1"/>
          </p:cNvSpPr>
          <p:nvPr/>
        </p:nvSpPr>
        <p:spPr>
          <a:xfrm xmlns:a="http://schemas.openxmlformats.org/drawingml/2006/main">
            <a:off x="4397278" y="2160377"/>
            <a:ext cx="3397327" cy="1559763"/>
          </a:xfrm>
          <a:prstGeom xmlns:a="http://schemas.openxmlformats.org/drawingml/2006/main" prst="roundRect">
            <a:avLst>
              <a:gd name="adj" fmla="val 6310"/>
            </a:avLst>
          </a:prstGeom>
          <a:solidFill xmlns:a="http://schemas.openxmlformats.org/drawingml/2006/main">
            <a:srgbClr val="FFFFFF"/>
          </a:solidFill>
          <a:ln xmlns:a="http://schemas.openxmlformats.org/drawingml/2006/main" w="6350">
            <a:solidFill>
              <a:srgbClr val="D9DAD2"/>
            </a:solidFill>
            <a:prstDash val="solid"/>
          </a:ln>
        </p:spPr>
      </p:sp>
      <p:sp>
        <p:nvSpPr>
          <p:cNvPr id="8" name="Text 6">
            <a:extLst xmlns:a="http://schemas.openxmlformats.org/drawingml/2006/main">
              <a:ext uri="{FF2B5EF4-FFF2-40B4-BE49-F238E27FC236}">
                <a16:creationId xmlns:a16="http://schemas.microsoft.com/office/drawing/2014/main" id="{6D5958B6-D3BB-43DC-A05D-B6DF9898A5B4}"/>
              </a:ext>
            </a:extLst>
          </p:cNvPr>
          <p:cNvSpPr>
            <a:spLocks xmlns:a="http://schemas.openxmlformats.org/drawingml/2006/main" noGrp="1"/>
          </p:cNvSpPr>
          <p:nvPr/>
        </p:nvSpPr>
        <p:spPr>
          <a:xfrm xmlns:a="http://schemas.openxmlformats.org/drawingml/2006/main">
            <a:off x="4628417" y="2391513"/>
            <a:ext cx="3023099" cy="18707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271"/>
              </a:lnSpc>
              <a:buNone/>
            </a:pPr>
            <a:r>
              <a:rPr sz="1059" b="1">
                <a:solidFill>
                  <a:srgbClr val="0F7D76"/>
                </a:solidFill>
                <a:latin typeface="IBM Plex Sans"/>
                <a:ea typeface="IBM Plex Sans"/>
                <a:cs typeface="IBM Plex Sans"/>
              </a:rPr>
              <a:t>Associate</a:t>
            </a:r>
            <a:endParaRPr sz="1059"/>
          </a:p>
        </p:txBody>
      </p:sp>
      <p:sp>
        <p:nvSpPr>
          <p:cNvPr id="9" name="Text 7">
            <a:extLst xmlns:a="http://schemas.openxmlformats.org/drawingml/2006/main">
              <a:ext uri="{FF2B5EF4-FFF2-40B4-BE49-F238E27FC236}">
                <a16:creationId xmlns:a16="http://schemas.microsoft.com/office/drawing/2014/main" id="{D23D9281-D07D-4AC5-AC39-3AB79F9CBA8E}"/>
              </a:ext>
            </a:extLst>
          </p:cNvPr>
          <p:cNvSpPr>
            <a:spLocks xmlns:a="http://schemas.openxmlformats.org/drawingml/2006/main" noGrp="1"/>
          </p:cNvSpPr>
          <p:nvPr/>
        </p:nvSpPr>
        <p:spPr>
          <a:xfrm xmlns:a="http://schemas.openxmlformats.org/drawingml/2006/main">
            <a:off x="4628417" y="2642040"/>
            <a:ext cx="3023099" cy="87235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67"/>
              </a:lnSpc>
              <a:buNone/>
            </a:pPr>
            <a:r>
              <a:rPr sz="1150">
                <a:solidFill>
                  <a:srgbClr val="4D5A63"/>
                </a:solidFill>
                <a:latin typeface="IBM Plex Sans"/>
                <a:ea typeface="IBM Plex Sans"/>
                <a:cs typeface="IBM Plex Sans"/>
              </a:rPr>
              <a:t>BoT-SORT, with sparse optical-flow camera-motion compensation — necessary because the camera is on a moving base, so image motion is not object motion.</a:t>
            </a:r>
            <a:endParaRPr sz="1150"/>
          </a:p>
        </p:txBody>
      </p:sp>
      <p:sp>
        <p:nvSpPr>
          <p:cNvPr id="10" name="Shape 8">
            <a:extLst xmlns:a="http://schemas.openxmlformats.org/drawingml/2006/main">
              <a:ext uri="{FF2B5EF4-FFF2-40B4-BE49-F238E27FC236}">
                <a16:creationId xmlns:a16="http://schemas.microsoft.com/office/drawing/2014/main" id="{FE0D6766-E933-4AFC-9D08-FD8FA2CC612F}"/>
              </a:ext>
            </a:extLst>
          </p:cNvPr>
          <p:cNvSpPr>
            <a:spLocks xmlns:a="http://schemas.openxmlformats.org/drawingml/2006/main" noGrp="1"/>
          </p:cNvSpPr>
          <p:nvPr/>
        </p:nvSpPr>
        <p:spPr>
          <a:xfrm xmlns:a="http://schemas.openxmlformats.org/drawingml/2006/main">
            <a:off x="7978751" y="2160377"/>
            <a:ext cx="3397327" cy="1559763"/>
          </a:xfrm>
          <a:prstGeom xmlns:a="http://schemas.openxmlformats.org/drawingml/2006/main" prst="roundRect">
            <a:avLst>
              <a:gd name="adj" fmla="val 6310"/>
            </a:avLst>
          </a:prstGeom>
          <a:solidFill xmlns:a="http://schemas.openxmlformats.org/drawingml/2006/main">
            <a:srgbClr val="FFFFFF"/>
          </a:solidFill>
          <a:ln xmlns:a="http://schemas.openxmlformats.org/drawingml/2006/main" w="6350">
            <a:solidFill>
              <a:srgbClr val="D9DAD2"/>
            </a:solidFill>
            <a:prstDash val="solid"/>
          </a:ln>
        </p:spPr>
      </p:sp>
      <p:sp>
        <p:nvSpPr>
          <p:cNvPr id="11" name="Text 9">
            <a:extLst xmlns:a="http://schemas.openxmlformats.org/drawingml/2006/main">
              <a:ext uri="{FF2B5EF4-FFF2-40B4-BE49-F238E27FC236}">
                <a16:creationId xmlns:a16="http://schemas.microsoft.com/office/drawing/2014/main" id="{3E806B77-A762-4E49-B389-CA1C1802C74D}"/>
              </a:ext>
            </a:extLst>
          </p:cNvPr>
          <p:cNvSpPr>
            <a:spLocks xmlns:a="http://schemas.openxmlformats.org/drawingml/2006/main" noGrp="1"/>
          </p:cNvSpPr>
          <p:nvPr/>
        </p:nvSpPr>
        <p:spPr>
          <a:xfrm xmlns:a="http://schemas.openxmlformats.org/drawingml/2006/main">
            <a:off x="8209891" y="2391513"/>
            <a:ext cx="3023099" cy="18707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271"/>
              </a:lnSpc>
              <a:buNone/>
            </a:pPr>
            <a:r>
              <a:rPr sz="1059" b="1">
                <a:solidFill>
                  <a:srgbClr val="0F7D76"/>
                </a:solidFill>
                <a:latin typeface="IBM Plex Sans"/>
                <a:ea typeface="IBM Plex Sans"/>
                <a:cs typeface="IBM Plex Sans"/>
              </a:rPr>
              <a:t>Describe</a:t>
            </a:r>
            <a:endParaRPr sz="1059"/>
          </a:p>
        </p:txBody>
      </p:sp>
      <p:sp>
        <p:nvSpPr>
          <p:cNvPr id="12" name="Text 10">
            <a:extLst xmlns:a="http://schemas.openxmlformats.org/drawingml/2006/main">
              <a:ext uri="{FF2B5EF4-FFF2-40B4-BE49-F238E27FC236}">
                <a16:creationId xmlns:a16="http://schemas.microsoft.com/office/drawing/2014/main" id="{0394237D-B553-4BE6-AEBF-A1838555D58C}"/>
              </a:ext>
            </a:extLst>
          </p:cNvPr>
          <p:cNvSpPr>
            <a:spLocks xmlns:a="http://schemas.openxmlformats.org/drawingml/2006/main" noGrp="1"/>
          </p:cNvSpPr>
          <p:nvPr/>
        </p:nvSpPr>
        <p:spPr>
          <a:xfrm xmlns:a="http://schemas.openxmlformats.org/drawingml/2006/main">
            <a:off x="8209891" y="2642040"/>
            <a:ext cx="3023099" cy="87235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67"/>
              </a:lnSpc>
              <a:buNone/>
            </a:pPr>
            <a:r>
              <a:rPr sz="1150">
                <a:solidFill>
                  <a:srgbClr val="4D5A63"/>
                </a:solidFill>
                <a:latin typeface="IBM Plex Sans"/>
                <a:ea typeface="IBM Plex Sans"/>
                <a:cs typeface="IBM Plex Sans"/>
              </a:rPr>
              <a:t>Each box gets a colour signature, and those same vectors are handed to BoT-SORT as its appearance features, so tracking and identity use one description.</a:t>
            </a:r>
            <a:endParaRPr sz="1150"/>
          </a:p>
        </p:txBody>
      </p:sp>
      <p:sp>
        <p:nvSpPr>
          <p:cNvPr id="13" name="Shape 11">
            <a:extLst xmlns:a="http://schemas.openxmlformats.org/drawingml/2006/main">
              <a:ext uri="{FF2B5EF4-FFF2-40B4-BE49-F238E27FC236}">
                <a16:creationId xmlns:a16="http://schemas.microsoft.com/office/drawing/2014/main" id="{87238EE1-E537-4935-8EED-2CAD767B0F99}"/>
              </a:ext>
            </a:extLst>
          </p:cNvPr>
          <p:cNvSpPr>
            <a:spLocks xmlns:a="http://schemas.openxmlformats.org/drawingml/2006/main" noGrp="1"/>
          </p:cNvSpPr>
          <p:nvPr/>
        </p:nvSpPr>
        <p:spPr>
          <a:xfrm xmlns:a="http://schemas.openxmlformats.org/drawingml/2006/main">
            <a:off x="812720" y="3951833"/>
            <a:ext cx="10566533" cy="1296566"/>
          </a:xfrm>
          <a:prstGeom xmlns:a="http://schemas.openxmlformats.org/drawingml/2006/main" prst="roundRect">
            <a:avLst>
              <a:gd name="adj" fmla="val 7836"/>
            </a:avLst>
          </a:prstGeom>
          <a:solidFill xmlns:a="http://schemas.openxmlformats.org/drawingml/2006/main">
            <a:srgbClr val="10202A"/>
          </a:solidFill>
        </p:spPr>
      </p:sp>
      <p:sp>
        <p:nvSpPr>
          <p:cNvPr id="14" name="Text 12">
            <a:extLst xmlns:a="http://schemas.openxmlformats.org/drawingml/2006/main">
              <a:ext uri="{FF2B5EF4-FFF2-40B4-BE49-F238E27FC236}">
                <a16:creationId xmlns:a16="http://schemas.microsoft.com/office/drawing/2014/main" id="{32C78A33-0EF3-4335-A180-49B12DCB1FCA}"/>
              </a:ext>
            </a:extLst>
          </p:cNvPr>
          <p:cNvSpPr>
            <a:spLocks xmlns:a="http://schemas.openxmlformats.org/drawingml/2006/main" noGrp="1"/>
          </p:cNvSpPr>
          <p:nvPr/>
        </p:nvSpPr>
        <p:spPr>
          <a:xfrm xmlns:a="http://schemas.openxmlformats.org/drawingml/2006/main">
            <a:off x="1066689" y="4180346"/>
            <a:ext cx="10360352" cy="20147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23"/>
              </a:lnSpc>
              <a:buNone/>
            </a:pPr>
            <a:r>
              <a:rPr sz="1186" b="1">
                <a:solidFill>
                  <a:srgbClr val="4FBFB4"/>
                </a:solidFill>
                <a:latin typeface="IBM Plex Sans"/>
                <a:ea typeface="IBM Plex Sans"/>
                <a:cs typeface="IBM Plex Sans"/>
              </a:rPr>
              <a:t>Why track people the prompt did not ask for</a:t>
            </a:r>
            <a:endParaRPr sz="1186"/>
          </a:p>
        </p:txBody>
      </p:sp>
      <p:sp>
        <p:nvSpPr>
          <p:cNvPr id="15" name="Text 13">
            <a:extLst xmlns:a="http://schemas.openxmlformats.org/drawingml/2006/main">
              <a:ext uri="{FF2B5EF4-FFF2-40B4-BE49-F238E27FC236}">
                <a16:creationId xmlns:a16="http://schemas.microsoft.com/office/drawing/2014/main" id="{8D3C7712-9601-4A73-AC5F-714017D434AC}"/>
              </a:ext>
            </a:extLst>
          </p:cNvPr>
          <p:cNvSpPr>
            <a:spLocks xmlns:a="http://schemas.openxmlformats.org/drawingml/2006/main" noGrp="1"/>
          </p:cNvSpPr>
          <p:nvPr/>
        </p:nvSpPr>
        <p:spPr>
          <a:xfrm xmlns:a="http://schemas.openxmlformats.org/drawingml/2006/main">
            <a:off x="1066689" y="4445279"/>
            <a:ext cx="10360352" cy="60000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54"/>
              </a:lnSpc>
              <a:buNone/>
            </a:pPr>
            <a:r>
              <a:rPr sz="1072">
                <a:solidFill>
                  <a:srgbClr val="A9BCC4"/>
                </a:solidFill>
                <a:latin typeface="IBM Plex Sans"/>
                <a:ea typeface="IBM Plex Sans"/>
                <a:cs typeface="IBM Plex Sans"/>
              </a:rPr>
              <a:t>Because identity is a question about </a:t>
            </a:r>
            <a:r>
              <a:rPr sz="1072" i="1">
                <a:solidFill>
                  <a:srgbClr val="A9BCC4"/>
                </a:solidFill>
                <a:latin typeface="IBM Plex Sans"/>
                <a:ea typeface="IBM Plex Sans"/>
                <a:cs typeface="IBM Plex Sans"/>
              </a:rPr>
              <a:t>competition</a:t>
            </a:r>
            <a:r>
              <a:rPr sz="1072">
                <a:solidFill>
                  <a:srgbClr val="A9BCC4"/>
                </a:solidFill>
                <a:latin typeface="IBM Plex Sans"/>
                <a:ea typeface="IBM Plex Sans"/>
                <a:cs typeface="IBM Plex Sans"/>
              </a:rPr>
              <a:t>. To know the leader is still the leader, the system has to know who else is in frame and how similar they look. Tracking only the match would leave no way to notice that a second person just became the better match — which is exactly how a follower gets handed to a stranger.</a:t>
            </a:r>
            <a:endParaRPr sz="1072"/>
          </a:p>
        </p:txBody>
      </p:sp>
      <p:sp>
        <p:nvSpPr>
          <p:cNvPr id="16" name="Text 14">
            <a:extLst xmlns:a="http://schemas.openxmlformats.org/drawingml/2006/main">
              <a:ext uri="{FF2B5EF4-FFF2-40B4-BE49-F238E27FC236}">
                <a16:creationId xmlns:a16="http://schemas.microsoft.com/office/drawing/2014/main" id="{9830DC80-5EAF-4767-BC59-DA5519243767}"/>
              </a:ext>
            </a:extLst>
          </p:cNvPr>
          <p:cNvSpPr>
            <a:spLocks xmlns:a="http://schemas.openxmlformats.org/drawingml/2006/main" noGrp="1"/>
          </p:cNvSpPr>
          <p:nvPr/>
        </p:nvSpPr>
        <p:spPr>
          <a:xfrm xmlns:a="http://schemas.openxmlformats.org/drawingml/2006/main">
            <a:off x="812720" y="5476912"/>
            <a:ext cx="10464746" cy="39050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7"/>
              </a:lnSpc>
              <a:buNone/>
            </a:pPr>
            <a:r>
              <a:rPr sz="1162">
                <a:solidFill>
                  <a:srgbClr val="4D5A63"/>
                </a:solidFill>
                <a:latin typeface="IBM Plex Sans"/>
                <a:ea typeface="IBM Plex Sans"/>
                <a:cs typeface="IBM Plex Sans"/>
              </a:rPr>
              <a:t>Tracker settings: match threshold 0.80, appearance threshold 0.80, proximity 0.50, track buffer 30 frames — about ten seconds at the 3 Hz detection rate.</a:t>
            </a:r>
            <a:endParaRPr sz="1162"/>
          </a:p>
        </p:txBody>
      </p:sp>
    </p:spTree>
    <p:extLst>
      <p:ext uri="{BB962C8B-B14F-4D97-AF65-F5344CB8AC3E}">
        <p14:creationId xmlns:p14="http://schemas.microsoft.com/office/powerpoint/2010/main" val="542721049"/>
      </p:ext>
    </p:extLst>
  </p:cSld>
</p:sld>
</file>

<file path=ppt/slides/slide12.xml><?xml version="1.0" encoding="utf-8"?>
<p:sld xmlns:p="http://schemas.openxmlformats.org/presentationml/2006/main">
  <p:cSld>
    <p:bg>
      <p:bgPr>
        <a:solidFill xmlns:a="http://schemas.openxmlformats.org/drawingml/2006/main">
          <a:srgbClr val="EAEAE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30E17D4-7262-4514-85F9-8EDD3E2D68B4}"/>
              </a:ext>
            </a:extLst>
          </p:cNvPr>
          <p:cNvSpPr>
            <a:spLocks xmlns:a="http://schemas.openxmlformats.org/drawingml/2006/main" noGrp="1"/>
          </p:cNvSpPr>
          <p:nvPr/>
        </p:nvSpPr>
        <p:spPr>
          <a:xfrm xmlns:a="http://schemas.openxmlformats.org/drawingml/2006/main">
            <a:off x="812720" y="812719"/>
            <a:ext cx="10883529" cy="1910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323"/>
              </a:lnSpc>
              <a:buNone/>
            </a:pPr>
            <a:r>
              <a:rPr sz="945" spc="150">
                <a:solidFill>
                  <a:srgbClr val="9C5308"/>
                </a:solidFill>
                <a:latin typeface="JetBrains Mono"/>
                <a:ea typeface="JetBrains Mono"/>
                <a:cs typeface="JetBrains Mono"/>
              </a:rPr>
              <a:t>PART 2 · THE COLOUR TEST, AND WHERE IT BROKE</a:t>
            </a:r>
            <a:endParaRPr sz="945"/>
          </a:p>
        </p:txBody>
      </p:sp>
      <p:sp>
        <p:nvSpPr>
          <p:cNvPr id="3" name="Text 1">
            <a:extLst xmlns:a="http://schemas.openxmlformats.org/drawingml/2006/main">
              <a:ext uri="{FF2B5EF4-FFF2-40B4-BE49-F238E27FC236}">
                <a16:creationId xmlns:a16="http://schemas.microsoft.com/office/drawing/2014/main" id="{2CBAD247-00F5-416B-AF38-786924540BC6}"/>
              </a:ext>
            </a:extLst>
          </p:cNvPr>
          <p:cNvSpPr>
            <a:spLocks xmlns:a="http://schemas.openxmlformats.org/drawingml/2006/main" noGrp="1"/>
          </p:cNvSpPr>
          <p:nvPr/>
        </p:nvSpPr>
        <p:spPr>
          <a:xfrm xmlns:a="http://schemas.openxmlformats.org/drawingml/2006/main">
            <a:off x="812720" y="1181540"/>
            <a:ext cx="10883529" cy="73178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3461"/>
              </a:lnSpc>
              <a:buNone/>
            </a:pPr>
            <a:r>
              <a:rPr sz="3090" b="1">
                <a:solidFill>
                  <a:srgbClr val="10202A"/>
                </a:solidFill>
                <a:latin typeface="IBM Plex Sans"/>
                <a:ea typeface="IBM Plex Sans"/>
                <a:cs typeface="IBM Plex Sans"/>
              </a:rPr>
              <a:t>What happens when the prompt says “person with a bag”</a:t>
            </a:r>
            <a:endParaRPr sz="3090"/>
          </a:p>
        </p:txBody>
      </p:sp>
      <p:sp>
        <p:nvSpPr>
          <p:cNvPr id="4" name="Plain-language explanation">
            <a:extLst xmlns:a="http://schemas.openxmlformats.org/drawingml/2006/main">
              <a:ext uri="{FF2B5EF4-FFF2-40B4-BE49-F238E27FC236}">
                <a16:creationId xmlns:a16="http://schemas.microsoft.com/office/drawing/2014/main" id="{CE26A3BD-0261-4DEC-AB72-E0C857BBC1C1}"/>
              </a:ext>
            </a:extLst>
          </p:cNvPr>
          <p:cNvSpPr>
            <a:spLocks xmlns:a="http://schemas.openxmlformats.org/drawingml/2006/main" noGrp="1"/>
          </p:cNvSpPr>
          <p:nvPr/>
        </p:nvSpPr>
        <p:spPr>
          <a:xfrm xmlns:a="http://schemas.openxmlformats.org/drawingml/2006/main">
            <a:off x="1047750" y="2143125"/>
            <a:ext cx="10001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nSpc>
                <a:spcPct val="123000"/>
              </a:lnSpc>
              <a:buNone/>
              <a:defRPr sz="1875">
                <a:solidFill>
                  <a:srgbClr val="273943"/>
                </a:solidFill>
                <a:latin typeface="IBM Plex Sans"/>
                <a:ea typeface="IBM Plex Sans"/>
                <a:cs typeface="IBM Plex Sans"/>
              </a:defRPr>
            </a:pPr>
            <a:r>
              <a:rPr sz="1875">
                <a:solidFill>
                  <a:srgbClr val="273943"/>
                </a:solidFill>
                <a:latin typeface="IBM Plex Sans"/>
                <a:ea typeface="IBM Plex Sans"/>
                <a:cs typeface="IBM Plex Sans"/>
              </a:rPr>
              <a:t>If the prompt says “Follow the person with a bag,” the parser treats “bag” as the visual attribute and sends “person.” and “bag.” to Grounding DINO. The target manager checks whether each detected bag lies mostly inside a YOLO person box and is smaller than the person box. Because the prompt contains no colour word, the HSV colour test is skipped. If one person has a strong, unambiguous bag match, that candidate must remain verified for three consecutive target frames before the state becomes LOCKED. If no bag is found, or two people have similarly strong bag matches, the system stays in SEARCHING and the robot does not move.</a:t>
            </a:r>
          </a:p>
        </p:txBody>
      </p:sp>
    </p:spTree>
    <p:extLst>
      <p:ext uri="{BB962C8B-B14F-4D97-AF65-F5344CB8AC3E}">
        <p14:creationId xmlns:p14="http://schemas.microsoft.com/office/powerpoint/2010/main" val="256440158"/>
      </p:ext>
    </p:extLst>
  </p:cSld>
</p:sld>
</file>

<file path=ppt/slides/slide13.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FED01D9-9E7D-485B-A711-5C36208DA579}"/>
              </a:ext>
            </a:extLst>
          </p:cNvPr>
          <p:cNvSpPr>
            <a:spLocks xmlns:a="http://schemas.openxmlformats.org/drawingml/2006/main" noGrp="1"/>
          </p:cNvSpPr>
          <p:nvPr/>
        </p:nvSpPr>
        <p:spPr>
          <a:xfrm xmlns:a="http://schemas.openxmlformats.org/drawingml/2006/main">
            <a:off x="812720" y="812719"/>
            <a:ext cx="10883529" cy="22384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75"/>
              </a:lnSpc>
              <a:buNone/>
            </a:pPr>
            <a:r>
              <a:rPr sz="1125" spc="150">
                <a:solidFill>
                  <a:srgbClr val="0F7D76"/>
                </a:solidFill>
                <a:latin typeface="JetBrains Mono"/>
                <a:ea typeface="JetBrains Mono"/>
                <a:cs typeface="JetBrains Mono"/>
              </a:rPr>
              <a:t>PART 2 · HOLDING THE IDENTITY</a:t>
            </a:r>
            <a:endParaRPr sz="1125"/>
          </a:p>
        </p:txBody>
      </p:sp>
      <p:sp>
        <p:nvSpPr>
          <p:cNvPr id="3" name="Text 1">
            <a:extLst xmlns:a="http://schemas.openxmlformats.org/drawingml/2006/main">
              <a:ext uri="{FF2B5EF4-FFF2-40B4-BE49-F238E27FC236}">
                <a16:creationId xmlns:a16="http://schemas.microsoft.com/office/drawing/2014/main" id="{7E082EBA-90B6-4E0F-8A38-732CE7C7E78A}"/>
              </a:ext>
            </a:extLst>
          </p:cNvPr>
          <p:cNvSpPr>
            <a:spLocks xmlns:a="http://schemas.openxmlformats.org/drawingml/2006/main" noGrp="1"/>
          </p:cNvSpPr>
          <p:nvPr/>
        </p:nvSpPr>
        <p:spPr>
          <a:xfrm xmlns:a="http://schemas.openxmlformats.org/drawingml/2006/main">
            <a:off x="812720" y="1188963"/>
            <a:ext cx="10883529" cy="87181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3338"/>
              </a:lnSpc>
              <a:buNone/>
            </a:pPr>
            <a:r>
              <a:rPr sz="2980" b="1">
                <a:solidFill>
                  <a:srgbClr val="10202A"/>
                </a:solidFill>
                <a:latin typeface="IBM Plex Sans"/>
                <a:ea typeface="IBM Plex Sans"/>
                <a:cs typeface="IBM Plex Sans"/>
              </a:rPr>
              <a:t>Why the system stores an appearance signature</a:t>
            </a:r>
            <a:endParaRPr sz="2980"/>
          </a:p>
        </p:txBody>
      </p:sp>
      <p:sp>
        <p:nvSpPr>
          <p:cNvPr id="4" name="Plain-language explanation">
            <a:extLst xmlns:a="http://schemas.openxmlformats.org/drawingml/2006/main">
              <a:ext uri="{FF2B5EF4-FFF2-40B4-BE49-F238E27FC236}">
                <a16:creationId xmlns:a16="http://schemas.microsoft.com/office/drawing/2014/main" id="{8446480D-164A-4C4C-9FF9-EEE47EE83FD1}"/>
              </a:ext>
            </a:extLst>
          </p:cNvPr>
          <p:cNvSpPr>
            <a:spLocks xmlns:a="http://schemas.openxmlformats.org/drawingml/2006/main" noGrp="1"/>
          </p:cNvSpPr>
          <p:nvPr/>
        </p:nvSpPr>
        <p:spPr>
          <a:xfrm xmlns:a="http://schemas.openxmlformats.org/drawingml/2006/main">
            <a:off x="1047750" y="2238375"/>
            <a:ext cx="10001250" cy="3571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nSpc>
                <a:spcPct val="123000"/>
              </a:lnSpc>
              <a:buNone/>
              <a:defRPr sz="1875">
                <a:solidFill>
                  <a:srgbClr val="273943"/>
                </a:solidFill>
                <a:latin typeface="IBM Plex Sans"/>
                <a:ea typeface="IBM Plex Sans"/>
                <a:cs typeface="IBM Plex Sans"/>
              </a:defRPr>
            </a:pPr>
            <a:r>
              <a:rPr sz="1875">
                <a:solidFill>
                  <a:srgbClr val="273943"/>
                </a:solidFill>
                <a:latin typeface="IBM Plex Sans"/>
                <a:ea typeface="IBM Plex Sans"/>
                <a:cs typeface="IBM Plex Sans"/>
              </a:rPr>
              <a:t>The appearance signature is needed because Grounding DINO runs only occasionally, while the tracker updates every target frame. After the system selects a person, it needs a lightweight way to check that the current track still resembles the same individual and to recover that individual after a brief occlusion without switching to a nearby stranger. The code stores colour distributions from the person’s clothing and compares new observations with that gallery. A poor match changes the state to UNCERTAIN and stops motion. This protects identity between grounding passes, although people wearing similar colours can still look alike to this hand-built descriptor.</a:t>
            </a:r>
          </a:p>
        </p:txBody>
      </p:sp>
    </p:spTree>
    <p:extLst>
      <p:ext uri="{BB962C8B-B14F-4D97-AF65-F5344CB8AC3E}">
        <p14:creationId xmlns:p14="http://schemas.microsoft.com/office/powerpoint/2010/main" val="794513216"/>
      </p:ext>
    </p:extLst>
  </p:cSld>
</p:sld>
</file>

<file path=ppt/slides/slide14.xml><?xml version="1.0" encoding="utf-8"?>
<p:sld xmlns:p="http://schemas.openxmlformats.org/presentationml/2006/main">
  <p:cSld>
    <p:bg>
      <p:bgPr>
        <a:solidFill xmlns:a="http://schemas.openxmlformats.org/drawingml/2006/main">
          <a:srgbClr val="EAEAE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FDC13E7-FEE8-4302-8324-7E6DD559C7B2}"/>
              </a:ext>
            </a:extLst>
          </p:cNvPr>
          <p:cNvSpPr>
            <a:spLocks xmlns:a="http://schemas.openxmlformats.org/drawingml/2006/main" noGrp="1"/>
          </p:cNvSpPr>
          <p:nvPr/>
        </p:nvSpPr>
        <p:spPr>
          <a:xfrm xmlns:a="http://schemas.openxmlformats.org/drawingml/2006/main">
            <a:off x="812720" y="812719"/>
            <a:ext cx="10883529" cy="23879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spc="150">
                <a:solidFill>
                  <a:srgbClr val="0F7D76"/>
                </a:solidFill>
                <a:latin typeface="JetBrains Mono"/>
                <a:ea typeface="JetBrains Mono"/>
                <a:cs typeface="JetBrains Mono"/>
              </a:rPr>
              <a:t>PART 2 · STATE MACHINE</a:t>
            </a:r>
            <a:endParaRPr sz="1200"/>
          </a:p>
        </p:txBody>
      </p:sp>
      <p:sp>
        <p:nvSpPr>
          <p:cNvPr id="3" name="Text 1">
            <a:extLst xmlns:a="http://schemas.openxmlformats.org/drawingml/2006/main">
              <a:ext uri="{FF2B5EF4-FFF2-40B4-BE49-F238E27FC236}">
                <a16:creationId xmlns:a16="http://schemas.microsoft.com/office/drawing/2014/main" id="{3B8A93DE-8F6C-42C2-8444-3ABDF3AA9A90}"/>
              </a:ext>
            </a:extLst>
          </p:cNvPr>
          <p:cNvSpPr>
            <a:spLocks xmlns:a="http://schemas.openxmlformats.org/drawingml/2006/main" noGrp="1"/>
          </p:cNvSpPr>
          <p:nvPr/>
        </p:nvSpPr>
        <p:spPr>
          <a:xfrm xmlns:a="http://schemas.openxmlformats.org/drawingml/2006/main">
            <a:off x="812720" y="1203908"/>
            <a:ext cx="10883529" cy="48053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3584"/>
              </a:lnSpc>
              <a:buNone/>
            </a:pPr>
            <a:r>
              <a:rPr sz="3200" b="1">
                <a:solidFill>
                  <a:srgbClr val="10202A"/>
                </a:solidFill>
                <a:latin typeface="IBM Plex Sans"/>
                <a:ea typeface="IBM Plex Sans"/>
                <a:cs typeface="IBM Plex Sans"/>
              </a:rPr>
              <a:t>How the target state controls motion</a:t>
            </a:r>
            <a:endParaRPr sz="3200"/>
          </a:p>
        </p:txBody>
      </p:sp>
      <p:sp>
        <p:nvSpPr>
          <p:cNvPr id="4" name="Current evidence">
            <a:extLst xmlns:a="http://schemas.openxmlformats.org/drawingml/2006/main">
              <a:ext uri="{FF2B5EF4-FFF2-40B4-BE49-F238E27FC236}">
                <a16:creationId xmlns:a16="http://schemas.microsoft.com/office/drawing/2014/main" id="{DDD259FB-67A6-4F75-8E83-9AAD5CB49584}"/>
              </a:ext>
            </a:extLst>
          </p:cNvPr>
          <p:cNvSpPr>
            <a:spLocks xmlns:a="http://schemas.openxmlformats.org/drawingml/2006/main" noGrp="1"/>
          </p:cNvSpPr>
          <p:nvPr/>
        </p:nvSpPr>
        <p:spPr>
          <a:xfrm xmlns:a="http://schemas.openxmlformats.org/drawingml/2006/main">
            <a:off x="1047750" y="2238375"/>
            <a:ext cx="10001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nSpc>
                <a:spcPct val="122000"/>
              </a:lnSpc>
              <a:buNone/>
              <a:defRPr sz="2025">
                <a:solidFill>
                  <a:srgbClr val="273943"/>
                </a:solidFill>
                <a:latin typeface="IBM Plex Sans"/>
                <a:ea typeface="IBM Plex Sans"/>
                <a:cs typeface="IBM Plex Sans"/>
              </a:defRPr>
            </a:pPr>
            <a:r>
              <a:rPr sz="2025">
                <a:solidFill>
                  <a:srgbClr val="273943"/>
                </a:solidFill>
                <a:latin typeface="IBM Plex Sans"/>
                <a:ea typeface="IBM Plex Sans"/>
                <a:cs typeface="IBM Plex Sans"/>
              </a:rPr>
              <a:t>The target manager starts in SEARCHING. One candidate must pass the prompt and appearance checks for three target frames before LOCKED allows motion. If its track disappears or appearance similarity drops below 0.72, the state becomes UNCERTAIN immediately and motion stops. After eight unverified frames it becomes LOST. The original track can recover, or a freshly grounded candidate can recover if it also matches the stored appearance for three frames. LOST has no automatic timeout or identity replacement. The operator uses reset_target when a different person should be selected.</a:t>
            </a:r>
          </a:p>
        </p:txBody>
      </p:sp>
    </p:spTree>
    <p:extLst>
      <p:ext uri="{BB962C8B-B14F-4D97-AF65-F5344CB8AC3E}">
        <p14:creationId xmlns:p14="http://schemas.microsoft.com/office/powerpoint/2010/main" val="858462758"/>
      </p:ext>
    </p:extLst>
  </p:cSld>
</p:sld>
</file>

<file path=ppt/slides/slide15.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AD534C7-DA06-477A-B5A7-8A3917EAEB43}"/>
              </a:ext>
            </a:extLst>
          </p:cNvPr>
          <p:cNvSpPr>
            <a:spLocks xmlns:a="http://schemas.openxmlformats.org/drawingml/2006/main" noGrp="1"/>
          </p:cNvSpPr>
          <p:nvPr/>
        </p:nvSpPr>
        <p:spPr>
          <a:xfrm xmlns:a="http://schemas.openxmlformats.org/drawingml/2006/main">
            <a:off x="812720" y="812719"/>
            <a:ext cx="10883529" cy="16805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123"/>
              </a:lnSpc>
              <a:buNone/>
            </a:pPr>
            <a:r>
              <a:rPr sz="802" spc="150">
                <a:solidFill>
                  <a:srgbClr val="9C5308"/>
                </a:solidFill>
                <a:latin typeface="JetBrains Mono"/>
                <a:ea typeface="JetBrains Mono"/>
                <a:cs typeface="JetBrains Mono"/>
              </a:rPr>
              <a:t>PART 2 · WHERE THE NUMBERS COME FROM</a:t>
            </a:r>
            <a:endParaRPr sz="802"/>
          </a:p>
        </p:txBody>
      </p:sp>
      <p:sp>
        <p:nvSpPr>
          <p:cNvPr id="3" name="Text 1">
            <a:extLst xmlns:a="http://schemas.openxmlformats.org/drawingml/2006/main">
              <a:ext uri="{FF2B5EF4-FFF2-40B4-BE49-F238E27FC236}">
                <a16:creationId xmlns:a16="http://schemas.microsoft.com/office/drawing/2014/main" id="{26267785-ABE0-4CBB-AD36-49B95D8A610A}"/>
              </a:ext>
            </a:extLst>
          </p:cNvPr>
          <p:cNvSpPr>
            <a:spLocks xmlns:a="http://schemas.openxmlformats.org/drawingml/2006/main" noGrp="1"/>
          </p:cNvSpPr>
          <p:nvPr/>
        </p:nvSpPr>
        <p:spPr>
          <a:xfrm xmlns:a="http://schemas.openxmlformats.org/drawingml/2006/main">
            <a:off x="812720" y="1158528"/>
            <a:ext cx="10883529" cy="63387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2733"/>
              </a:lnSpc>
              <a:buNone/>
            </a:pPr>
            <a:r>
              <a:rPr sz="2440" b="1">
                <a:solidFill>
                  <a:srgbClr val="10202A"/>
                </a:solidFill>
                <a:latin typeface="IBM Plex Sans"/>
                <a:ea typeface="IBM Plex Sans"/>
                <a:cs typeface="IBM Plex Sans"/>
              </a:rPr>
              <a:t>Defaults, engineering choices, and one observed trial</a:t>
            </a:r>
            <a:endParaRPr sz="2440"/>
          </a:p>
        </p:txBody>
      </p:sp>
      <p:sp>
        <p:nvSpPr>
          <p:cNvPr id="4" name="Shape 2">
            <a:extLst xmlns:a="http://schemas.openxmlformats.org/drawingml/2006/main">
              <a:ext uri="{FF2B5EF4-FFF2-40B4-BE49-F238E27FC236}">
                <a16:creationId xmlns:a16="http://schemas.microsoft.com/office/drawing/2014/main" id="{622FE4F0-D0C7-4ACF-94AB-E91301FB0BA5}"/>
              </a:ext>
            </a:extLst>
          </p:cNvPr>
          <p:cNvSpPr>
            <a:spLocks xmlns:a="http://schemas.openxmlformats.org/drawingml/2006/main" noGrp="1"/>
          </p:cNvSpPr>
          <p:nvPr/>
        </p:nvSpPr>
        <p:spPr>
          <a:xfrm xmlns:a="http://schemas.openxmlformats.org/drawingml/2006/main">
            <a:off x="11376078" y="1970168"/>
            <a:ext cx="0" cy="3019462"/>
          </a:xfrm>
          <a:prstGeom xmlns:a="http://schemas.openxmlformats.org/drawingml/2006/main" prst="line">
            <a:avLst/>
          </a:prstGeom>
          <a:noFill xmlns:a="http://schemas.openxmlformats.org/drawingml/2006/main"/>
          <a:ln xmlns:a="http://schemas.openxmlformats.org/drawingml/2006/main" w="6350">
            <a:solidFill>
              <a:srgbClr val="D9DAD2"/>
            </a:solidFill>
            <a:prstDash val="solid"/>
          </a:ln>
        </p:spPr>
      </p:sp>
      <p:sp>
        <p:nvSpPr>
          <p:cNvPr id="5" name="Shape 3">
            <a:extLst xmlns:a="http://schemas.openxmlformats.org/drawingml/2006/main">
              <a:ext uri="{FF2B5EF4-FFF2-40B4-BE49-F238E27FC236}">
                <a16:creationId xmlns:a16="http://schemas.microsoft.com/office/drawing/2014/main" id="{B4D880B4-2493-464B-9ED5-D1DA3DE577DC}"/>
              </a:ext>
            </a:extLst>
          </p:cNvPr>
          <p:cNvSpPr>
            <a:spLocks xmlns:a="http://schemas.openxmlformats.org/drawingml/2006/main" noGrp="1"/>
          </p:cNvSpPr>
          <p:nvPr/>
        </p:nvSpPr>
        <p:spPr>
          <a:xfrm xmlns:a="http://schemas.openxmlformats.org/drawingml/2006/main">
            <a:off x="812720" y="4986456"/>
            <a:ext cx="10566533" cy="0"/>
          </a:xfrm>
          <a:prstGeom xmlns:a="http://schemas.openxmlformats.org/drawingml/2006/main" prst="line">
            <a:avLst/>
          </a:prstGeom>
          <a:noFill xmlns:a="http://schemas.openxmlformats.org/drawingml/2006/main"/>
          <a:ln xmlns:a="http://schemas.openxmlformats.org/drawingml/2006/main" w="6350">
            <a:solidFill>
              <a:srgbClr val="D9DAD2"/>
            </a:solidFill>
            <a:prstDash val="solid"/>
          </a:ln>
        </p:spPr>
      </p:sp>
      <p:graphicFrame>
        <p:nvGraphicFramePr>
          <p:cNvPr id="15" name="Table 0"/>
          <p:cNvGraphicFramePr/>
          <p:nvPr/>
        </p:nvGraphicFramePr>
        <p:xfrm>
          <a:off xmlns:a="http://schemas.openxmlformats.org/drawingml/2006/main" x="824313" y="1981762"/>
          <a:ext xmlns:a="http://schemas.openxmlformats.org/drawingml/2006/main" cx="10549143" cy="3002072"/>
        </p:xfrm>
        <a:graphic xmlns:a="http://schemas.openxmlformats.org/drawingml/2006/main">
          <a:graphicData uri="http://schemas.openxmlformats.org/drawingml/2006/table">
            <a:tbl>
              <a:tblPr/>
              <a:tblGrid>
                <a:gridCol w="3586709"/>
                <a:gridCol w="1476880"/>
                <a:gridCol w="5485554"/>
              </a:tblGrid>
              <a:tr h="357676">
                <a:tc>
                  <a:txBody>
                    <a:bodyPr/>
                    <a:lstStyle/>
                    <a:p>
                      <a:pPr marL="0" indent="0">
                        <a:lnSpc>
                          <a:spcPts val="1126"/>
                        </a:lnSpc>
                        <a:buNone/>
                      </a:pPr>
                      <a:r>
                        <a:rPr sz="804" b="1">
                          <a:solidFill>
                            <a:srgbClr val="F6F6F2"/>
                          </a:solidFill>
                          <a:latin typeface="IBM Plex Sans"/>
                          <a:ea typeface="IBM Plex Sans"/>
                          <a:cs typeface="IBM Plex Sans"/>
                        </a:rPr>
                        <a:t>Constant</a:t>
                      </a:r>
                      <a:endParaRPr sz="804">
                        <a:latin typeface="IBM Plex Sans"/>
                        <a:ea typeface="IBM Plex Sans"/>
                        <a:cs typeface="IBM Plex Sans"/>
                      </a:endParaRPr>
                    </a:p>
                  </a:txBody>
                  <a:tcPr marL="127000" marR="127000" marT="101600" marB="101600" anchor="t">
                    <a:lnL w="12700" cmpd="sng">
                      <a:solidFill>
                        <a:srgbClr val="C4C4C1"/>
                      </a:solidFill>
                      <a:prstDash val="solid"/>
                    </a:lnL>
                    <a:lnR w="12700" cmpd="sng">
                      <a:solidFill>
                        <a:srgbClr val="111D25"/>
                      </a:solidFill>
                      <a:prstDash val="solid"/>
                    </a:lnR>
                    <a:lnT w="12700" cmpd="sng">
                      <a:solidFill>
                        <a:srgbClr val="C4C4C1"/>
                      </a:solidFill>
                      <a:prstDash val="solid"/>
                    </a:lnT>
                    <a:lnB w="12700" cmpd="sng">
                      <a:solidFill>
                        <a:srgbClr val="111D25"/>
                      </a:solidFill>
                      <a:prstDash val="solid"/>
                    </a:lnB>
                    <a:solidFill>
                      <a:srgbClr val="10202A"/>
                    </a:solidFill>
                  </a:tcPr>
                </a:tc>
                <a:tc>
                  <a:txBody>
                    <a:bodyPr/>
                    <a:lstStyle/>
                    <a:p>
                      <a:pPr marL="0" indent="0">
                        <a:lnSpc>
                          <a:spcPts val="1126"/>
                        </a:lnSpc>
                        <a:buNone/>
                      </a:pPr>
                      <a:r>
                        <a:rPr sz="804" b="1">
                          <a:solidFill>
                            <a:srgbClr val="F6F6F2"/>
                          </a:solidFill>
                          <a:latin typeface="IBM Plex Sans"/>
                          <a:ea typeface="IBM Plex Sans"/>
                          <a:cs typeface="IBM Plex Sans"/>
                        </a:rPr>
                        <a:t>Value</a:t>
                      </a:r>
                      <a:endParaRPr sz="804">
                        <a:latin typeface="IBM Plex Sans"/>
                        <a:ea typeface="IBM Plex Sans"/>
                        <a:cs typeface="IBM Plex Sans"/>
                      </a:endParaRPr>
                    </a:p>
                  </a:txBody>
                  <a:tcPr marL="127000" marR="127000" marT="101600" marB="101600" anchor="t">
                    <a:lnL w="12700" cmpd="sng">
                      <a:solidFill>
                        <a:srgbClr val="111D25"/>
                      </a:solidFill>
                      <a:prstDash val="solid"/>
                    </a:lnL>
                    <a:lnR w="12700" cmpd="sng">
                      <a:solidFill>
                        <a:srgbClr val="111D25"/>
                      </a:solidFill>
                      <a:prstDash val="solid"/>
                    </a:lnR>
                    <a:lnT w="12700" cmpd="sng">
                      <a:solidFill>
                        <a:srgbClr val="C4C4C1"/>
                      </a:solidFill>
                      <a:prstDash val="solid"/>
                    </a:lnT>
                    <a:lnB w="12700" cmpd="sng">
                      <a:solidFill>
                        <a:srgbClr val="111D25"/>
                      </a:solidFill>
                      <a:prstDash val="solid"/>
                    </a:lnB>
                    <a:solidFill>
                      <a:srgbClr val="10202A"/>
                    </a:solidFill>
                  </a:tcPr>
                </a:tc>
                <a:tc>
                  <a:txBody>
                    <a:bodyPr/>
                    <a:lstStyle/>
                    <a:p>
                      <a:pPr marL="0" indent="0">
                        <a:lnSpc>
                          <a:spcPts val="1126"/>
                        </a:lnSpc>
                        <a:buNone/>
                      </a:pPr>
                      <a:r>
                        <a:rPr sz="804" b="1">
                          <a:solidFill>
                            <a:srgbClr val="F6F6F2"/>
                          </a:solidFill>
                          <a:latin typeface="IBM Plex Sans"/>
                          <a:ea typeface="IBM Plex Sans"/>
                          <a:cs typeface="IBM Plex Sans"/>
                        </a:rPr>
                        <a:t>Provenance</a:t>
                      </a:r>
                      <a:endParaRPr sz="804">
                        <a:latin typeface="IBM Plex Sans"/>
                        <a:ea typeface="IBM Plex Sans"/>
                        <a:cs typeface="IBM Plex Sans"/>
                      </a:endParaRPr>
                    </a:p>
                  </a:txBody>
                  <a:tcPr marL="127000" marR="127000" marT="101600" marB="101600" anchor="t">
                    <a:lnL w="12700" cmpd="sng">
                      <a:solidFill>
                        <a:srgbClr val="111D25"/>
                      </a:solidFill>
                      <a:prstDash val="solid"/>
                    </a:lnL>
                    <a:lnR w="12700" cmpd="sng">
                      <a:solidFill>
                        <a:srgbClr val="111D25"/>
                      </a:solidFill>
                      <a:prstDash val="solid"/>
                    </a:lnR>
                    <a:lnT w="12700" cmpd="sng">
                      <a:solidFill>
                        <a:srgbClr val="C4C4C1"/>
                      </a:solidFill>
                      <a:prstDash val="solid"/>
                    </a:lnT>
                    <a:lnB w="12700" cmpd="sng">
                      <a:solidFill>
                        <a:srgbClr val="111D25"/>
                      </a:solidFill>
                      <a:prstDash val="solid"/>
                    </a:lnB>
                    <a:solidFill>
                      <a:srgbClr val="10202A"/>
                    </a:solidFill>
                  </a:tcPr>
                </a:tc>
              </a:tr>
              <a:tr h="357676">
                <a:tc>
                  <a:txBody>
                    <a:bodyPr/>
                    <a:lstStyle/>
                    <a:p>
                      <a:pPr marL="0" indent="0">
                        <a:lnSpc>
                          <a:spcPts val="1126"/>
                        </a:lnSpc>
                        <a:buNone/>
                      </a:pPr>
                      <a:r>
                        <a:rPr sz="804">
                          <a:solidFill>
                            <a:srgbClr val="10202A"/>
                          </a:solidFill>
                          <a:latin typeface="IBM Plex Sans"/>
                          <a:ea typeface="IBM Plex Sans"/>
                          <a:cs typeface="IBM Plex Sans"/>
                        </a:rPr>
                        <a:t>Grounding box threshold</a:t>
                      </a:r>
                      <a:endParaRPr sz="804">
                        <a:latin typeface="IBM Plex Sans"/>
                        <a:ea typeface="IBM Plex Sans"/>
                        <a:cs typeface="IBM Plex Sans"/>
                      </a:endParaRPr>
                    </a:p>
                  </a:txBody>
                  <a:tcPr marL="127000" marR="127000" marT="101600" marB="101600" anchor="t">
                    <a:lnL w="12700" cmpd="sng">
                      <a:solidFill>
                        <a:srgbClr val="C4C4C1"/>
                      </a:solidFill>
                      <a:prstDash val="solid"/>
                    </a:lnL>
                    <a:lnR w="12700" cmpd="sng">
                      <a:solidFill>
                        <a:srgbClr val="CBCBCB"/>
                      </a:solidFill>
                      <a:prstDash val="solid"/>
                    </a:lnR>
                    <a:lnT w="12700" cmpd="sng">
                      <a:solidFill>
                        <a:srgbClr val="111D25"/>
                      </a:solidFill>
                      <a:prstDash val="solid"/>
                    </a:lnT>
                    <a:lnB w="12700" cmpd="sng">
                      <a:solidFill>
                        <a:srgbClr val="CBCBCB"/>
                      </a:solidFill>
                      <a:prstDash val="solid"/>
                    </a:lnB>
                    <a:solidFill>
                      <a:srgbClr val="FFFFFF"/>
                    </a:solidFill>
                  </a:tcPr>
                </a:tc>
                <a:tc>
                  <a:txBody>
                    <a:bodyPr/>
                    <a:lstStyle/>
                    <a:p>
                      <a:pPr marL="0" indent="0">
                        <a:lnSpc>
                          <a:spcPts val="1126"/>
                        </a:lnSpc>
                        <a:buNone/>
                      </a:pPr>
                      <a:r>
                        <a:rPr sz="804">
                          <a:solidFill>
                            <a:srgbClr val="10202A"/>
                          </a:solidFill>
                          <a:latin typeface="IBM Plex Sans"/>
                          <a:ea typeface="IBM Plex Sans"/>
                          <a:cs typeface="IBM Plex Sans"/>
                        </a:rPr>
                        <a:t>0.35</a:t>
                      </a:r>
                      <a:endParaRPr sz="804">
                        <a:latin typeface="IBM Plex Sans"/>
                        <a:ea typeface="IBM Plex Sans"/>
                        <a:cs typeface="IBM Plex Sans"/>
                      </a:endParaRPr>
                    </a:p>
                  </a:txBody>
                  <a:tcPr marL="127000" marR="127000" marT="101600" marB="101600" anchor="t">
                    <a:lnL w="12700" cmpd="sng">
                      <a:solidFill>
                        <a:srgbClr val="CBCBCB"/>
                      </a:solidFill>
                      <a:prstDash val="solid"/>
                    </a:lnL>
                    <a:lnR w="12700" cmpd="sng">
                      <a:solidFill>
                        <a:srgbClr val="CBCBCB"/>
                      </a:solidFill>
                      <a:prstDash val="solid"/>
                    </a:lnR>
                    <a:lnT w="12700" cmpd="sng">
                      <a:solidFill>
                        <a:srgbClr val="111D25"/>
                      </a:solidFill>
                      <a:prstDash val="solid"/>
                    </a:lnT>
                    <a:lnB w="12700" cmpd="sng">
                      <a:solidFill>
                        <a:srgbClr val="CBCBCB"/>
                      </a:solidFill>
                      <a:prstDash val="solid"/>
                    </a:lnB>
                    <a:solidFill>
                      <a:srgbClr val="FFFFFF"/>
                    </a:solidFill>
                  </a:tcPr>
                </a:tc>
                <a:tc>
                  <a:txBody>
                    <a:bodyPr/>
                    <a:lstStyle/>
                    <a:p>
                      <a:pPr marL="0" indent="0">
                        <a:lnSpc>
                          <a:spcPts val="1126"/>
                        </a:lnSpc>
                        <a:buNone/>
                      </a:pPr>
                      <a:r>
                        <a:rPr sz="804">
                          <a:solidFill>
                            <a:srgbClr val="4D5A63"/>
                          </a:solidFill>
                          <a:latin typeface="IBM Plex Sans"/>
                          <a:ea typeface="IBM Plex Sans"/>
                          <a:cs typeface="IBM Plex Sans"/>
                        </a:rPr>
                        <a:t>Library default, unchanged</a:t>
                      </a:r>
                      <a:endParaRPr sz="804">
                        <a:latin typeface="IBM Plex Sans"/>
                        <a:ea typeface="IBM Plex Sans"/>
                        <a:cs typeface="IBM Plex Sans"/>
                      </a:endParaRPr>
                    </a:p>
                  </a:txBody>
                  <a:tcPr marL="127000" marR="127000" marT="101600" marB="101600" anchor="t">
                    <a:lnL w="12700" cmpd="sng">
                      <a:solidFill>
                        <a:srgbClr val="CBCBCB"/>
                      </a:solidFill>
                      <a:prstDash val="solid"/>
                    </a:lnL>
                    <a:lnR w="12700" cmpd="sng">
                      <a:solidFill>
                        <a:srgbClr val="CBCBCB"/>
                      </a:solidFill>
                      <a:prstDash val="solid"/>
                    </a:lnR>
                    <a:lnT w="12700" cmpd="sng">
                      <a:solidFill>
                        <a:srgbClr val="111D25"/>
                      </a:solidFill>
                      <a:prstDash val="solid"/>
                    </a:lnT>
                    <a:lnB w="12700" cmpd="sng">
                      <a:solidFill>
                        <a:srgbClr val="CBCBCB"/>
                      </a:solidFill>
                      <a:prstDash val="solid"/>
                    </a:lnB>
                    <a:solidFill>
                      <a:srgbClr val="FFFFFF"/>
                    </a:solidFill>
                  </a:tcPr>
                </a:tc>
              </a:tr>
              <a:tr h="357676">
                <a:tc>
                  <a:txBody>
                    <a:bodyPr/>
                    <a:lstStyle/>
                    <a:p>
                      <a:pPr marL="0" indent="0">
                        <a:lnSpc>
                          <a:spcPts val="1126"/>
                        </a:lnSpc>
                        <a:buNone/>
                      </a:pPr>
                      <a:r>
                        <a:rPr sz="804">
                          <a:solidFill>
                            <a:srgbClr val="10202A"/>
                          </a:solidFill>
                          <a:latin typeface="IBM Plex Sans"/>
                          <a:ea typeface="IBM Plex Sans"/>
                          <a:cs typeface="IBM Plex Sans"/>
                        </a:rPr>
                        <a:t>Person detector confidence</a:t>
                      </a:r>
                      <a:endParaRPr sz="804">
                        <a:latin typeface="IBM Plex Sans"/>
                        <a:ea typeface="IBM Plex Sans"/>
                        <a:cs typeface="IBM Plex Sans"/>
                      </a:endParaRPr>
                    </a:p>
                  </a:txBody>
                  <a:tcPr marL="127000" marR="127000" marT="101600" marB="101600" anchor="t">
                    <a:lnL w="12700" cmpd="sng">
                      <a:solidFill>
                        <a:srgbClr val="C4C4C1"/>
                      </a:solidFill>
                      <a:prstDash val="solid"/>
                    </a:lnL>
                    <a:lnR w="12700" cmpd="sng">
                      <a:solidFill>
                        <a:srgbClr val="BBBBB6"/>
                      </a:solidFill>
                      <a:prstDash val="solid"/>
                    </a:lnR>
                    <a:lnT w="12700" cmpd="sng">
                      <a:solidFill>
                        <a:srgbClr val="CBCBCB"/>
                      </a:solidFill>
                      <a:prstDash val="solid"/>
                    </a:lnT>
                    <a:lnB w="12700" cmpd="sng">
                      <a:solidFill>
                        <a:srgbClr val="BBBBB6"/>
                      </a:solidFill>
                      <a:prstDash val="solid"/>
                    </a:lnB>
                    <a:solidFill>
                      <a:srgbClr val="EAEAE4"/>
                    </a:solidFill>
                  </a:tcPr>
                </a:tc>
                <a:tc>
                  <a:txBody>
                    <a:bodyPr/>
                    <a:lstStyle/>
                    <a:p>
                      <a:pPr marL="0" indent="0">
                        <a:lnSpc>
                          <a:spcPts val="1126"/>
                        </a:lnSpc>
                        <a:buNone/>
                      </a:pPr>
                      <a:r>
                        <a:rPr sz="804">
                          <a:solidFill>
                            <a:srgbClr val="10202A"/>
                          </a:solidFill>
                          <a:latin typeface="IBM Plex Sans"/>
                          <a:ea typeface="IBM Plex Sans"/>
                          <a:cs typeface="IBM Plex Sans"/>
                        </a:rPr>
                        <a:t>0.25</a:t>
                      </a:r>
                      <a:endParaRPr sz="804">
                        <a:latin typeface="IBM Plex Sans"/>
                        <a:ea typeface="IBM Plex Sans"/>
                        <a:cs typeface="IBM Plex Sans"/>
                      </a:endParaRPr>
                    </a:p>
                  </a:txBody>
                  <a:tcPr marL="127000" marR="127000" marT="101600" marB="101600" anchor="t">
                    <a:lnL w="12700" cmpd="sng">
                      <a:solidFill>
                        <a:srgbClr val="BBBBB6"/>
                      </a:solidFill>
                      <a:prstDash val="solid"/>
                    </a:lnL>
                    <a:lnR w="12700" cmpd="sng">
                      <a:solidFill>
                        <a:srgbClr val="BBBBB6"/>
                      </a:solidFill>
                      <a:prstDash val="solid"/>
                    </a:lnR>
                    <a:lnT w="12700" cmpd="sng">
                      <a:solidFill>
                        <a:srgbClr val="CBCBCB"/>
                      </a:solidFill>
                      <a:prstDash val="solid"/>
                    </a:lnT>
                    <a:lnB w="12700" cmpd="sng">
                      <a:solidFill>
                        <a:srgbClr val="BBBBB6"/>
                      </a:solidFill>
                      <a:prstDash val="solid"/>
                    </a:lnB>
                    <a:solidFill>
                      <a:srgbClr val="EAEAE4"/>
                    </a:solidFill>
                  </a:tcPr>
                </a:tc>
                <a:tc>
                  <a:txBody>
                    <a:bodyPr/>
                    <a:lstStyle/>
                    <a:p>
                      <a:pPr marL="0" indent="0">
                        <a:lnSpc>
                          <a:spcPts val="1126"/>
                        </a:lnSpc>
                        <a:buNone/>
                      </a:pPr>
                      <a:r>
                        <a:rPr sz="804">
                          <a:solidFill>
                            <a:srgbClr val="4D5A63"/>
                          </a:solidFill>
                          <a:latin typeface="IBM Plex Sans"/>
                          <a:ea typeface="IBM Plex Sans"/>
                          <a:cs typeface="IBM Plex Sans"/>
                        </a:rPr>
                        <a:t>Set low on purpose so the tracker sees everyone, not only likely targets</a:t>
                      </a:r>
                      <a:endParaRPr sz="804">
                        <a:latin typeface="IBM Plex Sans"/>
                        <a:ea typeface="IBM Plex Sans"/>
                        <a:cs typeface="IBM Plex Sans"/>
                      </a:endParaRPr>
                    </a:p>
                  </a:txBody>
                  <a:tcPr marL="127000" marR="127000" marT="101600" marB="101600" anchor="t">
                    <a:lnL w="12700" cmpd="sng">
                      <a:solidFill>
                        <a:srgbClr val="BBBBB6"/>
                      </a:solidFill>
                      <a:prstDash val="solid"/>
                    </a:lnL>
                    <a:lnR w="12700" cmpd="sng">
                      <a:solidFill>
                        <a:srgbClr val="BBBBB6"/>
                      </a:solidFill>
                      <a:prstDash val="solid"/>
                    </a:lnR>
                    <a:lnT w="12700" cmpd="sng">
                      <a:solidFill>
                        <a:srgbClr val="CBCBCB"/>
                      </a:solidFill>
                      <a:prstDash val="solid"/>
                    </a:lnT>
                    <a:lnB w="12700" cmpd="sng">
                      <a:solidFill>
                        <a:srgbClr val="BBBBB6"/>
                      </a:solidFill>
                      <a:prstDash val="solid"/>
                    </a:lnB>
                    <a:solidFill>
                      <a:srgbClr val="EAEAE4"/>
                    </a:solidFill>
                  </a:tcPr>
                </a:tc>
              </a:tr>
              <a:tr h="357676">
                <a:tc>
                  <a:txBody>
                    <a:bodyPr/>
                    <a:lstStyle/>
                    <a:p>
                      <a:pPr marL="0" indent="0">
                        <a:lnSpc>
                          <a:spcPts val="1126"/>
                        </a:lnSpc>
                        <a:buNone/>
                      </a:pPr>
                      <a:r>
                        <a:rPr sz="804">
                          <a:solidFill>
                            <a:srgbClr val="10202A"/>
                          </a:solidFill>
                          <a:latin typeface="IBM Plex Sans"/>
                          <a:ea typeface="IBM Plex Sans"/>
                          <a:cs typeface="IBM Plex Sans"/>
                        </a:rPr>
                        <a:t>Colour fraction</a:t>
                      </a:r>
                      <a:endParaRPr sz="804">
                        <a:latin typeface="IBM Plex Sans"/>
                        <a:ea typeface="IBM Plex Sans"/>
                        <a:cs typeface="IBM Plex Sans"/>
                      </a:endParaRPr>
                    </a:p>
                  </a:txBody>
                  <a:tcPr marL="127000" marR="127000" marT="101600" marB="101600" anchor="t">
                    <a:lnL w="12700" cmpd="sng">
                      <a:solidFill>
                        <a:srgbClr val="C4C4C1"/>
                      </a:solidFill>
                      <a:prstDash val="solid"/>
                    </a:lnL>
                    <a:lnR w="12700" cmpd="sng">
                      <a:solidFill>
                        <a:srgbClr val="CBCBCB"/>
                      </a:solidFill>
                      <a:prstDash val="solid"/>
                    </a:lnR>
                    <a:lnT w="12700" cmpd="sng">
                      <a:solidFill>
                        <a:srgbClr val="BBBBB6"/>
                      </a:solidFill>
                      <a:prstDash val="solid"/>
                    </a:lnT>
                    <a:lnB w="12700" cmpd="sng">
                      <a:solidFill>
                        <a:srgbClr val="CBCBCB"/>
                      </a:solidFill>
                      <a:prstDash val="solid"/>
                    </a:lnB>
                    <a:solidFill>
                      <a:srgbClr val="FFFFFF"/>
                    </a:solidFill>
                  </a:tcPr>
                </a:tc>
                <a:tc>
                  <a:txBody>
                    <a:bodyPr/>
                    <a:lstStyle/>
                    <a:p>
                      <a:pPr marL="0" indent="0">
                        <a:lnSpc>
                          <a:spcPts val="1126"/>
                        </a:lnSpc>
                        <a:buNone/>
                      </a:pPr>
                      <a:r>
                        <a:rPr sz="804">
                          <a:solidFill>
                            <a:srgbClr val="10202A"/>
                          </a:solidFill>
                          <a:latin typeface="IBM Plex Sans"/>
                          <a:ea typeface="IBM Plex Sans"/>
                          <a:cs typeface="IBM Plex Sans"/>
                        </a:rPr>
                        <a:t>0.15</a:t>
                      </a:r>
                      <a:endParaRPr sz="804">
                        <a:latin typeface="IBM Plex Sans"/>
                        <a:ea typeface="IBM Plex Sans"/>
                        <a:cs typeface="IBM Plex Sans"/>
                      </a:endParaRPr>
                    </a:p>
                  </a:txBody>
                  <a:tcPr marL="127000" marR="127000" marT="101600" marB="101600" anchor="t">
                    <a:lnL w="12700" cmpd="sng">
                      <a:solidFill>
                        <a:srgbClr val="CBCBCB"/>
                      </a:solidFill>
                      <a:prstDash val="solid"/>
                    </a:lnL>
                    <a:lnR w="12700" cmpd="sng">
                      <a:solidFill>
                        <a:srgbClr val="CBCBCB"/>
                      </a:solidFill>
                      <a:prstDash val="solid"/>
                    </a:lnR>
                    <a:lnT w="12700" cmpd="sng">
                      <a:solidFill>
                        <a:srgbClr val="BBBBB6"/>
                      </a:solidFill>
                      <a:prstDash val="solid"/>
                    </a:lnT>
                    <a:lnB w="12700" cmpd="sng">
                      <a:solidFill>
                        <a:srgbClr val="CBCBCB"/>
                      </a:solidFill>
                      <a:prstDash val="solid"/>
                    </a:lnB>
                    <a:solidFill>
                      <a:srgbClr val="FFFFFF"/>
                    </a:solidFill>
                  </a:tcPr>
                </a:tc>
                <a:tc>
                  <a:txBody>
                    <a:bodyPr/>
                    <a:lstStyle/>
                    <a:p>
                      <a:pPr marL="0" indent="0">
                        <a:lnSpc>
                          <a:spcPts val="1126"/>
                        </a:lnSpc>
                        <a:buNone/>
                      </a:pPr>
                      <a:r>
                        <a:rPr sz="804">
                          <a:solidFill>
                            <a:srgbClr val="9C5308"/>
                          </a:solidFill>
                          <a:latin typeface="IBM Plex Sans"/>
                          <a:ea typeface="IBM Plex Sans"/>
                          <a:cs typeface="IBM Plex Sans"/>
                        </a:rPr>
                        <a:t>Hand-set. A live maroon shirt measured 0.055–0.081 against "brown" and was refused</a:t>
                      </a:r>
                      <a:endParaRPr sz="804">
                        <a:latin typeface="IBM Plex Sans"/>
                        <a:ea typeface="IBM Plex Sans"/>
                        <a:cs typeface="IBM Plex Sans"/>
                      </a:endParaRPr>
                    </a:p>
                  </a:txBody>
                  <a:tcPr marL="127000" marR="127000" marT="101600" marB="101600" anchor="t">
                    <a:lnL w="12700" cmpd="sng">
                      <a:solidFill>
                        <a:srgbClr val="CBCBCB"/>
                      </a:solidFill>
                      <a:prstDash val="solid"/>
                    </a:lnL>
                    <a:lnR w="12700" cmpd="sng">
                      <a:solidFill>
                        <a:srgbClr val="CBCBCB"/>
                      </a:solidFill>
                      <a:prstDash val="solid"/>
                    </a:lnR>
                    <a:lnT w="12700" cmpd="sng">
                      <a:solidFill>
                        <a:srgbClr val="BBBBB6"/>
                      </a:solidFill>
                      <a:prstDash val="solid"/>
                    </a:lnT>
                    <a:lnB w="12700" cmpd="sng">
                      <a:solidFill>
                        <a:srgbClr val="CBCBCB"/>
                      </a:solidFill>
                      <a:prstDash val="solid"/>
                    </a:lnB>
                    <a:solidFill>
                      <a:srgbClr val="FFFFFF"/>
                    </a:solidFill>
                  </a:tcPr>
                </a:tc>
              </a:tr>
              <a:tr h="357676">
                <a:tc>
                  <a:txBody>
                    <a:bodyPr/>
                    <a:lstStyle/>
                    <a:p>
                      <a:pPr marL="0" indent="0">
                        <a:lnSpc>
                          <a:spcPts val="1126"/>
                        </a:lnSpc>
                        <a:buNone/>
                      </a:pPr>
                      <a:r>
                        <a:rPr sz="804">
                          <a:solidFill>
                            <a:srgbClr val="10202A"/>
                          </a:solidFill>
                          <a:latin typeface="IBM Plex Sans"/>
                          <a:ea typeface="IBM Plex Sans"/>
                          <a:cs typeface="IBM Plex Sans"/>
                        </a:rPr>
                        <a:t>Ambiguity margin</a:t>
                      </a:r>
                      <a:endParaRPr sz="804">
                        <a:latin typeface="IBM Plex Sans"/>
                        <a:ea typeface="IBM Plex Sans"/>
                        <a:cs typeface="IBM Plex Sans"/>
                      </a:endParaRPr>
                    </a:p>
                  </a:txBody>
                  <a:tcPr marL="127000" marR="127000" marT="101600" marB="101600" anchor="t">
                    <a:lnL w="12700" cmpd="sng">
                      <a:solidFill>
                        <a:srgbClr val="C4C4C1"/>
                      </a:solidFill>
                      <a:prstDash val="solid"/>
                    </a:lnL>
                    <a:lnR w="12700" cmpd="sng">
                      <a:solidFill>
                        <a:srgbClr val="BBBBB6"/>
                      </a:solidFill>
                      <a:prstDash val="solid"/>
                    </a:lnR>
                    <a:lnT w="12700" cmpd="sng">
                      <a:solidFill>
                        <a:srgbClr val="CBCBCB"/>
                      </a:solidFill>
                      <a:prstDash val="solid"/>
                    </a:lnT>
                    <a:lnB w="12700" cmpd="sng">
                      <a:solidFill>
                        <a:srgbClr val="BBBBB6"/>
                      </a:solidFill>
                      <a:prstDash val="solid"/>
                    </a:lnB>
                    <a:solidFill>
                      <a:srgbClr val="EAEAE4"/>
                    </a:solidFill>
                  </a:tcPr>
                </a:tc>
                <a:tc>
                  <a:txBody>
                    <a:bodyPr/>
                    <a:lstStyle/>
                    <a:p>
                      <a:pPr marL="0" indent="0">
                        <a:lnSpc>
                          <a:spcPts val="1126"/>
                        </a:lnSpc>
                        <a:buNone/>
                      </a:pPr>
                      <a:r>
                        <a:rPr sz="804">
                          <a:solidFill>
                            <a:srgbClr val="10202A"/>
                          </a:solidFill>
                          <a:latin typeface="IBM Plex Sans"/>
                          <a:ea typeface="IBM Plex Sans"/>
                          <a:cs typeface="IBM Plex Sans"/>
                        </a:rPr>
                        <a:t>0.08</a:t>
                      </a:r>
                      <a:endParaRPr sz="804">
                        <a:latin typeface="IBM Plex Sans"/>
                        <a:ea typeface="IBM Plex Sans"/>
                        <a:cs typeface="IBM Plex Sans"/>
                      </a:endParaRPr>
                    </a:p>
                  </a:txBody>
                  <a:tcPr marL="127000" marR="127000" marT="101600" marB="101600" anchor="t">
                    <a:lnL w="12700" cmpd="sng">
                      <a:solidFill>
                        <a:srgbClr val="BBBBB6"/>
                      </a:solidFill>
                      <a:prstDash val="solid"/>
                    </a:lnL>
                    <a:lnR w="12700" cmpd="sng">
                      <a:solidFill>
                        <a:srgbClr val="BBBBB6"/>
                      </a:solidFill>
                      <a:prstDash val="solid"/>
                    </a:lnR>
                    <a:lnT w="12700" cmpd="sng">
                      <a:solidFill>
                        <a:srgbClr val="CBCBCB"/>
                      </a:solidFill>
                      <a:prstDash val="solid"/>
                    </a:lnT>
                    <a:lnB w="12700" cmpd="sng">
                      <a:solidFill>
                        <a:srgbClr val="BBBBB6"/>
                      </a:solidFill>
                      <a:prstDash val="solid"/>
                    </a:lnB>
                    <a:solidFill>
                      <a:srgbClr val="EAEAE4"/>
                    </a:solidFill>
                  </a:tcPr>
                </a:tc>
                <a:tc>
                  <a:txBody>
                    <a:bodyPr/>
                    <a:lstStyle/>
                    <a:p>
                      <a:pPr marL="0" indent="0">
                        <a:lnSpc>
                          <a:spcPts val="1126"/>
                        </a:lnSpc>
                        <a:buNone/>
                      </a:pPr>
                      <a:r>
                        <a:rPr sz="804">
                          <a:solidFill>
                            <a:srgbClr val="9C5308"/>
                          </a:solidFill>
                          <a:latin typeface="IBM Plex Sans"/>
                          <a:ea typeface="IBM Plex Sans"/>
                          <a:cs typeface="IBM Plex Sans"/>
                        </a:rPr>
                        <a:t>Hand-set. No sensitivity analysis</a:t>
                      </a:r>
                      <a:endParaRPr sz="804">
                        <a:latin typeface="IBM Plex Sans"/>
                        <a:ea typeface="IBM Plex Sans"/>
                        <a:cs typeface="IBM Plex Sans"/>
                      </a:endParaRPr>
                    </a:p>
                  </a:txBody>
                  <a:tcPr marL="127000" marR="127000" marT="101600" marB="101600" anchor="t">
                    <a:lnL w="12700" cmpd="sng">
                      <a:solidFill>
                        <a:srgbClr val="BBBBB6"/>
                      </a:solidFill>
                      <a:prstDash val="solid"/>
                    </a:lnL>
                    <a:lnR w="12700" cmpd="sng">
                      <a:solidFill>
                        <a:srgbClr val="BBBBB6"/>
                      </a:solidFill>
                      <a:prstDash val="solid"/>
                    </a:lnR>
                    <a:lnT w="12700" cmpd="sng">
                      <a:solidFill>
                        <a:srgbClr val="CBCBCB"/>
                      </a:solidFill>
                      <a:prstDash val="solid"/>
                    </a:lnT>
                    <a:lnB w="12700" cmpd="sng">
                      <a:solidFill>
                        <a:srgbClr val="BBBBB6"/>
                      </a:solidFill>
                      <a:prstDash val="solid"/>
                    </a:lnB>
                    <a:solidFill>
                      <a:srgbClr val="EAEAE4"/>
                    </a:solidFill>
                  </a:tcPr>
                </a:tc>
              </a:tr>
              <a:tr h="498338">
                <a:tc>
                  <a:txBody>
                    <a:bodyPr/>
                    <a:lstStyle/>
                    <a:p>
                      <a:pPr marL="0" indent="0">
                        <a:lnSpc>
                          <a:spcPts val="1126"/>
                        </a:lnSpc>
                        <a:buNone/>
                      </a:pPr>
                      <a:r>
                        <a:rPr sz="804">
                          <a:solidFill>
                            <a:srgbClr val="10202A"/>
                          </a:solidFill>
                          <a:latin typeface="IBM Plex Sans"/>
                          <a:ea typeface="IBM Plex Sans"/>
                          <a:cs typeface="IBM Plex Sans"/>
                        </a:rPr>
                        <a:t>Appearance match</a:t>
                      </a:r>
                      <a:endParaRPr sz="804">
                        <a:latin typeface="IBM Plex Sans"/>
                        <a:ea typeface="IBM Plex Sans"/>
                        <a:cs typeface="IBM Plex Sans"/>
                      </a:endParaRPr>
                    </a:p>
                  </a:txBody>
                  <a:tcPr marL="127000" marR="127000" marT="101600" marB="101600" anchor="t">
                    <a:lnL w="12700" cmpd="sng">
                      <a:solidFill>
                        <a:srgbClr val="C4C4C1"/>
                      </a:solidFill>
                      <a:prstDash val="solid"/>
                    </a:lnL>
                    <a:lnR w="12700" cmpd="sng">
                      <a:solidFill>
                        <a:srgbClr val="CBCBCB"/>
                      </a:solidFill>
                      <a:prstDash val="solid"/>
                    </a:lnR>
                    <a:lnT w="12700" cmpd="sng">
                      <a:solidFill>
                        <a:srgbClr val="BBBBB6"/>
                      </a:solidFill>
                      <a:prstDash val="solid"/>
                    </a:lnT>
                    <a:lnB w="12700" cmpd="sng">
                      <a:solidFill>
                        <a:srgbClr val="CBCBCB"/>
                      </a:solidFill>
                      <a:prstDash val="solid"/>
                    </a:lnB>
                    <a:solidFill>
                      <a:srgbClr val="FFFFFF"/>
                    </a:solidFill>
                  </a:tcPr>
                </a:tc>
                <a:tc>
                  <a:txBody>
                    <a:bodyPr/>
                    <a:lstStyle/>
                    <a:p>
                      <a:pPr marL="0" indent="0">
                        <a:lnSpc>
                          <a:spcPts val="1126"/>
                        </a:lnSpc>
                        <a:buNone/>
                      </a:pPr>
                      <a:r>
                        <a:rPr sz="804">
                          <a:solidFill>
                            <a:srgbClr val="10202A"/>
                          </a:solidFill>
                          <a:latin typeface="IBM Plex Sans"/>
                          <a:ea typeface="IBM Plex Sans"/>
                          <a:cs typeface="IBM Plex Sans"/>
                        </a:rPr>
                        <a:t>0.72</a:t>
                      </a:r>
                      <a:endParaRPr sz="804">
                        <a:latin typeface="IBM Plex Sans"/>
                        <a:ea typeface="IBM Plex Sans"/>
                        <a:cs typeface="IBM Plex Sans"/>
                      </a:endParaRPr>
                    </a:p>
                  </a:txBody>
                  <a:tcPr marL="127000" marR="127000" marT="101600" marB="101600" anchor="t">
                    <a:lnL w="12700" cmpd="sng">
                      <a:solidFill>
                        <a:srgbClr val="CBCBCB"/>
                      </a:solidFill>
                      <a:prstDash val="solid"/>
                    </a:lnL>
                    <a:lnR w="12700" cmpd="sng">
                      <a:solidFill>
                        <a:srgbClr val="CBCBCB"/>
                      </a:solidFill>
                      <a:prstDash val="solid"/>
                    </a:lnR>
                    <a:lnT w="12700" cmpd="sng">
                      <a:solidFill>
                        <a:srgbClr val="BBBBB6"/>
                      </a:solidFill>
                      <a:prstDash val="solid"/>
                    </a:lnT>
                    <a:lnB w="12700" cmpd="sng">
                      <a:solidFill>
                        <a:srgbClr val="CBCBCB"/>
                      </a:solidFill>
                      <a:prstDash val="solid"/>
                    </a:lnB>
                    <a:solidFill>
                      <a:srgbClr val="FFFFFF"/>
                    </a:solidFill>
                  </a:tcPr>
                </a:tc>
                <a:tc>
                  <a:txBody>
                    <a:bodyPr/>
                    <a:lstStyle/>
                    <a:p>
                      <a:pPr marL="0" indent="0">
                        <a:lnSpc>
                          <a:spcPts val="1126"/>
                        </a:lnSpc>
                        <a:buNone/>
                      </a:pPr>
                      <a:r>
                        <a:rPr sz="804">
                          <a:solidFill>
                            <a:srgbClr val="9C5308"/>
                          </a:solidFill>
                          <a:latin typeface="IBM Plex Sans"/>
                          <a:ea typeface="IBM Plex Sans"/>
                          <a:cs typeface="IBM Plex Sans"/>
                        </a:rPr>
                        <a:t>Hand-set. One live trial saw 0.776–0.998 through loss and recovery; two similar outfits scored 0.84 against each other</a:t>
                      </a:r>
                      <a:endParaRPr sz="804">
                        <a:latin typeface="IBM Plex Sans"/>
                        <a:ea typeface="IBM Plex Sans"/>
                        <a:cs typeface="IBM Plex Sans"/>
                      </a:endParaRPr>
                    </a:p>
                  </a:txBody>
                  <a:tcPr marL="127000" marR="127000" marT="101600" marB="101600" anchor="t">
                    <a:lnL w="12700" cmpd="sng">
                      <a:solidFill>
                        <a:srgbClr val="CBCBCB"/>
                      </a:solidFill>
                      <a:prstDash val="solid"/>
                    </a:lnL>
                    <a:lnR w="12700" cmpd="sng">
                      <a:solidFill>
                        <a:srgbClr val="CBCBCB"/>
                      </a:solidFill>
                      <a:prstDash val="solid"/>
                    </a:lnR>
                    <a:lnT w="12700" cmpd="sng">
                      <a:solidFill>
                        <a:srgbClr val="BBBBB6"/>
                      </a:solidFill>
                      <a:prstDash val="solid"/>
                    </a:lnT>
                    <a:lnB w="12700" cmpd="sng">
                      <a:solidFill>
                        <a:srgbClr val="CBCBCB"/>
                      </a:solidFill>
                      <a:prstDash val="solid"/>
                    </a:lnB>
                    <a:solidFill>
                      <a:srgbClr val="FFFFFF"/>
                    </a:solidFill>
                  </a:tcPr>
                </a:tc>
              </a:tr>
              <a:tr h="357676">
                <a:tc>
                  <a:txBody>
                    <a:bodyPr/>
                    <a:lstStyle/>
                    <a:p>
                      <a:pPr marL="0" indent="0">
                        <a:lnSpc>
                          <a:spcPts val="1126"/>
                        </a:lnSpc>
                        <a:buNone/>
                      </a:pPr>
                      <a:r>
                        <a:rPr sz="804">
                          <a:solidFill>
                            <a:srgbClr val="10202A"/>
                          </a:solidFill>
                          <a:latin typeface="IBM Plex Sans"/>
                          <a:ea typeface="IBM Plex Sans"/>
                          <a:cs typeface="IBM Plex Sans"/>
                        </a:rPr>
                        <a:t>Gallery update</a:t>
                      </a:r>
                      <a:endParaRPr sz="804">
                        <a:latin typeface="IBM Plex Sans"/>
                        <a:ea typeface="IBM Plex Sans"/>
                        <a:cs typeface="IBM Plex Sans"/>
                      </a:endParaRPr>
                    </a:p>
                  </a:txBody>
                  <a:tcPr marL="127000" marR="127000" marT="101600" marB="101600" anchor="t">
                    <a:lnL w="12700" cmpd="sng">
                      <a:solidFill>
                        <a:srgbClr val="C4C4C1"/>
                      </a:solidFill>
                      <a:prstDash val="solid"/>
                    </a:lnL>
                    <a:lnR w="12700" cmpd="sng">
                      <a:solidFill>
                        <a:srgbClr val="BBBBB6"/>
                      </a:solidFill>
                      <a:prstDash val="solid"/>
                    </a:lnR>
                    <a:lnT w="12700" cmpd="sng">
                      <a:solidFill>
                        <a:srgbClr val="CBCBCB"/>
                      </a:solidFill>
                      <a:prstDash val="solid"/>
                    </a:lnT>
                    <a:lnB w="12700" cmpd="sng">
                      <a:solidFill>
                        <a:srgbClr val="BBBBB6"/>
                      </a:solidFill>
                      <a:prstDash val="solid"/>
                    </a:lnB>
                    <a:solidFill>
                      <a:srgbClr val="EAEAE4"/>
                    </a:solidFill>
                  </a:tcPr>
                </a:tc>
                <a:tc>
                  <a:txBody>
                    <a:bodyPr/>
                    <a:lstStyle/>
                    <a:p>
                      <a:pPr marL="0" indent="0">
                        <a:lnSpc>
                          <a:spcPts val="1126"/>
                        </a:lnSpc>
                        <a:buNone/>
                      </a:pPr>
                      <a:r>
                        <a:rPr sz="804">
                          <a:solidFill>
                            <a:srgbClr val="10202A"/>
                          </a:solidFill>
                          <a:latin typeface="IBM Plex Sans"/>
                          <a:ea typeface="IBM Plex Sans"/>
                          <a:cs typeface="IBM Plex Sans"/>
                        </a:rPr>
                        <a:t>0.85</a:t>
                      </a:r>
                      <a:endParaRPr sz="804">
                        <a:latin typeface="IBM Plex Sans"/>
                        <a:ea typeface="IBM Plex Sans"/>
                        <a:cs typeface="IBM Plex Sans"/>
                      </a:endParaRPr>
                    </a:p>
                  </a:txBody>
                  <a:tcPr marL="127000" marR="127000" marT="101600" marB="101600" anchor="t">
                    <a:lnL w="12700" cmpd="sng">
                      <a:solidFill>
                        <a:srgbClr val="BBBBB6"/>
                      </a:solidFill>
                      <a:prstDash val="solid"/>
                    </a:lnL>
                    <a:lnR w="12700" cmpd="sng">
                      <a:solidFill>
                        <a:srgbClr val="BBBBB6"/>
                      </a:solidFill>
                      <a:prstDash val="solid"/>
                    </a:lnR>
                    <a:lnT w="12700" cmpd="sng">
                      <a:solidFill>
                        <a:srgbClr val="CBCBCB"/>
                      </a:solidFill>
                      <a:prstDash val="solid"/>
                    </a:lnT>
                    <a:lnB w="12700" cmpd="sng">
                      <a:solidFill>
                        <a:srgbClr val="BBBBB6"/>
                      </a:solidFill>
                      <a:prstDash val="solid"/>
                    </a:lnB>
                    <a:solidFill>
                      <a:srgbClr val="EAEAE4"/>
                    </a:solidFill>
                  </a:tcPr>
                </a:tc>
                <a:tc>
                  <a:txBody>
                    <a:bodyPr/>
                    <a:lstStyle/>
                    <a:p>
                      <a:pPr marL="0" indent="0">
                        <a:lnSpc>
                          <a:spcPts val="1126"/>
                        </a:lnSpc>
                        <a:buNone/>
                      </a:pPr>
                      <a:r>
                        <a:rPr sz="804">
                          <a:solidFill>
                            <a:srgbClr val="9C5308"/>
                          </a:solidFill>
                          <a:latin typeface="IBM Plex Sans"/>
                          <a:ea typeface="IBM Plex Sans"/>
                          <a:cs typeface="IBM Plex Sans"/>
                        </a:rPr>
                        <a:t>Hand-set. Only near-certain frames extend the gallery, capped at eight entries</a:t>
                      </a:r>
                      <a:endParaRPr sz="804">
                        <a:latin typeface="IBM Plex Sans"/>
                        <a:ea typeface="IBM Plex Sans"/>
                        <a:cs typeface="IBM Plex Sans"/>
                      </a:endParaRPr>
                    </a:p>
                  </a:txBody>
                  <a:tcPr marL="127000" marR="127000" marT="101600" marB="101600" anchor="t">
                    <a:lnL w="12700" cmpd="sng">
                      <a:solidFill>
                        <a:srgbClr val="BBBBB6"/>
                      </a:solidFill>
                      <a:prstDash val="solid"/>
                    </a:lnL>
                    <a:lnR w="12700" cmpd="sng">
                      <a:solidFill>
                        <a:srgbClr val="BBBBB6"/>
                      </a:solidFill>
                      <a:prstDash val="solid"/>
                    </a:lnR>
                    <a:lnT w="12700" cmpd="sng">
                      <a:solidFill>
                        <a:srgbClr val="CBCBCB"/>
                      </a:solidFill>
                      <a:prstDash val="solid"/>
                    </a:lnT>
                    <a:lnB w="12700" cmpd="sng">
                      <a:solidFill>
                        <a:srgbClr val="BBBBB6"/>
                      </a:solidFill>
                      <a:prstDash val="solid"/>
                    </a:lnB>
                    <a:solidFill>
                      <a:srgbClr val="EAEAE4"/>
                    </a:solidFill>
                  </a:tcPr>
                </a:tc>
              </a:tr>
              <a:tr h="357676">
                <a:tc>
                  <a:txBody>
                    <a:bodyPr/>
                    <a:lstStyle/>
                    <a:p>
                      <a:pPr marL="0" indent="0">
                        <a:lnSpc>
                          <a:spcPts val="1126"/>
                        </a:lnSpc>
                        <a:buNone/>
                      </a:pPr>
                      <a:r>
                        <a:rPr sz="804">
                          <a:solidFill>
                            <a:srgbClr val="10202A"/>
                          </a:solidFill>
                          <a:latin typeface="IBM Plex Sans"/>
                          <a:ea typeface="IBM Plex Sans"/>
                          <a:cs typeface="IBM Plex Sans"/>
                        </a:rPr>
                        <a:t>Frames to acquire / to lose</a:t>
                      </a:r>
                      <a:endParaRPr sz="804">
                        <a:latin typeface="IBM Plex Sans"/>
                        <a:ea typeface="IBM Plex Sans"/>
                        <a:cs typeface="IBM Plex Sans"/>
                      </a:endParaRPr>
                    </a:p>
                  </a:txBody>
                  <a:tcPr marL="127000" marR="127000" marT="101600" marB="101600" anchor="t">
                    <a:lnL w="12700" cmpd="sng">
                      <a:solidFill>
                        <a:srgbClr val="C4C4C1"/>
                      </a:solidFill>
                      <a:prstDash val="solid"/>
                    </a:lnL>
                    <a:lnR w="12700" cmpd="sng">
                      <a:solidFill>
                        <a:srgbClr val="CBCBCB"/>
                      </a:solidFill>
                      <a:prstDash val="solid"/>
                    </a:lnR>
                    <a:lnT w="12700" cmpd="sng">
                      <a:solidFill>
                        <a:srgbClr val="BBBBB6"/>
                      </a:solidFill>
                      <a:prstDash val="solid"/>
                    </a:lnT>
                    <a:lnB w="12700" cmpd="sng">
                      <a:solidFill>
                        <a:srgbClr val="CBCBCB"/>
                      </a:solidFill>
                      <a:prstDash val="solid"/>
                    </a:lnB>
                    <a:solidFill>
                      <a:srgbClr val="FFFFFF"/>
                    </a:solidFill>
                  </a:tcPr>
                </a:tc>
                <a:tc>
                  <a:txBody>
                    <a:bodyPr/>
                    <a:lstStyle/>
                    <a:p>
                      <a:pPr marL="0" indent="0">
                        <a:lnSpc>
                          <a:spcPts val="1126"/>
                        </a:lnSpc>
                        <a:buNone/>
                      </a:pPr>
                      <a:r>
                        <a:rPr sz="804">
                          <a:solidFill>
                            <a:srgbClr val="10202A"/>
                          </a:solidFill>
                          <a:latin typeface="IBM Plex Sans"/>
                          <a:ea typeface="IBM Plex Sans"/>
                          <a:cs typeface="IBM Plex Sans"/>
                        </a:rPr>
                        <a:t>3 / 8</a:t>
                      </a:r>
                      <a:endParaRPr sz="804">
                        <a:latin typeface="IBM Plex Sans"/>
                        <a:ea typeface="IBM Plex Sans"/>
                        <a:cs typeface="IBM Plex Sans"/>
                      </a:endParaRPr>
                    </a:p>
                  </a:txBody>
                  <a:tcPr marL="127000" marR="127000" marT="101600" marB="101600" anchor="t">
                    <a:lnL w="12700" cmpd="sng">
                      <a:solidFill>
                        <a:srgbClr val="CBCBCB"/>
                      </a:solidFill>
                      <a:prstDash val="solid"/>
                    </a:lnL>
                    <a:lnR w="12700" cmpd="sng">
                      <a:solidFill>
                        <a:srgbClr val="CBCBCB"/>
                      </a:solidFill>
                      <a:prstDash val="solid"/>
                    </a:lnR>
                    <a:lnT w="12700" cmpd="sng">
                      <a:solidFill>
                        <a:srgbClr val="BBBBB6"/>
                      </a:solidFill>
                      <a:prstDash val="solid"/>
                    </a:lnT>
                    <a:lnB w="12700" cmpd="sng">
                      <a:solidFill>
                        <a:srgbClr val="CBCBCB"/>
                      </a:solidFill>
                      <a:prstDash val="solid"/>
                    </a:lnB>
                    <a:solidFill>
                      <a:srgbClr val="FFFFFF"/>
                    </a:solidFill>
                  </a:tcPr>
                </a:tc>
                <a:tc>
                  <a:txBody>
                    <a:bodyPr/>
                    <a:lstStyle/>
                    <a:p>
                      <a:pPr marL="0" indent="0">
                        <a:lnSpc>
                          <a:spcPts val="1126"/>
                        </a:lnSpc>
                        <a:buNone/>
                      </a:pPr>
                      <a:r>
                        <a:rPr sz="804">
                          <a:solidFill>
                            <a:srgbClr val="9C5308"/>
                          </a:solidFill>
                          <a:latin typeface="IBM Plex Sans"/>
                          <a:ea typeface="IBM Plex Sans"/>
                          <a:cs typeface="IBM Plex Sans"/>
                        </a:rPr>
                        <a:t>Hand-set at 3 Hz — one second to acquire, under three to declare loss</a:t>
                      </a:r>
                      <a:endParaRPr sz="804">
                        <a:latin typeface="IBM Plex Sans"/>
                        <a:ea typeface="IBM Plex Sans"/>
                        <a:cs typeface="IBM Plex Sans"/>
                      </a:endParaRPr>
                    </a:p>
                  </a:txBody>
                  <a:tcPr marL="127000" marR="127000" marT="101600" marB="101600" anchor="t">
                    <a:lnL w="12700" cmpd="sng">
                      <a:solidFill>
                        <a:srgbClr val="CBCBCB"/>
                      </a:solidFill>
                      <a:prstDash val="solid"/>
                    </a:lnL>
                    <a:lnR w="12700" cmpd="sng">
                      <a:solidFill>
                        <a:srgbClr val="CBCBCB"/>
                      </a:solidFill>
                      <a:prstDash val="solid"/>
                    </a:lnR>
                    <a:lnT w="12700" cmpd="sng">
                      <a:solidFill>
                        <a:srgbClr val="BBBBB6"/>
                      </a:solidFill>
                      <a:prstDash val="solid"/>
                    </a:lnT>
                    <a:lnB w="12700" cmpd="sng">
                      <a:solidFill>
                        <a:srgbClr val="CBCBCB"/>
                      </a:solidFill>
                      <a:prstDash val="solid"/>
                    </a:lnB>
                    <a:solidFill>
                      <a:srgbClr val="FFFFFF"/>
                    </a:solidFill>
                  </a:tcPr>
                </a:tc>
              </a:tr>
            </a:tbl>
          </a:graphicData>
        </a:graphic>
      </p:graphicFrame>
      <p:sp>
        <p:nvSpPr>
          <p:cNvPr id="7" name="Shape 4">
            <a:extLst xmlns:a="http://schemas.openxmlformats.org/drawingml/2006/main">
              <a:ext uri="{FF2B5EF4-FFF2-40B4-BE49-F238E27FC236}">
                <a16:creationId xmlns:a16="http://schemas.microsoft.com/office/drawing/2014/main" id="{4A29C0A5-9E86-4815-9075-0FA70F879D3C}"/>
              </a:ext>
            </a:extLst>
          </p:cNvPr>
          <p:cNvSpPr>
            <a:spLocks xmlns:a="http://schemas.openxmlformats.org/drawingml/2006/main" noGrp="1"/>
          </p:cNvSpPr>
          <p:nvPr/>
        </p:nvSpPr>
        <p:spPr>
          <a:xfrm xmlns:a="http://schemas.openxmlformats.org/drawingml/2006/main">
            <a:off x="812673" y="5105400"/>
            <a:ext cx="10159937" cy="1200150"/>
          </a:xfrm>
          <a:prstGeom xmlns:a="http://schemas.openxmlformats.org/drawingml/2006/main" prst="roundRect">
            <a:avLst>
              <a:gd name="adj" fmla="val 11737"/>
            </a:avLst>
          </a:prstGeom>
          <a:solidFill xmlns:a="http://schemas.openxmlformats.org/drawingml/2006/main">
            <a:srgbClr val="EAEAE4"/>
          </a:solidFill>
        </p:spPr>
      </p:sp>
      <p:sp>
        <p:nvSpPr>
          <p:cNvPr id="8" name="Shape 5">
            <a:extLst xmlns:a="http://schemas.openxmlformats.org/drawingml/2006/main">
              <a:ext uri="{FF2B5EF4-FFF2-40B4-BE49-F238E27FC236}">
                <a16:creationId xmlns:a16="http://schemas.microsoft.com/office/drawing/2014/main" id="{36A2D7F5-2655-4195-A90A-D7FADD0616E0}"/>
              </a:ext>
            </a:extLst>
          </p:cNvPr>
          <p:cNvSpPr>
            <a:spLocks xmlns:a="http://schemas.openxmlformats.org/drawingml/2006/main" noGrp="1"/>
          </p:cNvSpPr>
          <p:nvPr/>
        </p:nvSpPr>
        <p:spPr>
          <a:xfrm xmlns:a="http://schemas.openxmlformats.org/drawingml/2006/main">
            <a:off x="812673" y="5105400"/>
            <a:ext cx="10159937" cy="1200150"/>
          </a:xfrm>
          <a:custGeom xmlns:a="http://schemas.openxmlformats.org/drawingml/2006/main">
            <a:rect l="l" t="t" r="r" b="b"/>
            <a:pathLst>
              <a:path w="10159947" h="649234">
                <a:moveTo>
                  <a:pt x="76200" y="649234"/>
                </a:moveTo>
                <a:lnTo>
                  <a:pt x="76200" y="649234"/>
                </a:lnTo>
                <a:arcTo wR="76200" hR="76200" stAng="5400000" swAng="5400000"/>
                <a:lnTo>
                  <a:pt x="0" y="76200"/>
                </a:lnTo>
                <a:arcTo wR="76200" hR="76200" stAng="10800000" swAng="5400000"/>
                <a:lnTo>
                  <a:pt x="76200" y="0"/>
                </a:lnTo>
                <a:arcTo wR="38100" hR="76200" stAng="16200000" swAng="-5400000"/>
                <a:lnTo>
                  <a:pt x="38100" y="573034"/>
                </a:lnTo>
                <a:arcTo wR="38100" hR="76200" stAng="10800000" swAng="-5400000"/>
                <a:close/>
              </a:path>
            </a:pathLst>
          </a:custGeom>
          <a:solidFill xmlns:a="http://schemas.openxmlformats.org/drawingml/2006/main">
            <a:srgbClr val="9C5308"/>
          </a:solidFill>
        </p:spPr>
      </p:sp>
      <p:sp>
        <p:nvSpPr>
          <p:cNvPr id="9" name="Text 6">
            <a:extLst xmlns:a="http://schemas.openxmlformats.org/drawingml/2006/main">
              <a:ext uri="{FF2B5EF4-FFF2-40B4-BE49-F238E27FC236}">
                <a16:creationId xmlns:a16="http://schemas.microsoft.com/office/drawing/2014/main" id="{B0D60D52-F2EC-40CB-92A9-C5BD8FECD5AF}"/>
              </a:ext>
            </a:extLst>
          </p:cNvPr>
          <p:cNvSpPr>
            <a:spLocks xmlns:a="http://schemas.openxmlformats.org/drawingml/2006/main" noGrp="1"/>
          </p:cNvSpPr>
          <p:nvPr/>
        </p:nvSpPr>
        <p:spPr>
          <a:xfrm xmlns:a="http://schemas.openxmlformats.org/drawingml/2006/main">
            <a:off x="1050703" y="5248275"/>
            <a:ext cx="9763125"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ct val="112000"/>
              </a:lnSpc>
              <a:buNone/>
              <a:defRPr sz="1275">
                <a:solidFill>
                  <a:srgbClr val="273943"/>
                </a:solidFill>
                <a:latin typeface="IBM Plex Sans"/>
                <a:ea typeface="IBM Plex Sans"/>
                <a:cs typeface="IBM Plex Sans"/>
              </a:defRPr>
            </a:pPr>
            <a:r>
              <a:rPr sz="1275">
                <a:solidFill>
                  <a:srgbClr val="273943"/>
                </a:solidFill>
                <a:latin typeface="IBM Plex Sans"/>
                <a:ea typeface="IBM Plex Sans"/>
                <a:cs typeface="IBM Plex Sans"/>
              </a:rPr>
              <a:t>The 0.35 grounding threshold is the Grounding DINO library default. The 0.25 person confidence was chosen to retain weak detections for tracking. The values 0.15, 0.08, 0.72, 0.85, and the 3/8 frame counts are engineering choices in the local configuration. The observed ranges come from one live trial and did not tune these values. A labelled replay dataset and sensitivity analysis are still needed.</a:t>
            </a:r>
            <a:endParaRPr sz="936"/>
          </a:p>
        </p:txBody>
      </p:sp>
    </p:spTree>
    <p:extLst>
      <p:ext uri="{BB962C8B-B14F-4D97-AF65-F5344CB8AC3E}">
        <p14:creationId xmlns:p14="http://schemas.microsoft.com/office/powerpoint/2010/main" val="936683223"/>
      </p:ext>
    </p:extLst>
  </p:cSld>
</p:sld>
</file>

<file path=ppt/slides/slide16.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A1312EB-BE0A-408C-B64A-D76B7831617C}"/>
              </a:ext>
            </a:extLst>
          </p:cNvPr>
          <p:cNvSpPr>
            <a:spLocks xmlns:a="http://schemas.openxmlformats.org/drawingml/2006/main" noGrp="1"/>
          </p:cNvSpPr>
          <p:nvPr/>
        </p:nvSpPr>
        <p:spPr>
          <a:xfrm xmlns:a="http://schemas.openxmlformats.org/drawingml/2006/main">
            <a:off x="812720" y="812726"/>
            <a:ext cx="10883529" cy="1689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171"/>
              </a:lnSpc>
              <a:buNone/>
            </a:pPr>
            <a:r>
              <a:rPr sz="836" spc="150">
                <a:solidFill>
                  <a:srgbClr val="0F7D76"/>
                </a:solidFill>
                <a:latin typeface="JetBrains Mono"/>
                <a:ea typeface="JetBrains Mono"/>
                <a:cs typeface="JetBrains Mono"/>
              </a:rPr>
              <a:t>PART 3 · THE PROCESS SPLIT</a:t>
            </a:r>
            <a:endParaRPr sz="836"/>
          </a:p>
        </p:txBody>
      </p:sp>
      <p:sp>
        <p:nvSpPr>
          <p:cNvPr id="3" name="Text 1">
            <a:extLst xmlns:a="http://schemas.openxmlformats.org/drawingml/2006/main">
              <a:ext uri="{FF2B5EF4-FFF2-40B4-BE49-F238E27FC236}">
                <a16:creationId xmlns:a16="http://schemas.microsoft.com/office/drawing/2014/main" id="{74864358-8AE7-49E5-AD8F-77A5FA4E3B59}"/>
              </a:ext>
            </a:extLst>
          </p:cNvPr>
          <p:cNvSpPr>
            <a:spLocks xmlns:a="http://schemas.openxmlformats.org/drawingml/2006/main" noGrp="1"/>
          </p:cNvSpPr>
          <p:nvPr/>
        </p:nvSpPr>
        <p:spPr>
          <a:xfrm xmlns:a="http://schemas.openxmlformats.org/drawingml/2006/main">
            <a:off x="812720" y="1134083"/>
            <a:ext cx="10883529" cy="63777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3450"/>
              </a:lnSpc>
              <a:buNone/>
            </a:pPr>
            <a:r>
              <a:rPr sz="3080" b="1">
                <a:solidFill>
                  <a:srgbClr val="10202A"/>
                </a:solidFill>
                <a:latin typeface="IBM Plex Sans"/>
                <a:ea typeface="IBM Plex Sans"/>
                <a:cs typeface="IBM Plex Sans"/>
              </a:rPr>
              <a:t>CPU, GPU, and a possible Thor deployment</a:t>
            </a:r>
            <a:endParaRPr sz="3080"/>
          </a:p>
        </p:txBody>
      </p:sp>
      <p:sp>
        <p:nvSpPr>
          <p:cNvPr id="4" name="Plain-language explanation">
            <a:extLst xmlns:a="http://schemas.openxmlformats.org/drawingml/2006/main">
              <a:ext uri="{FF2B5EF4-FFF2-40B4-BE49-F238E27FC236}">
                <a16:creationId xmlns:a16="http://schemas.microsoft.com/office/drawing/2014/main" id="{ADBD262E-9060-482E-90B1-C00F8E649F16}"/>
              </a:ext>
            </a:extLst>
          </p:cNvPr>
          <p:cNvSpPr>
            <a:spLocks xmlns:a="http://schemas.openxmlformats.org/drawingml/2006/main" noGrp="1"/>
          </p:cNvSpPr>
          <p:nvPr/>
        </p:nvSpPr>
        <p:spPr>
          <a:xfrm xmlns:a="http://schemas.openxmlformats.org/drawingml/2006/main">
            <a:off x="1047750" y="2143125"/>
            <a:ext cx="100012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nSpc>
                <a:spcPct val="120000"/>
              </a:lnSpc>
              <a:buNone/>
              <a:defRPr sz="1800">
                <a:solidFill>
                  <a:srgbClr val="273943"/>
                </a:solidFill>
                <a:latin typeface="IBM Plex Sans"/>
                <a:ea typeface="IBM Plex Sans"/>
                <a:cs typeface="IBM Plex Sans"/>
              </a:defRPr>
            </a:pPr>
            <a:r>
              <a:rPr sz="1800">
                <a:solidFill>
                  <a:srgbClr val="273943"/>
                </a:solidFill>
                <a:latin typeface="IBM Plex Sans"/>
                <a:ea typeface="IBM Plex Sans"/>
                <a:cs typeface="IBM Plex Sans"/>
              </a:rPr>
              <a:t>CUDA on the RTX 5060 runs OmTrackVLA, DINOv3, SigLIP, Grounding DINO, YOLO, token pooling, and the shared vision resize and normalization. The CPU runs ROS 2 and DDS, networking, sensor callbacks, JPEG handling, BoT-SORT association, optical flow, the HSV appearance descriptor, depth geometry, target state, command fusion, LiDAR checks, timeouts, and motor safety. This keeps the safety loop responsive even if GPU inference stalls. Jetson AGX Thor could replace the current x86 computer and RTX card, but it would still run the neural networks with CUDA through JetPack. A Thor migration would require ARM64 dependency builds, ROS and sensor-driver checks, thermal and power measurements, replay comparison, and full robot safety validation.</a:t>
            </a:r>
          </a:p>
        </p:txBody>
      </p:sp>
    </p:spTree>
    <p:extLst>
      <p:ext uri="{BB962C8B-B14F-4D97-AF65-F5344CB8AC3E}">
        <p14:creationId xmlns:p14="http://schemas.microsoft.com/office/powerpoint/2010/main" val="1392586099"/>
      </p:ext>
    </p:extLst>
  </p:cSld>
</p:sld>
</file>

<file path=ppt/slides/slide17.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FE43508-D9E2-490D-B8F1-0256FB18CDBF}"/>
              </a:ext>
            </a:extLst>
          </p:cNvPr>
          <p:cNvSpPr>
            <a:spLocks xmlns:a="http://schemas.openxmlformats.org/drawingml/2006/main" noGrp="1"/>
          </p:cNvSpPr>
          <p:nvPr/>
        </p:nvSpPr>
        <p:spPr>
          <a:xfrm xmlns:a="http://schemas.openxmlformats.org/drawingml/2006/main">
            <a:off x="812720" y="812726"/>
            <a:ext cx="10883529" cy="23879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spc="150">
                <a:solidFill>
                  <a:srgbClr val="0F7D76"/>
                </a:solidFill>
                <a:latin typeface="JetBrains Mono"/>
                <a:ea typeface="JetBrains Mono"/>
                <a:cs typeface="JetBrains Mono"/>
              </a:rPr>
              <a:t>PART 3 · COMMAND FUSION</a:t>
            </a:r>
            <a:endParaRPr sz="1200"/>
          </a:p>
        </p:txBody>
      </p:sp>
      <p:sp>
        <p:nvSpPr>
          <p:cNvPr id="3" name="Text 1">
            <a:extLst xmlns:a="http://schemas.openxmlformats.org/drawingml/2006/main">
              <a:ext uri="{FF2B5EF4-FFF2-40B4-BE49-F238E27FC236}">
                <a16:creationId xmlns:a16="http://schemas.microsoft.com/office/drawing/2014/main" id="{81456853-10CA-4C7A-AFD9-BCF098DE3EBE}"/>
              </a:ext>
            </a:extLst>
          </p:cNvPr>
          <p:cNvSpPr>
            <a:spLocks xmlns:a="http://schemas.openxmlformats.org/drawingml/2006/main" noGrp="1"/>
          </p:cNvSpPr>
          <p:nvPr/>
        </p:nvSpPr>
        <p:spPr>
          <a:xfrm xmlns:a="http://schemas.openxmlformats.org/drawingml/2006/main">
            <a:off x="812720" y="1178458"/>
            <a:ext cx="10883529" cy="48053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3584"/>
              </a:lnSpc>
              <a:buNone/>
            </a:pPr>
            <a:r>
              <a:rPr sz="3200" b="1">
                <a:solidFill>
                  <a:srgbClr val="10202A"/>
                </a:solidFill>
                <a:latin typeface="IBM Plex Sans"/>
                <a:ea typeface="IBM Plex Sans"/>
                <a:cs typeface="IBM Plex Sans"/>
              </a:rPr>
              <a:t>Leader direction versus model direction</a:t>
            </a:r>
            <a:endParaRPr sz="3200"/>
          </a:p>
        </p:txBody>
      </p:sp>
      <p:sp>
        <p:nvSpPr>
          <p:cNvPr id="4" name="Plain-language explanation">
            <a:extLst xmlns:a="http://schemas.openxmlformats.org/drawingml/2006/main">
              <a:ext uri="{FF2B5EF4-FFF2-40B4-BE49-F238E27FC236}">
                <a16:creationId xmlns:a16="http://schemas.microsoft.com/office/drawing/2014/main" id="{1FE0C60E-5588-4914-A4D2-86DD1348C045}"/>
              </a:ext>
            </a:extLst>
          </p:cNvPr>
          <p:cNvSpPr>
            <a:spLocks xmlns:a="http://schemas.openxmlformats.org/drawingml/2006/main" noGrp="1"/>
          </p:cNvSpPr>
          <p:nvPr/>
        </p:nvSpPr>
        <p:spPr>
          <a:xfrm xmlns:a="http://schemas.openxmlformats.org/drawingml/2006/main">
            <a:off x="1047750" y="2143125"/>
            <a:ext cx="10001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nSpc>
                <a:spcPct val="120000"/>
              </a:lnSpc>
              <a:buNone/>
              <a:defRPr sz="1875">
                <a:solidFill>
                  <a:srgbClr val="273943"/>
                </a:solidFill>
                <a:latin typeface="IBM Plex Sans"/>
                <a:ea typeface="IBM Plex Sans"/>
                <a:cs typeface="IBM Plex Sans"/>
              </a:defRPr>
            </a:pPr>
            <a:r>
              <a:rPr sz="1875">
                <a:solidFill>
                  <a:srgbClr val="273943"/>
                </a:solidFill>
                <a:latin typeface="IBM Plex Sans"/>
                <a:ea typeface="IBM Plex Sans"/>
                <a:cs typeface="IBM Plex Sans"/>
              </a:rPr>
              <a:t>Leader direction is a geometric vector from the robot toward the locked person. The controller calculates it from the target bounding box, aligned depth, and camera transforms. OmTrackVLA direction comes from the first usable waypoint in the model’s path, predicted independently from the full image, prompt, and visual history. The controller compares the two directions. When they point generally toward the same side, it blends 75% leader direction with 25% OmTrackVLA direction. When the model points away from the leader, the controller rejects the model direction and uses the leader direction. If target lock or depth is missing, motion stops. These percentages describe movement fusion only. They do not describe how the target is detected.</a:t>
            </a:r>
          </a:p>
        </p:txBody>
      </p:sp>
    </p:spTree>
    <p:extLst>
      <p:ext uri="{BB962C8B-B14F-4D97-AF65-F5344CB8AC3E}">
        <p14:creationId xmlns:p14="http://schemas.microsoft.com/office/powerpoint/2010/main" val="52833598"/>
      </p:ext>
    </p:extLst>
  </p:cSld>
</p:sld>
</file>

<file path=ppt/slides/slide18.xml><?xml version="1.0" encoding="utf-8"?>
<p:sld xmlns:p="http://schemas.openxmlformats.org/presentationml/2006/main">
  <p:cSld>
    <p:bg>
      <p:bgPr>
        <a:solidFill xmlns:a="http://schemas.openxmlformats.org/drawingml/2006/main">
          <a:srgbClr val="EAEAE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315E1B3-5458-45CE-BD4D-B6935C7B42FF}"/>
              </a:ext>
            </a:extLst>
          </p:cNvPr>
          <p:cNvSpPr>
            <a:spLocks xmlns:a="http://schemas.openxmlformats.org/drawingml/2006/main" noGrp="1"/>
          </p:cNvSpPr>
          <p:nvPr/>
        </p:nvSpPr>
        <p:spPr>
          <a:xfrm xmlns:a="http://schemas.openxmlformats.org/drawingml/2006/main">
            <a:off x="812720" y="812713"/>
            <a:ext cx="10883529" cy="19721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370"/>
              </a:lnSpc>
              <a:buNone/>
            </a:pPr>
            <a:r>
              <a:rPr sz="979" spc="150">
                <a:solidFill>
                  <a:srgbClr val="0F7D76"/>
                </a:solidFill>
                <a:latin typeface="JetBrains Mono"/>
                <a:ea typeface="JetBrains Mono"/>
                <a:cs typeface="JetBrains Mono"/>
              </a:rPr>
              <a:t>PART 3 · FUSION RULES</a:t>
            </a:r>
            <a:endParaRPr sz="979"/>
          </a:p>
        </p:txBody>
      </p:sp>
      <p:sp>
        <p:nvSpPr>
          <p:cNvPr id="3" name="Text 1">
            <a:extLst xmlns:a="http://schemas.openxmlformats.org/drawingml/2006/main">
              <a:ext uri="{FF2B5EF4-FFF2-40B4-BE49-F238E27FC236}">
                <a16:creationId xmlns:a16="http://schemas.microsoft.com/office/drawing/2014/main" id="{4B5AD38E-BBBB-4C57-842A-853370B39E99}"/>
              </a:ext>
            </a:extLst>
          </p:cNvPr>
          <p:cNvSpPr>
            <a:spLocks xmlns:a="http://schemas.openxmlformats.org/drawingml/2006/main" noGrp="1"/>
          </p:cNvSpPr>
          <p:nvPr/>
        </p:nvSpPr>
        <p:spPr>
          <a:xfrm xmlns:a="http://schemas.openxmlformats.org/drawingml/2006/main">
            <a:off x="812720" y="1213061"/>
            <a:ext cx="10883529" cy="39186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2923"/>
              </a:lnSpc>
              <a:buNone/>
            </a:pPr>
            <a:r>
              <a:rPr sz="2610" b="1">
                <a:solidFill>
                  <a:srgbClr val="10202A"/>
                </a:solidFill>
                <a:latin typeface="IBM Plex Sans"/>
                <a:ea typeface="IBM Plex Sans"/>
                <a:cs typeface="IBM Plex Sans"/>
              </a:rPr>
              <a:t>How fusion and safety handle each case</a:t>
            </a:r>
            <a:endParaRPr sz="2610"/>
          </a:p>
        </p:txBody>
      </p:sp>
      <p:sp>
        <p:nvSpPr>
          <p:cNvPr id="4" name="Shape 2">
            <a:extLst xmlns:a="http://schemas.openxmlformats.org/drawingml/2006/main">
              <a:ext uri="{FF2B5EF4-FFF2-40B4-BE49-F238E27FC236}">
                <a16:creationId xmlns:a16="http://schemas.microsoft.com/office/drawing/2014/main" id="{63C99058-1EBD-4313-BC26-B66460900D14}"/>
              </a:ext>
            </a:extLst>
          </p:cNvPr>
          <p:cNvSpPr>
            <a:spLocks xmlns:a="http://schemas.openxmlformats.org/drawingml/2006/main" noGrp="1"/>
          </p:cNvSpPr>
          <p:nvPr/>
        </p:nvSpPr>
        <p:spPr>
          <a:xfrm xmlns:a="http://schemas.openxmlformats.org/drawingml/2006/main">
            <a:off x="11376078" y="1808038"/>
            <a:ext cx="0" cy="2729807"/>
          </a:xfrm>
          <a:prstGeom xmlns:a="http://schemas.openxmlformats.org/drawingml/2006/main" prst="line">
            <a:avLst/>
          </a:prstGeom>
          <a:noFill xmlns:a="http://schemas.openxmlformats.org/drawingml/2006/main"/>
          <a:ln xmlns:a="http://schemas.openxmlformats.org/drawingml/2006/main" w="6350">
            <a:solidFill>
              <a:srgbClr val="D9DAD2"/>
            </a:solidFill>
            <a:prstDash val="solid"/>
          </a:ln>
        </p:spPr>
      </p:sp>
      <p:sp>
        <p:nvSpPr>
          <p:cNvPr id="5" name="Shape 3">
            <a:extLst xmlns:a="http://schemas.openxmlformats.org/drawingml/2006/main">
              <a:ext uri="{FF2B5EF4-FFF2-40B4-BE49-F238E27FC236}">
                <a16:creationId xmlns:a16="http://schemas.microsoft.com/office/drawing/2014/main" id="{E36B9975-BE58-4698-B4DC-F7003EC83F31}"/>
              </a:ext>
            </a:extLst>
          </p:cNvPr>
          <p:cNvSpPr>
            <a:spLocks xmlns:a="http://schemas.openxmlformats.org/drawingml/2006/main" noGrp="1"/>
          </p:cNvSpPr>
          <p:nvPr/>
        </p:nvSpPr>
        <p:spPr>
          <a:xfrm xmlns:a="http://schemas.openxmlformats.org/drawingml/2006/main">
            <a:off x="812720" y="4534670"/>
            <a:ext cx="10566533" cy="0"/>
          </a:xfrm>
          <a:prstGeom xmlns:a="http://schemas.openxmlformats.org/drawingml/2006/main" prst="line">
            <a:avLst/>
          </a:prstGeom>
          <a:noFill xmlns:a="http://schemas.openxmlformats.org/drawingml/2006/main"/>
          <a:ln xmlns:a="http://schemas.openxmlformats.org/drawingml/2006/main" w="6350">
            <a:solidFill>
              <a:srgbClr val="D9DAD2"/>
            </a:solidFill>
            <a:prstDash val="solid"/>
          </a:ln>
        </p:spPr>
      </p:sp>
      <p:graphicFrame>
        <p:nvGraphicFramePr>
          <p:cNvPr id="18" name="Table 0"/>
          <p:cNvGraphicFramePr/>
          <p:nvPr/>
        </p:nvGraphicFramePr>
        <p:xfrm>
          <a:off xmlns:a="http://schemas.openxmlformats.org/drawingml/2006/main" x="824313" y="1819632"/>
          <a:ext xmlns:a="http://schemas.openxmlformats.org/drawingml/2006/main" cx="10549143" cy="2712417"/>
        </p:xfrm>
        <a:graphic xmlns:a="http://schemas.openxmlformats.org/drawingml/2006/main">
          <a:graphicData uri="http://schemas.openxmlformats.org/drawingml/2006/table">
            <a:tbl>
              <a:tblPr/>
              <a:tblGrid>
                <a:gridCol w="3586709"/>
                <a:gridCol w="3164743"/>
                <a:gridCol w="3797692"/>
              </a:tblGrid>
              <a:tr h="418270">
                <a:tc>
                  <a:txBody>
                    <a:bodyPr/>
                    <a:lstStyle/>
                    <a:p>
                      <a:pPr marL="0" indent="0">
                        <a:lnSpc>
                          <a:spcPts val="1604"/>
                        </a:lnSpc>
                        <a:buNone/>
                      </a:pPr>
                      <a:r>
                        <a:rPr sz="1146" b="1">
                          <a:solidFill>
                            <a:srgbClr val="F6F6F2"/>
                          </a:solidFill>
                          <a:latin typeface="IBM Plex Sans"/>
                          <a:ea typeface="IBM Plex Sans"/>
                          <a:cs typeface="IBM Plex Sans"/>
                        </a:rPr>
                        <a:t>Situation</a:t>
                      </a:r>
                      <a:endParaRPr sz="1146">
                        <a:latin typeface="IBM Plex Sans"/>
                        <a:ea typeface="IBM Plex Sans"/>
                        <a:cs typeface="IBM Plex Sans"/>
                      </a:endParaRPr>
                    </a:p>
                  </a:txBody>
                  <a:tcPr marL="127000" marR="127000" marT="101600" marB="101600" anchor="t">
                    <a:lnL w="12700" cmpd="sng">
                      <a:solidFill>
                        <a:srgbClr val="BBBBB6"/>
                      </a:solidFill>
                      <a:prstDash val="solid"/>
                    </a:lnL>
                    <a:lnR w="12700" cmpd="sng">
                      <a:solidFill>
                        <a:srgbClr val="111D25"/>
                      </a:solidFill>
                      <a:prstDash val="solid"/>
                    </a:lnR>
                    <a:lnT w="12700" cmpd="sng">
                      <a:solidFill>
                        <a:srgbClr val="BBBBB6"/>
                      </a:solidFill>
                      <a:prstDash val="solid"/>
                    </a:lnT>
                    <a:lnB w="12700" cmpd="sng">
                      <a:solidFill>
                        <a:srgbClr val="111D25"/>
                      </a:solidFill>
                      <a:prstDash val="solid"/>
                    </a:lnB>
                    <a:solidFill>
                      <a:srgbClr val="10202A"/>
                    </a:solidFill>
                  </a:tcPr>
                </a:tc>
                <a:tc>
                  <a:txBody>
                    <a:bodyPr/>
                    <a:lstStyle/>
                    <a:p>
                      <a:pPr marL="0" indent="0">
                        <a:lnSpc>
                          <a:spcPts val="1604"/>
                        </a:lnSpc>
                        <a:buNone/>
                      </a:pPr>
                      <a:r>
                        <a:rPr sz="1146" b="1">
                          <a:solidFill>
                            <a:srgbClr val="F6F6F2"/>
                          </a:solidFill>
                          <a:latin typeface="IBM Plex Sans"/>
                          <a:ea typeface="IBM Plex Sans"/>
                          <a:cs typeface="IBM Plex Sans"/>
                        </a:rPr>
                        <a:t>Translation</a:t>
                      </a:r>
                      <a:endParaRPr sz="1146">
                        <a:latin typeface="IBM Plex Sans"/>
                        <a:ea typeface="IBM Plex Sans"/>
                        <a:cs typeface="IBM Plex Sans"/>
                      </a:endParaRPr>
                    </a:p>
                  </a:txBody>
                  <a:tcPr marL="127000" marR="127000" marT="101600" marB="101600" anchor="t">
                    <a:lnL w="12700" cmpd="sng">
                      <a:solidFill>
                        <a:srgbClr val="111D25"/>
                      </a:solidFill>
                      <a:prstDash val="solid"/>
                    </a:lnL>
                    <a:lnR w="12700" cmpd="sng">
                      <a:solidFill>
                        <a:srgbClr val="111D25"/>
                      </a:solidFill>
                      <a:prstDash val="solid"/>
                    </a:lnR>
                    <a:lnT w="12700" cmpd="sng">
                      <a:solidFill>
                        <a:srgbClr val="BBBBB6"/>
                      </a:solidFill>
                      <a:prstDash val="solid"/>
                    </a:lnT>
                    <a:lnB w="12700" cmpd="sng">
                      <a:solidFill>
                        <a:srgbClr val="111D25"/>
                      </a:solidFill>
                      <a:prstDash val="solid"/>
                    </a:lnB>
                    <a:solidFill>
                      <a:srgbClr val="10202A"/>
                    </a:solidFill>
                  </a:tcPr>
                </a:tc>
                <a:tc>
                  <a:txBody>
                    <a:bodyPr/>
                    <a:lstStyle/>
                    <a:p>
                      <a:pPr marL="0" indent="0">
                        <a:lnSpc>
                          <a:spcPts val="1604"/>
                        </a:lnSpc>
                        <a:buNone/>
                      </a:pPr>
                      <a:r>
                        <a:rPr sz="1146" b="1">
                          <a:solidFill>
                            <a:srgbClr val="F6F6F2"/>
                          </a:solidFill>
                          <a:latin typeface="IBM Plex Sans"/>
                          <a:ea typeface="IBM Plex Sans"/>
                          <a:cs typeface="IBM Plex Sans"/>
                        </a:rPr>
                        <a:t>Rotation</a:t>
                      </a:r>
                      <a:endParaRPr sz="1146">
                        <a:latin typeface="IBM Plex Sans"/>
                        <a:ea typeface="IBM Plex Sans"/>
                        <a:cs typeface="IBM Plex Sans"/>
                      </a:endParaRPr>
                    </a:p>
                  </a:txBody>
                  <a:tcPr marL="127000" marR="127000" marT="101600" marB="101600" anchor="t">
                    <a:lnL w="12700" cmpd="sng">
                      <a:solidFill>
                        <a:srgbClr val="111D25"/>
                      </a:solidFill>
                      <a:prstDash val="solid"/>
                    </a:lnL>
                    <a:lnR w="12700" cmpd="sng">
                      <a:solidFill>
                        <a:srgbClr val="111D25"/>
                      </a:solidFill>
                      <a:prstDash val="solid"/>
                    </a:lnR>
                    <a:lnT w="12700" cmpd="sng">
                      <a:solidFill>
                        <a:srgbClr val="BBBBB6"/>
                      </a:solidFill>
                      <a:prstDash val="solid"/>
                    </a:lnT>
                    <a:lnB w="12700" cmpd="sng">
                      <a:solidFill>
                        <a:srgbClr val="111D25"/>
                      </a:solidFill>
                      <a:prstDash val="solid"/>
                    </a:lnB>
                    <a:solidFill>
                      <a:srgbClr val="10202A"/>
                    </a:solidFill>
                  </a:tcPr>
                </a:tc>
              </a:tr>
              <a:tr h="418270">
                <a:tc>
                  <a:txBody>
                    <a:bodyPr/>
                    <a:lstStyle/>
                    <a:p>
                      <a:pPr marL="0" indent="0">
                        <a:lnSpc>
                          <a:spcPts val="1604"/>
                        </a:lnSpc>
                        <a:buNone/>
                      </a:pPr>
                      <a:r>
                        <a:rPr sz="1146">
                          <a:solidFill>
                            <a:srgbClr val="10202A"/>
                          </a:solidFill>
                          <a:latin typeface="IBM Plex Sans"/>
                          <a:ea typeface="IBM Plex Sans"/>
                          <a:cs typeface="IBM Plex Sans"/>
                        </a:rPr>
                        <a:t>Leader behind the robot, or at zero range</a:t>
                      </a:r>
                      <a:endParaRPr sz="1146">
                        <a:latin typeface="IBM Plex Sans"/>
                        <a:ea typeface="IBM Plex Sans"/>
                        <a:cs typeface="IBM Plex Sans"/>
                      </a:endParaRPr>
                    </a:p>
                  </a:txBody>
                  <a:tcPr marL="127000" marR="127000" marT="101600" marB="101600" anchor="t">
                    <a:lnL w="12700" cmpd="sng">
                      <a:solidFill>
                        <a:srgbClr val="BBBBB6"/>
                      </a:solidFill>
                      <a:prstDash val="solid"/>
                    </a:lnL>
                    <a:lnR w="12700" cmpd="sng">
                      <a:solidFill>
                        <a:srgbClr val="C4C4C1"/>
                      </a:solidFill>
                      <a:prstDash val="solid"/>
                    </a:lnR>
                    <a:lnT w="12700" cmpd="sng">
                      <a:solidFill>
                        <a:srgbClr val="111D25"/>
                      </a:solidFill>
                      <a:prstDash val="solid"/>
                    </a:lnT>
                    <a:lnB w="12700" cmpd="sng">
                      <a:solidFill>
                        <a:srgbClr val="C4C4C1"/>
                      </a:solidFill>
                      <a:prstDash val="solid"/>
                    </a:lnB>
                    <a:solidFill>
                      <a:srgbClr val="F6F6F2"/>
                    </a:solidFill>
                  </a:tcPr>
                </a:tc>
                <a:tc>
                  <a:txBody>
                    <a:bodyPr/>
                    <a:lstStyle/>
                    <a:p>
                      <a:pPr marL="0" indent="0">
                        <a:lnSpc>
                          <a:spcPts val="1604"/>
                        </a:lnSpc>
                        <a:buNone/>
                      </a:pPr>
                      <a:r>
                        <a:rPr sz="1146">
                          <a:solidFill>
                            <a:srgbClr val="9E3B2F"/>
                          </a:solidFill>
                          <a:latin typeface="IBM Plex Sans"/>
                          <a:ea typeface="IBM Plex Sans"/>
                          <a:cs typeface="IBM Plex Sans"/>
                        </a:rPr>
                        <a:t>stopped</a:t>
                      </a:r>
                      <a:endParaRPr sz="1146">
                        <a:latin typeface="IBM Plex Sans"/>
                        <a:ea typeface="IBM Plex Sans"/>
                        <a:cs typeface="IBM Plex Sans"/>
                      </a:endParaRPr>
                    </a:p>
                  </a:txBody>
                  <a:tcPr marL="127000" marR="127000" marT="101600" marB="101600" anchor="t">
                    <a:lnL w="12700" cmpd="sng">
                      <a:solidFill>
                        <a:srgbClr val="C4C4C1"/>
                      </a:solidFill>
                      <a:prstDash val="solid"/>
                    </a:lnL>
                    <a:lnR w="12700" cmpd="sng">
                      <a:solidFill>
                        <a:srgbClr val="C4C4C1"/>
                      </a:solidFill>
                      <a:prstDash val="solid"/>
                    </a:lnR>
                    <a:lnT w="12700" cmpd="sng">
                      <a:solidFill>
                        <a:srgbClr val="111D25"/>
                      </a:solidFill>
                      <a:prstDash val="solid"/>
                    </a:lnT>
                    <a:lnB w="12700" cmpd="sng">
                      <a:solidFill>
                        <a:srgbClr val="C4C4C1"/>
                      </a:solidFill>
                      <a:prstDash val="solid"/>
                    </a:lnB>
                    <a:solidFill>
                      <a:srgbClr val="F6F6F2"/>
                    </a:solidFill>
                  </a:tcPr>
                </a:tc>
                <a:tc>
                  <a:txBody>
                    <a:bodyPr/>
                    <a:lstStyle/>
                    <a:p>
                      <a:pPr marL="0" indent="0">
                        <a:lnSpc>
                          <a:spcPts val="1604"/>
                        </a:lnSpc>
                        <a:buNone/>
                      </a:pPr>
                      <a:r>
                        <a:rPr sz="1146">
                          <a:solidFill>
                            <a:srgbClr val="9E3B2F"/>
                          </a:solidFill>
                          <a:latin typeface="IBM Plex Sans"/>
                          <a:ea typeface="IBM Plex Sans"/>
                          <a:cs typeface="IBM Plex Sans"/>
                        </a:rPr>
                        <a:t>stopped</a:t>
                      </a:r>
                      <a:endParaRPr sz="1146">
                        <a:latin typeface="IBM Plex Sans"/>
                        <a:ea typeface="IBM Plex Sans"/>
                        <a:cs typeface="IBM Plex Sans"/>
                      </a:endParaRPr>
                    </a:p>
                  </a:txBody>
                  <a:tcPr marL="127000" marR="127000" marT="101600" marB="101600" anchor="t">
                    <a:lnL w="12700" cmpd="sng">
                      <a:solidFill>
                        <a:srgbClr val="C4C4C1"/>
                      </a:solidFill>
                      <a:prstDash val="solid"/>
                    </a:lnL>
                    <a:lnR w="12700" cmpd="sng">
                      <a:solidFill>
                        <a:srgbClr val="C4C4C1"/>
                      </a:solidFill>
                      <a:prstDash val="solid"/>
                    </a:lnR>
                    <a:lnT w="12700" cmpd="sng">
                      <a:solidFill>
                        <a:srgbClr val="111D25"/>
                      </a:solidFill>
                      <a:prstDash val="solid"/>
                    </a:lnT>
                    <a:lnB w="12700" cmpd="sng">
                      <a:solidFill>
                        <a:srgbClr val="C4C4C1"/>
                      </a:solidFill>
                      <a:prstDash val="solid"/>
                    </a:lnB>
                    <a:solidFill>
                      <a:srgbClr val="F6F6F2"/>
                    </a:solidFill>
                  </a:tcPr>
                </a:tc>
              </a:tr>
              <a:tr h="418270">
                <a:tc>
                  <a:txBody>
                    <a:bodyPr/>
                    <a:lstStyle/>
                    <a:p>
                      <a:pPr marL="0" indent="0">
                        <a:lnSpc>
                          <a:spcPts val="1604"/>
                        </a:lnSpc>
                        <a:buNone/>
                      </a:pPr>
                      <a:r>
                        <a:rPr sz="1146">
                          <a:solidFill>
                            <a:srgbClr val="10202A"/>
                          </a:solidFill>
                          <a:latin typeface="IBM Plex Sans"/>
                          <a:ea typeface="IBM Plex Sans"/>
                          <a:cs typeface="IBM Plex Sans"/>
                        </a:rPr>
                        <a:t>Leader nearer than 0.9 m</a:t>
                      </a:r>
                      <a:endParaRPr sz="1146">
                        <a:latin typeface="IBM Plex Sans"/>
                        <a:ea typeface="IBM Plex Sans"/>
                        <a:cs typeface="IBM Plex Sans"/>
                      </a:endParaRPr>
                    </a:p>
                  </a:txBody>
                  <a:tcPr marL="127000" marR="127000" marT="101600" marB="101600" anchor="t">
                    <a:lnL w="12700" cmpd="sng">
                      <a:solidFill>
                        <a:srgbClr val="BBBBB6"/>
                      </a:solidFill>
                      <a:prstDash val="solid"/>
                    </a:lnL>
                    <a:lnR w="12700" cmpd="sng">
                      <a:solidFill>
                        <a:srgbClr val="CBCBCB"/>
                      </a:solidFill>
                      <a:prstDash val="solid"/>
                    </a:lnR>
                    <a:lnT w="12700" cmpd="sng">
                      <a:solidFill>
                        <a:srgbClr val="C4C4C1"/>
                      </a:solidFill>
                      <a:prstDash val="solid"/>
                    </a:lnT>
                    <a:lnB w="12700" cmpd="sng">
                      <a:solidFill>
                        <a:srgbClr val="CBCBCB"/>
                      </a:solidFill>
                      <a:prstDash val="solid"/>
                    </a:lnB>
                    <a:solidFill>
                      <a:srgbClr val="FFFFFF"/>
                    </a:solidFill>
                  </a:tcPr>
                </a:tc>
                <a:tc>
                  <a:txBody>
                    <a:bodyPr/>
                    <a:lstStyle/>
                    <a:p>
                      <a:pPr marL="0" indent="0">
                        <a:lnSpc>
                          <a:spcPts val="1604"/>
                        </a:lnSpc>
                        <a:buNone/>
                      </a:pPr>
                      <a:r>
                        <a:rPr sz="1146">
                          <a:solidFill>
                            <a:srgbClr val="9E3B2F"/>
                          </a:solidFill>
                          <a:latin typeface="IBM Plex Sans"/>
                          <a:ea typeface="IBM Plex Sans"/>
                          <a:cs typeface="IBM Plex Sans"/>
                        </a:rPr>
                        <a:t>stopped — it does not reverse</a:t>
                      </a:r>
                      <a:endParaRPr sz="1146">
                        <a:latin typeface="IBM Plex Sans"/>
                        <a:ea typeface="IBM Plex Sans"/>
                        <a:cs typeface="IBM Plex Sans"/>
                      </a:endParaRPr>
                    </a:p>
                  </a:txBody>
                  <a:tcPr marL="127000" marR="127000" marT="101600" marB="101600" anchor="t">
                    <a:lnL w="12700" cmpd="sng">
                      <a:solidFill>
                        <a:srgbClr val="CBCBCB"/>
                      </a:solidFill>
                      <a:prstDash val="solid"/>
                    </a:lnL>
                    <a:lnR w="12700" cmpd="sng">
                      <a:solidFill>
                        <a:srgbClr val="CBCBCB"/>
                      </a:solidFill>
                      <a:prstDash val="solid"/>
                    </a:lnR>
                    <a:lnT w="12700" cmpd="sng">
                      <a:solidFill>
                        <a:srgbClr val="C4C4C1"/>
                      </a:solidFill>
                      <a:prstDash val="solid"/>
                    </a:lnT>
                    <a:lnB w="12700" cmpd="sng">
                      <a:solidFill>
                        <a:srgbClr val="CBCBCB"/>
                      </a:solidFill>
                      <a:prstDash val="solid"/>
                    </a:lnB>
                    <a:solidFill>
                      <a:srgbClr val="FFFFFF"/>
                    </a:solidFill>
                  </a:tcPr>
                </a:tc>
                <a:tc>
                  <a:txBody>
                    <a:bodyPr/>
                    <a:lstStyle/>
                    <a:p>
                      <a:pPr marL="0" indent="0">
                        <a:lnSpc>
                          <a:spcPts val="1604"/>
                        </a:lnSpc>
                        <a:buNone/>
                      </a:pPr>
                      <a:r>
                        <a:rPr sz="1146">
                          <a:solidFill>
                            <a:srgbClr val="2E7D4F"/>
                          </a:solidFill>
                          <a:latin typeface="IBM Plex Sans"/>
                          <a:ea typeface="IBM Plex Sans"/>
                          <a:cs typeface="IBM Plex Sans"/>
                        </a:rPr>
                        <a:t>still turns to face the leader</a:t>
                      </a:r>
                      <a:endParaRPr sz="1146">
                        <a:latin typeface="IBM Plex Sans"/>
                        <a:ea typeface="IBM Plex Sans"/>
                        <a:cs typeface="IBM Plex Sans"/>
                      </a:endParaRPr>
                    </a:p>
                  </a:txBody>
                  <a:tcPr marL="127000" marR="127000" marT="101600" marB="101600" anchor="t">
                    <a:lnL w="12700" cmpd="sng">
                      <a:solidFill>
                        <a:srgbClr val="CBCBCB"/>
                      </a:solidFill>
                      <a:prstDash val="solid"/>
                    </a:lnL>
                    <a:lnR w="12700" cmpd="sng">
                      <a:solidFill>
                        <a:srgbClr val="CBCBCB"/>
                      </a:solidFill>
                      <a:prstDash val="solid"/>
                    </a:lnR>
                    <a:lnT w="12700" cmpd="sng">
                      <a:solidFill>
                        <a:srgbClr val="C4C4C1"/>
                      </a:solidFill>
                      <a:prstDash val="solid"/>
                    </a:lnT>
                    <a:lnB w="12700" cmpd="sng">
                      <a:solidFill>
                        <a:srgbClr val="CBCBCB"/>
                      </a:solidFill>
                      <a:prstDash val="solid"/>
                    </a:lnB>
                    <a:solidFill>
                      <a:srgbClr val="FFFFFF"/>
                    </a:solidFill>
                  </a:tcPr>
                </a:tc>
              </a:tr>
              <a:tr h="418270">
                <a:tc>
                  <a:txBody>
                    <a:bodyPr/>
                    <a:lstStyle/>
                    <a:p>
                      <a:pPr marL="0" indent="0">
                        <a:lnSpc>
                          <a:spcPts val="1604"/>
                        </a:lnSpc>
                        <a:buNone/>
                      </a:pPr>
                      <a:r>
                        <a:rPr sz="1146">
                          <a:solidFill>
                            <a:srgbClr val="10202A"/>
                          </a:solidFill>
                          <a:latin typeface="IBM Plex Sans"/>
                          <a:ea typeface="IBM Plex Sans"/>
                          <a:cs typeface="IBM Plex Sans"/>
                        </a:rPr>
                        <a:t>Model proposal points toward the leader</a:t>
                      </a:r>
                      <a:endParaRPr sz="1146">
                        <a:latin typeface="IBM Plex Sans"/>
                        <a:ea typeface="IBM Plex Sans"/>
                        <a:cs typeface="IBM Plex Sans"/>
                      </a:endParaRPr>
                    </a:p>
                  </a:txBody>
                  <a:tcPr marL="127000" marR="127000" marT="101600" marB="101600" anchor="t">
                    <a:lnL w="12700" cmpd="sng">
                      <a:solidFill>
                        <a:srgbClr val="BBBBB6"/>
                      </a:solidFill>
                      <a:prstDash val="solid"/>
                    </a:lnL>
                    <a:lnR w="12700" cmpd="sng">
                      <a:solidFill>
                        <a:srgbClr val="C4C4C1"/>
                      </a:solidFill>
                      <a:prstDash val="solid"/>
                    </a:lnR>
                    <a:lnT w="12700" cmpd="sng">
                      <a:solidFill>
                        <a:srgbClr val="CBCBCB"/>
                      </a:solidFill>
                      <a:prstDash val="solid"/>
                    </a:lnT>
                    <a:lnB w="12700" cmpd="sng">
                      <a:solidFill>
                        <a:srgbClr val="C4C4C1"/>
                      </a:solidFill>
                      <a:prstDash val="solid"/>
                    </a:lnB>
                    <a:solidFill>
                      <a:srgbClr val="F6F6F2"/>
                    </a:solidFill>
                  </a:tcPr>
                </a:tc>
                <a:tc>
                  <a:txBody>
                    <a:bodyPr/>
                    <a:lstStyle/>
                    <a:p>
                      <a:pPr marL="0" indent="0">
                        <a:lnSpc>
                          <a:spcPts val="1604"/>
                        </a:lnSpc>
                        <a:buNone/>
                      </a:pPr>
                      <a:r>
                        <a:rPr sz="1146">
                          <a:solidFill>
                            <a:srgbClr val="2E7D4F"/>
                          </a:solidFill>
                          <a:latin typeface="IBM Plex Sans"/>
                          <a:ea typeface="IBM Plex Sans"/>
                          <a:cs typeface="IBM Plex Sans"/>
                        </a:rPr>
                        <a:t>0.75 leader plus 0.25 model, renormalised</a:t>
                      </a:r>
                      <a:endParaRPr sz="1146">
                        <a:latin typeface="IBM Plex Sans"/>
                        <a:ea typeface="IBM Plex Sans"/>
                        <a:cs typeface="IBM Plex Sans"/>
                      </a:endParaRPr>
                    </a:p>
                  </a:txBody>
                  <a:tcPr marL="127000" marR="127000" marT="101600" marB="101600" anchor="t">
                    <a:lnL w="12700" cmpd="sng">
                      <a:solidFill>
                        <a:srgbClr val="C4C4C1"/>
                      </a:solidFill>
                      <a:prstDash val="solid"/>
                    </a:lnL>
                    <a:lnR w="12700" cmpd="sng">
                      <a:solidFill>
                        <a:srgbClr val="C4C4C1"/>
                      </a:solidFill>
                      <a:prstDash val="solid"/>
                    </a:lnR>
                    <a:lnT w="12700" cmpd="sng">
                      <a:solidFill>
                        <a:srgbClr val="CBCBCB"/>
                      </a:solidFill>
                      <a:prstDash val="solid"/>
                    </a:lnT>
                    <a:lnB w="12700" cmpd="sng">
                      <a:solidFill>
                        <a:srgbClr val="C4C4C1"/>
                      </a:solidFill>
                      <a:prstDash val="solid"/>
                    </a:lnB>
                    <a:solidFill>
                      <a:srgbClr val="F6F6F2"/>
                    </a:solidFill>
                  </a:tcPr>
                </a:tc>
                <a:tc>
                  <a:txBody>
                    <a:bodyPr/>
                    <a:lstStyle/>
                    <a:p>
                      <a:pPr marL="0" indent="0">
                        <a:lnSpc>
                          <a:spcPts val="1604"/>
                        </a:lnSpc>
                        <a:buNone/>
                      </a:pPr>
                      <a:r>
                        <a:rPr sz="1146">
                          <a:solidFill>
                            <a:srgbClr val="2E7D4F"/>
                          </a:solidFill>
                          <a:latin typeface="IBM Plex Sans"/>
                          <a:ea typeface="IBM Plex Sans"/>
                          <a:cs typeface="IBM Plex Sans"/>
                        </a:rPr>
                        <a:t>the same 0.75 / 0.25 blend of the yaw terms</a:t>
                      </a:r>
                      <a:endParaRPr sz="1146">
                        <a:latin typeface="IBM Plex Sans"/>
                        <a:ea typeface="IBM Plex Sans"/>
                        <a:cs typeface="IBM Plex Sans"/>
                      </a:endParaRPr>
                    </a:p>
                  </a:txBody>
                  <a:tcPr marL="127000" marR="127000" marT="101600" marB="101600" anchor="t">
                    <a:lnL w="12700" cmpd="sng">
                      <a:solidFill>
                        <a:srgbClr val="C4C4C1"/>
                      </a:solidFill>
                      <a:prstDash val="solid"/>
                    </a:lnL>
                    <a:lnR w="12700" cmpd="sng">
                      <a:solidFill>
                        <a:srgbClr val="C4C4C1"/>
                      </a:solidFill>
                      <a:prstDash val="solid"/>
                    </a:lnR>
                    <a:lnT w="12700" cmpd="sng">
                      <a:solidFill>
                        <a:srgbClr val="CBCBCB"/>
                      </a:solidFill>
                      <a:prstDash val="solid"/>
                    </a:lnT>
                    <a:lnB w="12700" cmpd="sng">
                      <a:solidFill>
                        <a:srgbClr val="C4C4C1"/>
                      </a:solidFill>
                      <a:prstDash val="solid"/>
                    </a:lnB>
                    <a:solidFill>
                      <a:srgbClr val="F6F6F2"/>
                    </a:solidFill>
                  </a:tcPr>
                </a:tc>
              </a:tr>
              <a:tr h="418270">
                <a:tc>
                  <a:txBody>
                    <a:bodyPr/>
                    <a:lstStyle/>
                    <a:p>
                      <a:pPr marL="0" indent="0">
                        <a:lnSpc>
                          <a:spcPts val="1604"/>
                        </a:lnSpc>
                        <a:buNone/>
                      </a:pPr>
                      <a:r>
                        <a:rPr sz="1146">
                          <a:solidFill>
                            <a:srgbClr val="10202A"/>
                          </a:solidFill>
                          <a:latin typeface="IBM Plex Sans"/>
                          <a:ea typeface="IBM Plex Sans"/>
                          <a:cs typeface="IBM Plex Sans"/>
                        </a:rPr>
                        <a:t>Model proposal points away</a:t>
                      </a:r>
                      <a:endParaRPr sz="1146">
                        <a:latin typeface="IBM Plex Sans"/>
                        <a:ea typeface="IBM Plex Sans"/>
                        <a:cs typeface="IBM Plex Sans"/>
                      </a:endParaRPr>
                    </a:p>
                  </a:txBody>
                  <a:tcPr marL="127000" marR="127000" marT="101600" marB="101600" anchor="t">
                    <a:lnL w="12700" cmpd="sng">
                      <a:solidFill>
                        <a:srgbClr val="BBBBB6"/>
                      </a:solidFill>
                      <a:prstDash val="solid"/>
                    </a:lnL>
                    <a:lnR w="12700" cmpd="sng">
                      <a:solidFill>
                        <a:srgbClr val="CBCBCB"/>
                      </a:solidFill>
                      <a:prstDash val="solid"/>
                    </a:lnR>
                    <a:lnT w="12700" cmpd="sng">
                      <a:solidFill>
                        <a:srgbClr val="C4C4C1"/>
                      </a:solidFill>
                      <a:prstDash val="solid"/>
                    </a:lnT>
                    <a:lnB w="12700" cmpd="sng">
                      <a:solidFill>
                        <a:srgbClr val="CBCBCB"/>
                      </a:solidFill>
                      <a:prstDash val="solid"/>
                    </a:lnB>
                    <a:solidFill>
                      <a:srgbClr val="FFFFFF"/>
                    </a:solidFill>
                  </a:tcPr>
                </a:tc>
                <a:tc>
                  <a:txBody>
                    <a:bodyPr/>
                    <a:lstStyle/>
                    <a:p>
                      <a:pPr marL="0" indent="0">
                        <a:lnSpc>
                          <a:spcPts val="1604"/>
                        </a:lnSpc>
                        <a:buNone/>
                      </a:pPr>
                      <a:r>
                        <a:rPr sz="1146">
                          <a:solidFill>
                            <a:srgbClr val="9C5308"/>
                          </a:solidFill>
                          <a:latin typeface="IBM Plex Sans"/>
                          <a:ea typeface="IBM Plex Sans"/>
                          <a:cs typeface="IBM Plex Sans"/>
                        </a:rPr>
                        <a:t>replaced by the leader direction</a:t>
                      </a:r>
                      <a:endParaRPr sz="1146">
                        <a:latin typeface="IBM Plex Sans"/>
                        <a:ea typeface="IBM Plex Sans"/>
                        <a:cs typeface="IBM Plex Sans"/>
                      </a:endParaRPr>
                    </a:p>
                  </a:txBody>
                  <a:tcPr marL="127000" marR="127000" marT="101600" marB="101600" anchor="t">
                    <a:lnL w="12700" cmpd="sng">
                      <a:solidFill>
                        <a:srgbClr val="CBCBCB"/>
                      </a:solidFill>
                      <a:prstDash val="solid"/>
                    </a:lnL>
                    <a:lnR w="12700" cmpd="sng">
                      <a:solidFill>
                        <a:srgbClr val="CBCBCB"/>
                      </a:solidFill>
                      <a:prstDash val="solid"/>
                    </a:lnR>
                    <a:lnT w="12700" cmpd="sng">
                      <a:solidFill>
                        <a:srgbClr val="C4C4C1"/>
                      </a:solidFill>
                      <a:prstDash val="solid"/>
                    </a:lnT>
                    <a:lnB w="12700" cmpd="sng">
                      <a:solidFill>
                        <a:srgbClr val="CBCBCB"/>
                      </a:solidFill>
                      <a:prstDash val="solid"/>
                    </a:lnB>
                    <a:solidFill>
                      <a:srgbClr val="FFFFFF"/>
                    </a:solidFill>
                  </a:tcPr>
                </a:tc>
                <a:tc>
                  <a:txBody>
                    <a:bodyPr/>
                    <a:lstStyle/>
                    <a:p>
                      <a:pPr marL="0" indent="0">
                        <a:lnSpc>
                          <a:spcPts val="1604"/>
                        </a:lnSpc>
                        <a:buNone/>
                      </a:pPr>
                      <a:r>
                        <a:rPr sz="1146">
                          <a:solidFill>
                            <a:srgbClr val="9C5308"/>
                          </a:solidFill>
                          <a:latin typeface="IBM Plex Sans"/>
                          <a:ea typeface="IBM Plex Sans"/>
                          <a:cs typeface="IBM Plex Sans"/>
                        </a:rPr>
                        <a:t>replaced by the leader bearing term</a:t>
                      </a:r>
                      <a:endParaRPr sz="1146">
                        <a:latin typeface="IBM Plex Sans"/>
                        <a:ea typeface="IBM Plex Sans"/>
                        <a:cs typeface="IBM Plex Sans"/>
                      </a:endParaRPr>
                    </a:p>
                  </a:txBody>
                  <a:tcPr marL="127000" marR="127000" marT="101600" marB="101600" anchor="t">
                    <a:lnL w="12700" cmpd="sng">
                      <a:solidFill>
                        <a:srgbClr val="CBCBCB"/>
                      </a:solidFill>
                      <a:prstDash val="solid"/>
                    </a:lnL>
                    <a:lnR w="12700" cmpd="sng">
                      <a:solidFill>
                        <a:srgbClr val="CBCBCB"/>
                      </a:solidFill>
                      <a:prstDash val="solid"/>
                    </a:lnR>
                    <a:lnT w="12700" cmpd="sng">
                      <a:solidFill>
                        <a:srgbClr val="C4C4C1"/>
                      </a:solidFill>
                      <a:prstDash val="solid"/>
                    </a:lnT>
                    <a:lnB w="12700" cmpd="sng">
                      <a:solidFill>
                        <a:srgbClr val="CBCBCB"/>
                      </a:solidFill>
                      <a:prstDash val="solid"/>
                    </a:lnB>
                    <a:solidFill>
                      <a:srgbClr val="FFFFFF"/>
                    </a:solidFill>
                  </a:tcPr>
                </a:tc>
              </a:tr>
              <a:tr h="621065">
                <a:tc>
                  <a:txBody>
                    <a:bodyPr/>
                    <a:lstStyle/>
                    <a:p>
                      <a:pPr marL="0" indent="0">
                        <a:lnSpc>
                          <a:spcPts val="1604"/>
                        </a:lnSpc>
                        <a:buNone/>
                      </a:pPr>
                      <a:r>
                        <a:rPr sz="1146">
                          <a:solidFill>
                            <a:srgbClr val="10202A"/>
                          </a:solidFill>
                          <a:latin typeface="IBM Plex Sans"/>
                          <a:ea typeface="IBM Plex Sans"/>
                          <a:cs typeface="IBM Plex Sans"/>
                        </a:rPr>
                        <a:t>Every case above, after fusion</a:t>
                      </a:r>
                      <a:endParaRPr sz="1146">
                        <a:latin typeface="IBM Plex Sans"/>
                        <a:ea typeface="IBM Plex Sans"/>
                        <a:cs typeface="IBM Plex Sans"/>
                      </a:endParaRPr>
                    </a:p>
                  </a:txBody>
                  <a:tcPr marL="127000" marR="127000" marT="101600" marB="101600" anchor="t">
                    <a:lnL w="12700" cmpd="sng">
                      <a:solidFill>
                        <a:srgbClr val="BBBBB6"/>
                      </a:solidFill>
                      <a:prstDash val="solid"/>
                    </a:lnL>
                    <a:lnR w="12700" cmpd="sng">
                      <a:solidFill>
                        <a:srgbClr val="C4C4C1"/>
                      </a:solidFill>
                      <a:prstDash val="solid"/>
                    </a:lnR>
                    <a:lnT w="12700" cmpd="sng">
                      <a:solidFill>
                        <a:srgbClr val="CBCBCB"/>
                      </a:solidFill>
                      <a:prstDash val="solid"/>
                    </a:lnT>
                    <a:lnB w="12700" cmpd="sng">
                      <a:solidFill>
                        <a:srgbClr val="C4C4C1"/>
                      </a:solidFill>
                      <a:prstDash val="solid"/>
                    </a:lnB>
                    <a:solidFill>
                      <a:srgbClr val="F6F6F2"/>
                    </a:solidFill>
                  </a:tcPr>
                </a:tc>
                <a:tc>
                  <a:txBody>
                    <a:bodyPr/>
                    <a:lstStyle/>
                    <a:p>
                      <a:pPr marL="0" indent="0">
                        <a:lnSpc>
                          <a:spcPts val="1604"/>
                        </a:lnSpc>
                        <a:buNone/>
                      </a:pPr>
                      <a:r>
                        <a:rPr sz="1146">
                          <a:solidFill>
                            <a:srgbClr val="4D5A63"/>
                          </a:solidFill>
                          <a:latin typeface="IBM Plex Sans"/>
                          <a:ea typeface="IBM Plex Sans"/>
                          <a:cs typeface="IBM Plex Sans"/>
                        </a:rPr>
                        <a:t>speed = min(0.4 × distance error, 0.20 m/s), floored at the model's own speed or 0.04</a:t>
                      </a:r>
                      <a:endParaRPr sz="1146">
                        <a:latin typeface="IBM Plex Sans"/>
                        <a:ea typeface="IBM Plex Sans"/>
                        <a:cs typeface="IBM Plex Sans"/>
                      </a:endParaRPr>
                    </a:p>
                  </a:txBody>
                  <a:tcPr marL="127000" marR="127000" marT="101600" marB="101600" anchor="t">
                    <a:lnL w="12700" cmpd="sng">
                      <a:solidFill>
                        <a:srgbClr val="C4C4C1"/>
                      </a:solidFill>
                      <a:prstDash val="solid"/>
                    </a:lnL>
                    <a:lnR w="12700" cmpd="sng">
                      <a:solidFill>
                        <a:srgbClr val="C4C4C1"/>
                      </a:solidFill>
                      <a:prstDash val="solid"/>
                    </a:lnR>
                    <a:lnT w="12700" cmpd="sng">
                      <a:solidFill>
                        <a:srgbClr val="CBCBCB"/>
                      </a:solidFill>
                      <a:prstDash val="solid"/>
                    </a:lnT>
                    <a:lnB w="12700" cmpd="sng">
                      <a:solidFill>
                        <a:srgbClr val="C4C4C1"/>
                      </a:solidFill>
                      <a:prstDash val="solid"/>
                    </a:lnB>
                    <a:solidFill>
                      <a:srgbClr val="F6F6F2"/>
                    </a:solidFill>
                  </a:tcPr>
                </a:tc>
                <a:tc>
                  <a:txBody>
                    <a:bodyPr/>
                    <a:lstStyle/>
                    <a:p>
                      <a:pPr marL="0" indent="0">
                        <a:lnSpc>
                          <a:spcPts val="1604"/>
                        </a:lnSpc>
                        <a:buNone/>
                      </a:pPr>
                      <a:r>
                        <a:rPr sz="1146">
                          <a:solidFill>
                            <a:srgbClr val="4D5A63"/>
                          </a:solidFill>
                          <a:latin typeface="IBM Plex Sans"/>
                          <a:ea typeface="IBM Plex Sans"/>
                          <a:cs typeface="IBM Plex Sans"/>
                        </a:rPr>
                        <a:t>yaw = 0.8 × bearing, clipped to 0.35 rad/s</a:t>
                      </a:r>
                      <a:endParaRPr sz="1146">
                        <a:latin typeface="IBM Plex Sans"/>
                        <a:ea typeface="IBM Plex Sans"/>
                        <a:cs typeface="IBM Plex Sans"/>
                      </a:endParaRPr>
                    </a:p>
                  </a:txBody>
                  <a:tcPr marL="127000" marR="127000" marT="101600" marB="101600" anchor="t">
                    <a:lnL w="12700" cmpd="sng">
                      <a:solidFill>
                        <a:srgbClr val="C4C4C1"/>
                      </a:solidFill>
                      <a:prstDash val="solid"/>
                    </a:lnL>
                    <a:lnR w="12700" cmpd="sng">
                      <a:solidFill>
                        <a:srgbClr val="C4C4C1"/>
                      </a:solidFill>
                      <a:prstDash val="solid"/>
                    </a:lnR>
                    <a:lnT w="12700" cmpd="sng">
                      <a:solidFill>
                        <a:srgbClr val="CBCBCB"/>
                      </a:solidFill>
                      <a:prstDash val="solid"/>
                    </a:lnT>
                    <a:lnB w="12700" cmpd="sng">
                      <a:solidFill>
                        <a:srgbClr val="C4C4C1"/>
                      </a:solidFill>
                      <a:prstDash val="solid"/>
                    </a:lnB>
                    <a:solidFill>
                      <a:srgbClr val="F6F6F2"/>
                    </a:solidFill>
                  </a:tcPr>
                </a:tc>
              </a:tr>
            </a:tbl>
          </a:graphicData>
        </a:graphic>
      </p:graphicFrame>
      <p:sp>
        <p:nvSpPr>
          <p:cNvPr id="7" name="Shape 4">
            <a:extLst xmlns:a="http://schemas.openxmlformats.org/drawingml/2006/main">
              <a:ext uri="{FF2B5EF4-FFF2-40B4-BE49-F238E27FC236}">
                <a16:creationId xmlns:a16="http://schemas.microsoft.com/office/drawing/2014/main" id="{14CE52F0-B2F8-4458-B5C0-51EC191696E8}"/>
              </a:ext>
            </a:extLst>
          </p:cNvPr>
          <p:cNvSpPr>
            <a:spLocks xmlns:a="http://schemas.openxmlformats.org/drawingml/2006/main" noGrp="1"/>
          </p:cNvSpPr>
          <p:nvPr/>
        </p:nvSpPr>
        <p:spPr>
          <a:xfrm xmlns:a="http://schemas.openxmlformats.org/drawingml/2006/main">
            <a:off x="812720" y="4766357"/>
            <a:ext cx="5194323" cy="1075656"/>
          </a:xfrm>
          <a:prstGeom xmlns:a="http://schemas.openxmlformats.org/drawingml/2006/main" prst="roundRect">
            <a:avLst>
              <a:gd name="adj" fmla="val 7084"/>
            </a:avLst>
          </a:prstGeom>
          <a:solidFill xmlns:a="http://schemas.openxmlformats.org/drawingml/2006/main">
            <a:srgbClr val="F6F6F2"/>
          </a:solidFill>
        </p:spPr>
      </p:sp>
      <p:sp>
        <p:nvSpPr>
          <p:cNvPr id="8" name="Shape 5">
            <a:extLst xmlns:a="http://schemas.openxmlformats.org/drawingml/2006/main">
              <a:ext uri="{FF2B5EF4-FFF2-40B4-BE49-F238E27FC236}">
                <a16:creationId xmlns:a16="http://schemas.microsoft.com/office/drawing/2014/main" id="{933398AC-DA8B-48A1-8049-8B7F262BEE58}"/>
              </a:ext>
            </a:extLst>
          </p:cNvPr>
          <p:cNvSpPr>
            <a:spLocks xmlns:a="http://schemas.openxmlformats.org/drawingml/2006/main" noGrp="1"/>
          </p:cNvSpPr>
          <p:nvPr/>
        </p:nvSpPr>
        <p:spPr>
          <a:xfrm xmlns:a="http://schemas.openxmlformats.org/drawingml/2006/main">
            <a:off x="812720" y="4766357"/>
            <a:ext cx="5194323" cy="1075656"/>
          </a:xfrm>
          <a:custGeom xmlns:a="http://schemas.openxmlformats.org/drawingml/2006/main">
            <a:rect l="l" t="t" r="r" b="b"/>
            <a:pathLst>
              <a:path w="5194323" h="1075656">
                <a:moveTo>
                  <a:pt x="76200" y="1075656"/>
                </a:moveTo>
                <a:lnTo>
                  <a:pt x="76200" y="1075656"/>
                </a:lnTo>
                <a:arcTo wR="76200" hR="76200" stAng="5400000" swAng="5400000"/>
                <a:lnTo>
                  <a:pt x="0" y="76200"/>
                </a:lnTo>
                <a:arcTo wR="76200" hR="76200" stAng="10800000" swAng="5400000"/>
                <a:lnTo>
                  <a:pt x="76200" y="0"/>
                </a:lnTo>
                <a:arcTo wR="38100" hR="76200" stAng="16200000" swAng="-5400000"/>
                <a:lnTo>
                  <a:pt x="38100" y="999456"/>
                </a:lnTo>
                <a:arcTo wR="38100" hR="76200" stAng="10800000" swAng="-5400000"/>
                <a:close/>
              </a:path>
            </a:pathLst>
          </a:custGeom>
          <a:solidFill xmlns:a="http://schemas.openxmlformats.org/drawingml/2006/main">
            <a:srgbClr val="0F7D76"/>
          </a:solidFill>
        </p:spPr>
      </p:sp>
      <p:sp>
        <p:nvSpPr>
          <p:cNvPr id="9" name="Text 6">
            <a:extLst xmlns:a="http://schemas.openxmlformats.org/drawingml/2006/main">
              <a:ext uri="{FF2B5EF4-FFF2-40B4-BE49-F238E27FC236}">
                <a16:creationId xmlns:a16="http://schemas.microsoft.com/office/drawing/2014/main" id="{08E65185-EE36-4E93-8144-AE8F591FB9B5}"/>
              </a:ext>
            </a:extLst>
          </p:cNvPr>
          <p:cNvSpPr>
            <a:spLocks xmlns:a="http://schemas.openxmlformats.org/drawingml/2006/main" noGrp="1"/>
          </p:cNvSpPr>
          <p:nvPr/>
        </p:nvSpPr>
        <p:spPr>
          <a:xfrm xmlns:a="http://schemas.openxmlformats.org/drawingml/2006/main">
            <a:off x="1050700" y="4918757"/>
            <a:ext cx="4895737" cy="79625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86467"/>
          </a:bodyPr>
          <a:lstStyle xmlns:a="http://schemas.openxmlformats.org/drawingml/2006/main"/>
          <a:p xmlns:a="http://schemas.openxmlformats.org/drawingml/2006/main">
            <a:pPr marL="0" indent="0" algn="l">
              <a:lnSpc>
                <a:spcPts val="2030"/>
              </a:lnSpc>
              <a:buNone/>
            </a:pPr>
            <a:r>
              <a:rPr sz="1400">
                <a:solidFill>
                  <a:srgbClr val="10202A"/>
                </a:solidFill>
                <a:latin typeface="IBM Plex Sans"/>
                <a:ea typeface="IBM Plex Sans"/>
                <a:cs typeface="IBM Plex Sans"/>
              </a:rPr>
              <a:t>The model keeps a 25% role only when its direction already agrees with the measured leader direction. This can bend the command away from a purely direct pursuit, but it does not guarantee obstacle avoidance.</a:t>
            </a:r>
            <a:endParaRPr sz="1400"/>
          </a:p>
        </p:txBody>
      </p:sp>
      <p:sp>
        <p:nvSpPr>
          <p:cNvPr id="10" name="Shape 7">
            <a:extLst xmlns:a="http://schemas.openxmlformats.org/drawingml/2006/main">
              <a:ext uri="{FF2B5EF4-FFF2-40B4-BE49-F238E27FC236}">
                <a16:creationId xmlns:a16="http://schemas.microsoft.com/office/drawing/2014/main" id="{97C379D3-4D92-47C2-8196-B599907B3EFF}"/>
              </a:ext>
            </a:extLst>
          </p:cNvPr>
          <p:cNvSpPr>
            <a:spLocks xmlns:a="http://schemas.openxmlformats.org/drawingml/2006/main" noGrp="1"/>
          </p:cNvSpPr>
          <p:nvPr/>
        </p:nvSpPr>
        <p:spPr>
          <a:xfrm xmlns:a="http://schemas.openxmlformats.org/drawingml/2006/main">
            <a:off x="6184839" y="4766357"/>
            <a:ext cx="5194414" cy="1075656"/>
          </a:xfrm>
          <a:prstGeom xmlns:a="http://schemas.openxmlformats.org/drawingml/2006/main" prst="roundRect">
            <a:avLst>
              <a:gd name="adj" fmla="val 7084"/>
            </a:avLst>
          </a:prstGeom>
          <a:solidFill xmlns:a="http://schemas.openxmlformats.org/drawingml/2006/main">
            <a:srgbClr val="F6F6F2"/>
          </a:solidFill>
        </p:spPr>
      </p:sp>
      <p:sp>
        <p:nvSpPr>
          <p:cNvPr id="11" name="Shape 8">
            <a:extLst xmlns:a="http://schemas.openxmlformats.org/drawingml/2006/main">
              <a:ext uri="{FF2B5EF4-FFF2-40B4-BE49-F238E27FC236}">
                <a16:creationId xmlns:a16="http://schemas.microsoft.com/office/drawing/2014/main" id="{050E03CB-D730-4864-912A-8786D69221F6}"/>
              </a:ext>
            </a:extLst>
          </p:cNvPr>
          <p:cNvSpPr>
            <a:spLocks xmlns:a="http://schemas.openxmlformats.org/drawingml/2006/main" noGrp="1"/>
          </p:cNvSpPr>
          <p:nvPr/>
        </p:nvSpPr>
        <p:spPr>
          <a:xfrm xmlns:a="http://schemas.openxmlformats.org/drawingml/2006/main">
            <a:off x="6184839" y="4766357"/>
            <a:ext cx="5194414" cy="1075656"/>
          </a:xfrm>
          <a:custGeom xmlns:a="http://schemas.openxmlformats.org/drawingml/2006/main">
            <a:rect l="l" t="t" r="r" b="b"/>
            <a:pathLst>
              <a:path w="5194414" h="1075656">
                <a:moveTo>
                  <a:pt x="76200" y="1075656"/>
                </a:moveTo>
                <a:lnTo>
                  <a:pt x="76200" y="1075656"/>
                </a:lnTo>
                <a:arcTo wR="76200" hR="76200" stAng="5400000" swAng="5400000"/>
                <a:lnTo>
                  <a:pt x="0" y="76200"/>
                </a:lnTo>
                <a:arcTo wR="76200" hR="76200" stAng="10800000" swAng="5400000"/>
                <a:lnTo>
                  <a:pt x="76200" y="0"/>
                </a:lnTo>
                <a:arcTo wR="38100" hR="76200" stAng="16200000" swAng="-5400000"/>
                <a:lnTo>
                  <a:pt x="38100" y="999456"/>
                </a:lnTo>
                <a:arcTo wR="38100" hR="76200" stAng="10800000" swAng="-5400000"/>
                <a:close/>
              </a:path>
            </a:pathLst>
          </a:custGeom>
          <a:solidFill xmlns:a="http://schemas.openxmlformats.org/drawingml/2006/main">
            <a:srgbClr val="9C5308"/>
          </a:solidFill>
        </p:spPr>
      </p:sp>
      <p:sp>
        <p:nvSpPr>
          <p:cNvPr id="12" name="Text 9">
            <a:extLst xmlns:a="http://schemas.openxmlformats.org/drawingml/2006/main">
              <a:ext uri="{FF2B5EF4-FFF2-40B4-BE49-F238E27FC236}">
                <a16:creationId xmlns:a16="http://schemas.microsoft.com/office/drawing/2014/main" id="{3E381433-B0DA-4D14-9A2A-034E52252FA1}"/>
              </a:ext>
            </a:extLst>
          </p:cNvPr>
          <p:cNvSpPr>
            <a:spLocks xmlns:a="http://schemas.openxmlformats.org/drawingml/2006/main" noGrp="1"/>
          </p:cNvSpPr>
          <p:nvPr/>
        </p:nvSpPr>
        <p:spPr>
          <a:xfrm xmlns:a="http://schemas.openxmlformats.org/drawingml/2006/main">
            <a:off x="6422820" y="4918757"/>
            <a:ext cx="4895830" cy="79625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95842"/>
          </a:bodyPr>
          <a:lstStyle xmlns:a="http://schemas.openxmlformats.org/drawingml/2006/main"/>
          <a:p xmlns:a="http://schemas.openxmlformats.org/drawingml/2006/main">
            <a:pPr marL="0" indent="0" algn="l">
              <a:lnSpc>
                <a:spcPts val="2030"/>
              </a:lnSpc>
              <a:buNone/>
            </a:pPr>
            <a:r>
              <a:rPr sz="1400">
                <a:solidFill>
                  <a:srgbClr val="10202A"/>
                </a:solidFill>
                <a:latin typeface="IBM Plex Sans"/>
                <a:ea typeface="IBM Plex Sans"/>
                <a:cs typeface="IBM Plex Sans"/>
              </a:rPr>
              <a:t>When the leader is inside the 0.9 m follow distance, the controller stops translation and may turn. LiDAR checks the final travel corridor and stops or slows for another person or obstacle.</a:t>
            </a:r>
            <a:endParaRPr sz="1400"/>
          </a:p>
        </p:txBody>
      </p:sp>
    </p:spTree>
    <p:extLst>
      <p:ext uri="{BB962C8B-B14F-4D97-AF65-F5344CB8AC3E}">
        <p14:creationId xmlns:p14="http://schemas.microsoft.com/office/powerpoint/2010/main" val="690489614"/>
      </p:ext>
    </p:extLst>
  </p:cSld>
</p:sld>
</file>

<file path=ppt/slides/slide19.xml><?xml version="1.0" encoding="utf-8"?>
<p:sld xmlns:p="http://schemas.openxmlformats.org/presentationml/2006/main">
  <p:cSld>
    <p:bg>
      <p:bgPr>
        <a:solidFill xmlns:a="http://schemas.openxmlformats.org/drawingml/2006/main">
          <a:srgbClr val="10202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0BDCE56-1571-4ADA-85A8-8226EB9A8B82}"/>
              </a:ext>
            </a:extLst>
          </p:cNvPr>
          <p:cNvSpPr>
            <a:spLocks xmlns:a="http://schemas.openxmlformats.org/drawingml/2006/main" noGrp="1"/>
          </p:cNvSpPr>
          <p:nvPr/>
        </p:nvSpPr>
        <p:spPr>
          <a:xfrm xmlns:a="http://schemas.openxmlformats.org/drawingml/2006/main">
            <a:off x="812720" y="812726"/>
            <a:ext cx="10883529" cy="21904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523"/>
              </a:lnSpc>
              <a:buNone/>
            </a:pPr>
            <a:r>
              <a:rPr sz="1088" spc="150">
                <a:solidFill>
                  <a:srgbClr val="4FBFB4"/>
                </a:solidFill>
                <a:latin typeface="JetBrains Mono"/>
                <a:ea typeface="JetBrains Mono"/>
                <a:cs typeface="JetBrains Mono"/>
              </a:rPr>
              <a:t>FOUR SUPERVISED RIDGEBACK TRIALS</a:t>
            </a:r>
            <a:endParaRPr sz="1088"/>
          </a:p>
        </p:txBody>
      </p:sp>
      <p:sp>
        <p:nvSpPr>
          <p:cNvPr id="3" name="Text 1">
            <a:extLst xmlns:a="http://schemas.openxmlformats.org/drawingml/2006/main">
              <a:ext uri="{FF2B5EF4-FFF2-40B4-BE49-F238E27FC236}">
                <a16:creationId xmlns:a16="http://schemas.microsoft.com/office/drawing/2014/main" id="{2093FDFB-7CE8-43D3-90C8-1C5E9E91B7E0}"/>
              </a:ext>
            </a:extLst>
          </p:cNvPr>
          <p:cNvSpPr>
            <a:spLocks xmlns:a="http://schemas.openxmlformats.org/drawingml/2006/main" noGrp="1"/>
          </p:cNvSpPr>
          <p:nvPr/>
        </p:nvSpPr>
        <p:spPr>
          <a:xfrm xmlns:a="http://schemas.openxmlformats.org/drawingml/2006/main">
            <a:off x="812720" y="1260339"/>
            <a:ext cx="10883529" cy="43832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3270"/>
              </a:lnSpc>
              <a:buNone/>
            </a:pPr>
            <a:r>
              <a:rPr sz="2920" b="1">
                <a:solidFill>
                  <a:srgbClr val="F6F6F2"/>
                </a:solidFill>
                <a:latin typeface="IBM Plex Sans"/>
                <a:ea typeface="IBM Plex Sans"/>
                <a:cs typeface="IBM Plex Sans"/>
              </a:rPr>
              <a:t>What the September 29 runs showed</a:t>
            </a:r>
            <a:endParaRPr sz="2920"/>
          </a:p>
        </p:txBody>
      </p:sp>
      <p:sp>
        <p:nvSpPr>
          <p:cNvPr id="4" name="Current evidence">
            <a:extLst xmlns:a="http://schemas.openxmlformats.org/drawingml/2006/main">
              <a:ext uri="{FF2B5EF4-FFF2-40B4-BE49-F238E27FC236}">
                <a16:creationId xmlns:a16="http://schemas.microsoft.com/office/drawing/2014/main" id="{F3A89068-DEF6-4EF7-9487-026E68563E25}"/>
              </a:ext>
            </a:extLst>
          </p:cNvPr>
          <p:cNvSpPr>
            <a:spLocks xmlns:a="http://schemas.openxmlformats.org/drawingml/2006/main" noGrp="1"/>
          </p:cNvSpPr>
          <p:nvPr/>
        </p:nvSpPr>
        <p:spPr>
          <a:xfrm xmlns:a="http://schemas.openxmlformats.org/drawingml/2006/main">
            <a:off x="1047750" y="1952625"/>
            <a:ext cx="10001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nSpc>
                <a:spcPct val="118000"/>
              </a:lnSpc>
              <a:buNone/>
              <a:defRPr sz="1800">
                <a:solidFill>
                  <a:srgbClr val="C7D3D9"/>
                </a:solidFill>
                <a:latin typeface="IBM Plex Sans"/>
                <a:ea typeface="IBM Plex Sans"/>
                <a:cs typeface="IBM Plex Sans"/>
              </a:defRPr>
            </a:pPr>
            <a:r>
              <a:rPr sz="1800">
                <a:solidFill>
                  <a:srgbClr val="C7D3D9"/>
                </a:solidFill>
                <a:latin typeface="IBM Plex Sans"/>
                <a:ea typeface="IBM Plex Sans"/>
                <a:cs typeface="IBM Plex Sans"/>
              </a:rPr>
              <a:t>Four 39.5-second windows tested 25%, 75%, and 100% OmTrackVLA direction, plus 100% target direction. The split affects direction only when target and model proposals align; it does not set speed or bypass target-lock and LiDAR gates. Run A used a blue-basket prompt; B–D used a black T-shirt prompt. Target lock and scene conditions varied, so travel distance cannot rank the fusion weights. Run D also has unresolved movement during a controller-command gap, with possible joystick use. Slides 20–22 give the observations and limits.</a:t>
            </a:r>
          </a:p>
        </p:txBody>
      </p:sp>
    </p:spTree>
    <p:extLst>
      <p:ext uri="{BB962C8B-B14F-4D97-AF65-F5344CB8AC3E}">
        <p14:creationId xmlns:p14="http://schemas.microsoft.com/office/powerpoint/2010/main" val="1331767038"/>
      </p:ext>
    </p:extLst>
  </p:cSld>
</p:sld>
</file>

<file path=ppt/slides/slide20.xml><?xml version="1.0" encoding="utf-8"?>
<p:sld xmlns:p="http://schemas.openxmlformats.org/presentationml/2006/main">
  <p:cSld>
    <p:bg>
      <p:bgPr>
        <a:solidFill xmlns:a="http://schemas.openxmlformats.org/drawingml/2006/main">
          <a:srgbClr val="10202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0BDCE56-1571-4ADA-85A8-8226EB9A8B82}"/>
              </a:ext>
            </a:extLst>
          </p:cNvPr>
          <p:cNvSpPr>
            <a:spLocks xmlns:a="http://schemas.openxmlformats.org/drawingml/2006/main" noGrp="1"/>
          </p:cNvSpPr>
          <p:nvPr/>
        </p:nvSpPr>
        <p:spPr>
          <a:xfrm xmlns:a="http://schemas.openxmlformats.org/drawingml/2006/main">
            <a:off x="812720" y="812726"/>
            <a:ext cx="10883529" cy="21904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523"/>
              </a:lnSpc>
              <a:buNone/>
            </a:pPr>
            <a:r>
              <a:rPr sz="1088" spc="150">
                <a:solidFill>
                  <a:srgbClr val="4FBFB4"/>
                </a:solidFill>
                <a:latin typeface="JetBrains Mono"/>
                <a:ea typeface="JetBrains Mono"/>
                <a:cs typeface="JetBrains Mono"/>
              </a:rPr>
              <a:t>TRIAL RESULTS · A AND B</a:t>
            </a:r>
            <a:endParaRPr sz="1088"/>
          </a:p>
        </p:txBody>
      </p:sp>
      <p:sp>
        <p:nvSpPr>
          <p:cNvPr id="3" name="Text 1">
            <a:extLst xmlns:a="http://schemas.openxmlformats.org/drawingml/2006/main">
              <a:ext uri="{FF2B5EF4-FFF2-40B4-BE49-F238E27FC236}">
                <a16:creationId xmlns:a16="http://schemas.microsoft.com/office/drawing/2014/main" id="{2093FDFB-7CE8-43D3-90C8-1C5E9E91B7E0}"/>
              </a:ext>
            </a:extLst>
          </p:cNvPr>
          <p:cNvSpPr>
            <a:spLocks xmlns:a="http://schemas.openxmlformats.org/drawingml/2006/main" noGrp="1"/>
          </p:cNvSpPr>
          <p:nvPr/>
        </p:nvSpPr>
        <p:spPr>
          <a:xfrm xmlns:a="http://schemas.openxmlformats.org/drawingml/2006/main">
            <a:off x="812720" y="1260339"/>
            <a:ext cx="10883529" cy="43832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3270"/>
              </a:lnSpc>
              <a:buNone/>
            </a:pPr>
            <a:r>
              <a:rPr sz="2920" b="1">
                <a:solidFill>
                  <a:srgbClr val="F6F6F2"/>
                </a:solidFill>
                <a:latin typeface="IBM Plex Sans"/>
                <a:ea typeface="IBM Plex Sans"/>
                <a:cs typeface="IBM Plex Sans"/>
              </a:rPr>
              <a:t>25% versus 75% OmTrackVLA</a:t>
            </a:r>
            <a:endParaRPr sz="2920"/>
          </a:p>
        </p:txBody>
      </p:sp>
      <p:sp>
        <p:nvSpPr>
          <p:cNvPr id="4" name="Current evidence">
            <a:extLst xmlns:a="http://schemas.openxmlformats.org/drawingml/2006/main">
              <a:ext uri="{FF2B5EF4-FFF2-40B4-BE49-F238E27FC236}">
                <a16:creationId xmlns:a16="http://schemas.microsoft.com/office/drawing/2014/main" id="{F3A89068-DEF6-4EF7-9487-026E68563E25}"/>
              </a:ext>
            </a:extLst>
          </p:cNvPr>
          <p:cNvSpPr>
            <a:spLocks xmlns:a="http://schemas.openxmlformats.org/drawingml/2006/main" noGrp="1"/>
          </p:cNvSpPr>
          <p:nvPr/>
        </p:nvSpPr>
        <p:spPr>
          <a:xfrm xmlns:a="http://schemas.openxmlformats.org/drawingml/2006/main">
            <a:off x="1047750" y="1952625"/>
            <a:ext cx="10001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nSpc>
                <a:spcPct val="118000"/>
              </a:lnSpc>
              <a:buNone/>
              <a:defRPr sz="1650">
                <a:solidFill>
                  <a:srgbClr val="C7D3D9"/>
                </a:solidFill>
                <a:latin typeface="IBM Plex Sans"/>
                <a:ea typeface="IBM Plex Sans"/>
                <a:cs typeface="IBM Plex Sans"/>
              </a:defRPr>
            </a:pPr>
            <a:r>
              <a:rPr sz="1650">
                <a:solidFill>
                  <a:srgbClr val="C7D3D9"/>
                </a:solidFill>
                <a:latin typeface="IBM Plex Sans"/>
                <a:ea typeface="IBM Plex Sans"/>
                <a:cs typeface="IBM Plex Sans"/>
              </a:rPr>
              <a:t>A · 25% model / 75% target, blue-basket prompt: LOCKED 78/80; motion gate ready 54/80; wheel-odometry endpoint change 1.26 m. A roughly 10-second stale LiDAR scan blocked commands in 21/80 samples.</a:t>
            </a:r>
          </a:p>
          <a:p xmlns:a="http://schemas.openxmlformats.org/drawingml/2006/main">
            <a:pPr>
              <a:lnSpc>
                <a:spcPct val="118000"/>
              </a:lnSpc>
              <a:buNone/>
              <a:defRPr sz="1800">
                <a:solidFill>
                  <a:srgbClr val="C7D3D9"/>
                </a:solidFill>
                <a:latin typeface="IBM Plex Sans"/>
                <a:ea typeface="IBM Plex Sans"/>
                <a:cs typeface="IBM Plex Sans"/>
              </a:defRPr>
            </a:pPr>
            <a:r>
              <a:rPr sz="1800">
                <a:solidFill>
                  <a:srgbClr val="C7D3D9"/>
                </a:solidFill>
                <a:latin typeface="IBM Plex Sans"/>
                <a:ea typeface="IBM Plex Sans"/>
                <a:cs typeface="IBM Plex Sans"/>
              </a:rPr>
              <a:t/>
            </a:r>
          </a:p>
          <a:p xmlns:a="http://schemas.openxmlformats.org/drawingml/2006/main">
            <a:pPr>
              <a:lnSpc>
                <a:spcPct val="118000"/>
              </a:lnSpc>
              <a:buNone/>
              <a:defRPr sz="1650">
                <a:solidFill>
                  <a:srgbClr val="C7D3D9"/>
                </a:solidFill>
                <a:latin typeface="IBM Plex Sans"/>
                <a:ea typeface="IBM Plex Sans"/>
                <a:cs typeface="IBM Plex Sans"/>
              </a:defRPr>
            </a:pPr>
            <a:r>
              <a:rPr sz="1650">
                <a:solidFill>
                  <a:srgbClr val="C7D3D9"/>
                </a:solidFill>
                <a:latin typeface="IBM Plex Sans"/>
                <a:ea typeface="IBM Plex Sans"/>
                <a:cs typeface="IBM Plex Sans"/>
              </a:rPr>
              <a:t>B · 75% model / 25% target, black-shirt prompt: LOCKED 4/80; target-not-locked gate 76/80; odometry endpoint change 0.109 m. Garment grounding was visible, but appearance recovery lost the target repeatedly. The blend rarely reached a valid motion command.</a:t>
            </a:r>
          </a:p>
          <a:p xmlns:a="http://schemas.openxmlformats.org/drawingml/2006/main">
            <a:pPr>
              <a:lnSpc>
                <a:spcPct val="118000"/>
              </a:lnSpc>
              <a:buNone/>
              <a:defRPr sz="1800">
                <a:solidFill>
                  <a:srgbClr val="C7D3D9"/>
                </a:solidFill>
                <a:latin typeface="IBM Plex Sans"/>
                <a:ea typeface="IBM Plex Sans"/>
                <a:cs typeface="IBM Plex Sans"/>
              </a:defRPr>
            </a:pPr>
            <a:r>
              <a:rPr sz="1800">
                <a:solidFill>
                  <a:srgbClr val="C7D3D9"/>
                </a:solidFill>
                <a:latin typeface="IBM Plex Sans"/>
                <a:ea typeface="IBM Plex Sans"/>
                <a:cs typeface="IBM Plex Sans"/>
              </a:rPr>
              <a:t/>
            </a:r>
          </a:p>
          <a:p xmlns:a="http://schemas.openxmlformats.org/drawingml/2006/main">
            <a:pPr>
              <a:lnSpc>
                <a:spcPct val="118000"/>
              </a:lnSpc>
              <a:buNone/>
              <a:defRPr sz="1650">
                <a:solidFill>
                  <a:srgbClr val="C7D3D9"/>
                </a:solidFill>
                <a:latin typeface="IBM Plex Sans"/>
                <a:ea typeface="IBM Plex Sans"/>
                <a:cs typeface="IBM Plex Sans"/>
              </a:defRPr>
            </a:pPr>
            <a:r>
              <a:rPr sz="1650">
                <a:solidFill>
                  <a:srgbClr val="C7D3D9"/>
                </a:solidFill>
                <a:latin typeface="IBM Plex Sans"/>
                <a:ea typeface="IBM Plex Sans"/>
                <a:cs typeface="IBM Plex Sans"/>
              </a:rPr>
              <a:t>These runs used different prompts and cannot isolate the weight change.</a:t>
            </a:r>
          </a:p>
        </p:txBody>
      </p:sp>
    </p:spTree>
    <p:extLst>
      <p:ext uri="{BB962C8B-B14F-4D97-AF65-F5344CB8AC3E}">
        <p14:creationId xmlns:p14="http://schemas.microsoft.com/office/powerpoint/2010/main" val="1331767038"/>
      </p:ext>
    </p:extLst>
  </p:cSld>
</p:sld>
</file>

<file path=ppt/slides/slide21.xml><?xml version="1.0" encoding="utf-8"?>
<p:sld xmlns:p="http://schemas.openxmlformats.org/presentationml/2006/main">
  <p:cSld>
    <p:bg>
      <p:bgPr>
        <a:solidFill xmlns:a="http://schemas.openxmlformats.org/drawingml/2006/main">
          <a:srgbClr val="10202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0BDCE56-1571-4ADA-85A8-8226EB9A8B82}"/>
              </a:ext>
            </a:extLst>
          </p:cNvPr>
          <p:cNvSpPr>
            <a:spLocks xmlns:a="http://schemas.openxmlformats.org/drawingml/2006/main" noGrp="1"/>
          </p:cNvSpPr>
          <p:nvPr/>
        </p:nvSpPr>
        <p:spPr>
          <a:xfrm xmlns:a="http://schemas.openxmlformats.org/drawingml/2006/main">
            <a:off x="812720" y="812726"/>
            <a:ext cx="10883529" cy="21904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523"/>
              </a:lnSpc>
              <a:buNone/>
            </a:pPr>
            <a:r>
              <a:rPr sz="1088" spc="150">
                <a:solidFill>
                  <a:srgbClr val="4FBFB4"/>
                </a:solidFill>
                <a:latin typeface="JetBrains Mono"/>
                <a:ea typeface="JetBrains Mono"/>
                <a:cs typeface="JetBrains Mono"/>
              </a:rPr>
              <a:t>TRIAL RESULTS · C AND D</a:t>
            </a:r>
            <a:endParaRPr sz="1088"/>
          </a:p>
        </p:txBody>
      </p:sp>
      <p:sp>
        <p:nvSpPr>
          <p:cNvPr id="3" name="Text 1">
            <a:extLst xmlns:a="http://schemas.openxmlformats.org/drawingml/2006/main">
              <a:ext uri="{FF2B5EF4-FFF2-40B4-BE49-F238E27FC236}">
                <a16:creationId xmlns:a16="http://schemas.microsoft.com/office/drawing/2014/main" id="{2093FDFB-7CE8-43D3-90C8-1C5E9E91B7E0}"/>
              </a:ext>
            </a:extLst>
          </p:cNvPr>
          <p:cNvSpPr>
            <a:spLocks xmlns:a="http://schemas.openxmlformats.org/drawingml/2006/main" noGrp="1"/>
          </p:cNvSpPr>
          <p:nvPr/>
        </p:nvSpPr>
        <p:spPr>
          <a:xfrm xmlns:a="http://schemas.openxmlformats.org/drawingml/2006/main">
            <a:off x="812720" y="1260339"/>
            <a:ext cx="10883529" cy="43832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3270"/>
              </a:lnSpc>
              <a:buNone/>
            </a:pPr>
            <a:r>
              <a:rPr sz="2920" b="1">
                <a:solidFill>
                  <a:srgbClr val="F6F6F2"/>
                </a:solidFill>
                <a:latin typeface="IBM Plex Sans"/>
                <a:ea typeface="IBM Plex Sans"/>
                <a:cs typeface="IBM Plex Sans"/>
              </a:rPr>
              <a:t>100% model versus 100% target</a:t>
            </a:r>
            <a:endParaRPr sz="2920"/>
          </a:p>
        </p:txBody>
      </p:sp>
      <p:sp>
        <p:nvSpPr>
          <p:cNvPr id="4" name="Current evidence">
            <a:extLst xmlns:a="http://schemas.openxmlformats.org/drawingml/2006/main">
              <a:ext uri="{FF2B5EF4-FFF2-40B4-BE49-F238E27FC236}">
                <a16:creationId xmlns:a16="http://schemas.microsoft.com/office/drawing/2014/main" id="{F3A89068-DEF6-4EF7-9487-026E68563E25}"/>
              </a:ext>
            </a:extLst>
          </p:cNvPr>
          <p:cNvSpPr>
            <a:spLocks xmlns:a="http://schemas.openxmlformats.org/drawingml/2006/main" noGrp="1"/>
          </p:cNvSpPr>
          <p:nvPr/>
        </p:nvSpPr>
        <p:spPr>
          <a:xfrm xmlns:a="http://schemas.openxmlformats.org/drawingml/2006/main">
            <a:off x="1047750" y="1952625"/>
            <a:ext cx="10001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nSpc>
                <a:spcPct val="118000"/>
              </a:lnSpc>
              <a:buNone/>
              <a:defRPr sz="1575">
                <a:solidFill>
                  <a:srgbClr val="C7D3D9"/>
                </a:solidFill>
                <a:latin typeface="IBM Plex Sans"/>
                <a:ea typeface="IBM Plex Sans"/>
                <a:cs typeface="IBM Plex Sans"/>
              </a:defRPr>
            </a:pPr>
            <a:r>
              <a:rPr sz="1575">
                <a:solidFill>
                  <a:srgbClr val="C7D3D9"/>
                </a:solidFill>
                <a:latin typeface="IBM Plex Sans"/>
                <a:ea typeface="IBM Plex Sans"/>
                <a:cs typeface="IBM Plex Sans"/>
              </a:rPr>
              <a:t>C · 100% model direction when aligned, black-shirt prompt: LOCKED 68/80; ready 64/80; odometry endpoint change 2.17 m. In 41 locked samples the estimated range was at or below the 0.9 m follow distance, so translation stopped. Model direction applied in 26 aligned, outside-distance samples.</a:t>
            </a:r>
          </a:p>
          <a:p xmlns:a="http://schemas.openxmlformats.org/drawingml/2006/main">
            <a:pPr>
              <a:lnSpc>
                <a:spcPct val="118000"/>
              </a:lnSpc>
              <a:buNone/>
              <a:defRPr sz="1800">
                <a:solidFill>
                  <a:srgbClr val="C7D3D9"/>
                </a:solidFill>
                <a:latin typeface="IBM Plex Sans"/>
                <a:ea typeface="IBM Plex Sans"/>
                <a:cs typeface="IBM Plex Sans"/>
              </a:defRPr>
            </a:pPr>
            <a:r>
              <a:rPr sz="1800">
                <a:solidFill>
                  <a:srgbClr val="C7D3D9"/>
                </a:solidFill>
                <a:latin typeface="IBM Plex Sans"/>
                <a:ea typeface="IBM Plex Sans"/>
                <a:cs typeface="IBM Plex Sans"/>
              </a:rPr>
              <a:t/>
            </a:r>
          </a:p>
          <a:p xmlns:a="http://schemas.openxmlformats.org/drawingml/2006/main">
            <a:pPr>
              <a:lnSpc>
                <a:spcPct val="118000"/>
              </a:lnSpc>
              <a:buNone/>
              <a:defRPr sz="1575">
                <a:solidFill>
                  <a:srgbClr val="C7D3D9"/>
                </a:solidFill>
                <a:latin typeface="IBM Plex Sans"/>
                <a:ea typeface="IBM Plex Sans"/>
                <a:cs typeface="IBM Plex Sans"/>
              </a:defRPr>
            </a:pPr>
            <a:r>
              <a:rPr sz="1575">
                <a:solidFill>
                  <a:srgbClr val="C7D3D9"/>
                </a:solidFill>
                <a:latin typeface="IBM Plex Sans"/>
                <a:ea typeface="IBM Plex Sans"/>
                <a:cs typeface="IBM Plex Sans"/>
              </a:rPr>
              <a:t>D · 100% target direction, same prompt: LOCKED 80/80; ready 24/80; rotation suppressed 30/80; obstacle blocked commands 26/80. Odometry endpoint change was 4.26 m, but 0.63 m occurred during a 9.45-second gap in this controller’s commands. Joystick use is possible; the movement source was not recorded.</a:t>
            </a:r>
          </a:p>
        </p:txBody>
      </p:sp>
    </p:spTree>
    <p:extLst>
      <p:ext uri="{BB962C8B-B14F-4D97-AF65-F5344CB8AC3E}">
        <p14:creationId xmlns:p14="http://schemas.microsoft.com/office/powerpoint/2010/main" val="1331767038"/>
      </p:ext>
    </p:extLst>
  </p:cSld>
</p:sld>
</file>

<file path=ppt/slides/slide22.xml><?xml version="1.0" encoding="utf-8"?>
<p:sld xmlns:p="http://schemas.openxmlformats.org/presentationml/2006/main">
  <p:cSld>
    <p:bg>
      <p:bgPr>
        <a:solidFill xmlns:a="http://schemas.openxmlformats.org/drawingml/2006/main">
          <a:srgbClr val="10202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0BDCE56-1571-4ADA-85A8-8226EB9A8B82}"/>
              </a:ext>
            </a:extLst>
          </p:cNvPr>
          <p:cNvSpPr>
            <a:spLocks xmlns:a="http://schemas.openxmlformats.org/drawingml/2006/main" noGrp="1"/>
          </p:cNvSpPr>
          <p:nvPr/>
        </p:nvSpPr>
        <p:spPr>
          <a:xfrm xmlns:a="http://schemas.openxmlformats.org/drawingml/2006/main">
            <a:off x="812720" y="812726"/>
            <a:ext cx="10883529" cy="21904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523"/>
              </a:lnSpc>
              <a:buNone/>
            </a:pPr>
            <a:r>
              <a:rPr sz="1088" spc="150">
                <a:solidFill>
                  <a:srgbClr val="4FBFB4"/>
                </a:solidFill>
                <a:latin typeface="JetBrains Mono"/>
                <a:ea typeface="JetBrains Mono"/>
                <a:cs typeface="JetBrains Mono"/>
              </a:rPr>
              <a:t>CURRENT SETTING · NEXT COMPARISON</a:t>
            </a:r>
            <a:endParaRPr sz="1088"/>
          </a:p>
        </p:txBody>
      </p:sp>
      <p:sp>
        <p:nvSpPr>
          <p:cNvPr id="3" name="Text 1">
            <a:extLst xmlns:a="http://schemas.openxmlformats.org/drawingml/2006/main">
              <a:ext uri="{FF2B5EF4-FFF2-40B4-BE49-F238E27FC236}">
                <a16:creationId xmlns:a16="http://schemas.microsoft.com/office/drawing/2014/main" id="{2093FDFB-7CE8-43D3-90C8-1C5E9E91B7E0}"/>
              </a:ext>
            </a:extLst>
          </p:cNvPr>
          <p:cNvSpPr>
            <a:spLocks xmlns:a="http://schemas.openxmlformats.org/drawingml/2006/main" noGrp="1"/>
          </p:cNvSpPr>
          <p:nvPr/>
        </p:nvSpPr>
        <p:spPr>
          <a:xfrm xmlns:a="http://schemas.openxmlformats.org/drawingml/2006/main">
            <a:off x="812720" y="1260339"/>
            <a:ext cx="10883529" cy="43832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3270"/>
              </a:lnSpc>
              <a:buNone/>
            </a:pPr>
            <a:r>
              <a:rPr sz="2920" b="1">
                <a:solidFill>
                  <a:srgbClr val="F6F6F2"/>
                </a:solidFill>
                <a:latin typeface="IBM Plex Sans"/>
                <a:ea typeface="IBM Plex Sans"/>
                <a:cs typeface="IBM Plex Sans"/>
              </a:rPr>
              <a:t>What we can conclude now</a:t>
            </a:r>
            <a:endParaRPr sz="2920"/>
          </a:p>
        </p:txBody>
      </p:sp>
      <p:sp>
        <p:nvSpPr>
          <p:cNvPr id="4" name="Current evidence">
            <a:extLst xmlns:a="http://schemas.openxmlformats.org/drawingml/2006/main">
              <a:ext uri="{FF2B5EF4-FFF2-40B4-BE49-F238E27FC236}">
                <a16:creationId xmlns:a16="http://schemas.microsoft.com/office/drawing/2014/main" id="{F3A89068-DEF6-4EF7-9487-026E68563E25}"/>
              </a:ext>
            </a:extLst>
          </p:cNvPr>
          <p:cNvSpPr>
            <a:spLocks xmlns:a="http://schemas.openxmlformats.org/drawingml/2006/main" noGrp="1"/>
          </p:cNvSpPr>
          <p:nvPr/>
        </p:nvSpPr>
        <p:spPr>
          <a:xfrm xmlns:a="http://schemas.openxmlformats.org/drawingml/2006/main">
            <a:off x="1047750" y="1952625"/>
            <a:ext cx="10001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nSpc>
                <a:spcPct val="118000"/>
              </a:lnSpc>
              <a:buNone/>
              <a:defRPr sz="1650">
                <a:solidFill>
                  <a:srgbClr val="C7D3D9"/>
                </a:solidFill>
                <a:latin typeface="IBM Plex Sans"/>
                <a:ea typeface="IBM Plex Sans"/>
                <a:cs typeface="IBM Plex Sans"/>
              </a:defRPr>
            </a:pPr>
            <a:r>
              <a:rPr sz="1650">
                <a:solidFill>
                  <a:srgbClr val="C7D3D9"/>
                </a:solidFill>
                <a:latin typeface="IBM Plex Sans"/>
                <a:ea typeface="IBM Plex Sans"/>
                <a:cs typeface="IBM Plex Sans"/>
              </a:rPr>
              <a:t>The current configuration is 75% target direction / 25% OmTrackVLA direction, with the black T-shirt prompt. Run A showed movement with sustained lock but a stale-scan interruption. Run B mostly tested identity recovery, not the 75% model blend. Run C showed model-guided commands during longer lock, with close-range translation stops. Run D showed direct target following and obstacle gates, while command authority was uncertain.</a:t>
            </a:r>
          </a:p>
          <a:p xmlns:a="http://schemas.openxmlformats.org/drawingml/2006/main">
            <a:pPr>
              <a:lnSpc>
                <a:spcPct val="118000"/>
              </a:lnSpc>
              <a:buNone/>
              <a:defRPr sz="1800">
                <a:solidFill>
                  <a:srgbClr val="C7D3D9"/>
                </a:solidFill>
                <a:latin typeface="IBM Plex Sans"/>
                <a:ea typeface="IBM Plex Sans"/>
                <a:cs typeface="IBM Plex Sans"/>
              </a:defRPr>
            </a:pPr>
            <a:r>
              <a:rPr sz="1800">
                <a:solidFill>
                  <a:srgbClr val="C7D3D9"/>
                </a:solidFill>
                <a:latin typeface="IBM Plex Sans"/>
                <a:ea typeface="IBM Plex Sans"/>
                <a:cs typeface="IBM Plex Sans"/>
              </a:rPr>
              <a:t/>
            </a:r>
          </a:p>
          <a:p xmlns:a="http://schemas.openxmlformats.org/drawingml/2006/main">
            <a:pPr>
              <a:lnSpc>
                <a:spcPct val="118000"/>
              </a:lnSpc>
              <a:buNone/>
              <a:defRPr sz="1650">
                <a:solidFill>
                  <a:srgbClr val="C7D3D9"/>
                </a:solidFill>
                <a:latin typeface="IBM Plex Sans"/>
                <a:ea typeface="IBM Plex Sans"/>
                <a:cs typeface="IBM Plex Sans"/>
              </a:defRPr>
            </a:pPr>
            <a:r>
              <a:rPr sz="1650">
                <a:solidFill>
                  <a:srgbClr val="C7D3D9"/>
                </a:solidFill>
                <a:latin typeface="IBM Plex Sans"/>
                <a:ea typeface="IBM Plex Sans"/>
                <a:cs typeface="IBM Plex Sans"/>
              </a:rPr>
              <a:t>No run establishes a target-selection accuracy percentage or a winner among fusion weights. A matched trial needs the same person, prompt, start pose and route, plus continuous target/scan capture and all command-mux inputs and output.</a:t>
            </a:r>
          </a:p>
        </p:txBody>
      </p:sp>
    </p:spTree>
    <p:extLst>
      <p:ext uri="{BB962C8B-B14F-4D97-AF65-F5344CB8AC3E}">
        <p14:creationId xmlns:p14="http://schemas.microsoft.com/office/powerpoint/2010/main" val="1331767038"/>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2026-09-29T14:07:25.1990000Z</dcterms:created>
  <dcterms:modified xsi:type="dcterms:W3CDTF">2026-09-29T14:07:25.1990000Z</dcterms:modified>
</coreProperties>
</file>