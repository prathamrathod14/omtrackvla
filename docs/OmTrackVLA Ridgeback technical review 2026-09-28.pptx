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dcb31911a44b7a" /><Relationship Type="http://schemas.openxmlformats.org/officeDocument/2006/relationships/extended-properties" Target="/docProps/app.xml" Id="R5a8daf541ad149f8" /><Relationship Type="http://schemas.openxmlformats.org/officeDocument/2006/relationships/officeDocument" Target="/ppt/presentation.xml" Id="R0e91896951a048f1" /></Relationships>
</file>

<file path=ppt/presentation.xml><?xml version="1.0" encoding="utf-8"?>
<p:presentation xmlns:p="http://schemas.openxmlformats.org/presentationml/2006/main">
  <p:sldMasterIdLst>
    <p:sldMasterId xmlns:r="http://schemas.openxmlformats.org/officeDocument/2006/relationships" id="2147483648" r:id="Rdda5193dfc324df3"/>
  </p:sldMasterIdLst>
  <p:notesMasterIdLst>
    <p:notesMasterId xmlns:r="http://schemas.openxmlformats.org/officeDocument/2006/relationships" r:id="R37eb6038115442a1"/>
  </p:notesMasterIdLst>
  <p:sldIdLst>
    <p:sldId xmlns:r="http://schemas.openxmlformats.org/officeDocument/2006/relationships" id="256" r:id="Rc25146cc6eb442a2"/>
    <p:sldId xmlns:r="http://schemas.openxmlformats.org/officeDocument/2006/relationships" id="257" r:id="R15538f0cf57a4b66"/>
    <p:sldId xmlns:r="http://schemas.openxmlformats.org/officeDocument/2006/relationships" id="258" r:id="Re263e97ab4784791"/>
    <p:sldId xmlns:r="http://schemas.openxmlformats.org/officeDocument/2006/relationships" id="259" r:id="Rb3547d0e330146cf"/>
    <p:sldId xmlns:r="http://schemas.openxmlformats.org/officeDocument/2006/relationships" id="260" r:id="R3c7e1a5386fc4355"/>
    <p:sldId xmlns:r="http://schemas.openxmlformats.org/officeDocument/2006/relationships" id="261" r:id="R0197c1c2c115476c"/>
    <p:sldId xmlns:r="http://schemas.openxmlformats.org/officeDocument/2006/relationships" id="262" r:id="R8c9f29d2fde44fd7"/>
    <p:sldId xmlns:r="http://schemas.openxmlformats.org/officeDocument/2006/relationships" id="263" r:id="Re4f08d2b245a47de"/>
    <p:sldId xmlns:r="http://schemas.openxmlformats.org/officeDocument/2006/relationships" id="264" r:id="R285262d6652a4d42"/>
    <p:sldId xmlns:r="http://schemas.openxmlformats.org/officeDocument/2006/relationships" id="265" r:id="Re94726165b904c49"/>
    <p:sldId xmlns:r="http://schemas.openxmlformats.org/officeDocument/2006/relationships" id="266" r:id="Rd84f07185ffa43ef"/>
    <p:sldId xmlns:r="http://schemas.openxmlformats.org/officeDocument/2006/relationships" id="267" r:id="R913befc2fbde4312"/>
    <p:sldId xmlns:r="http://schemas.openxmlformats.org/officeDocument/2006/relationships" id="268" r:id="Rbcf58e2c077f4607"/>
    <p:sldId xmlns:r="http://schemas.openxmlformats.org/officeDocument/2006/relationships" id="269" r:id="R72fecdfbd5c8444f"/>
    <p:sldId xmlns:r="http://schemas.openxmlformats.org/officeDocument/2006/relationships" id="270" r:id="R55fdbe15664d46cd"/>
    <p:sldId xmlns:r="http://schemas.openxmlformats.org/officeDocument/2006/relationships" id="271" r:id="R4494d5d4bd16433f"/>
    <p:sldId xmlns:r="http://schemas.openxmlformats.org/officeDocument/2006/relationships" id="272" r:id="Rc72c4a2f8b004403"/>
    <p:sldId xmlns:r="http://schemas.openxmlformats.org/officeDocument/2006/relationships" id="273" r:id="R3f8bcc5bfaec472c"/>
    <p:sldId xmlns:r="http://schemas.openxmlformats.org/officeDocument/2006/relationships" id="274" r:id="Rb4d8d8f5cad34e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15aa0735e844d51" /><Relationship Type="http://schemas.openxmlformats.org/officeDocument/2006/relationships/slideMaster" Target="/ppt/slideMasters/slideMaster1.xml" Id="Rdda5193dfc324df3" /><Relationship Type="http://schemas.openxmlformats.org/officeDocument/2006/relationships/notesMaster" Target="/ppt/notesMasters/notesMaster1.xml" Id="R37eb6038115442a1" /><Relationship Type="http://schemas.openxmlformats.org/officeDocument/2006/relationships/presProps" Target="/ppt/presProps.xml" Id="Rce5865585c7a4876" /><Relationship Type="http://schemas.openxmlformats.org/officeDocument/2006/relationships/viewProps" Target="/ppt/viewProps.xml" Id="Rbee539e401a647b0" /><Relationship Type="http://schemas.openxmlformats.org/officeDocument/2006/relationships/tableStyles" Target="/ppt/tableStyles.xml" Id="R3837b7eda75a4ff5" /><Relationship Type="http://schemas.openxmlformats.org/officeDocument/2006/relationships/slide" Target="/ppt/slides/slide1.xml" Id="Rc25146cc6eb442a2" /><Relationship Type="http://schemas.openxmlformats.org/officeDocument/2006/relationships/slide" Target="/ppt/slides/slide2.xml" Id="R15538f0cf57a4b66" /><Relationship Type="http://schemas.openxmlformats.org/officeDocument/2006/relationships/slide" Target="/ppt/slides/slide3.xml" Id="Re263e97ab4784791" /><Relationship Type="http://schemas.openxmlformats.org/officeDocument/2006/relationships/slide" Target="/ppt/slides/slide4.xml" Id="Rb3547d0e330146cf" /><Relationship Type="http://schemas.openxmlformats.org/officeDocument/2006/relationships/slide" Target="/ppt/slides/slide5.xml" Id="R3c7e1a5386fc4355" /><Relationship Type="http://schemas.openxmlformats.org/officeDocument/2006/relationships/slide" Target="/ppt/slides/slide6.xml" Id="R0197c1c2c115476c" /><Relationship Type="http://schemas.openxmlformats.org/officeDocument/2006/relationships/slide" Target="/ppt/slides/slide7.xml" Id="R8c9f29d2fde44fd7" /><Relationship Type="http://schemas.openxmlformats.org/officeDocument/2006/relationships/slide" Target="/ppt/slides/slide8.xml" Id="Re4f08d2b245a47de" /><Relationship Type="http://schemas.openxmlformats.org/officeDocument/2006/relationships/slide" Target="/ppt/slides/slide9.xml" Id="R285262d6652a4d42" /><Relationship Type="http://schemas.openxmlformats.org/officeDocument/2006/relationships/slide" Target="/ppt/slides/slide10.xml" Id="Re94726165b904c49" /><Relationship Type="http://schemas.openxmlformats.org/officeDocument/2006/relationships/slide" Target="/ppt/slides/slide11.xml" Id="Rd84f07185ffa43ef" /><Relationship Type="http://schemas.openxmlformats.org/officeDocument/2006/relationships/slide" Target="/ppt/slides/slide12.xml" Id="R913befc2fbde4312" /><Relationship Type="http://schemas.openxmlformats.org/officeDocument/2006/relationships/slide" Target="/ppt/slides/slide13.xml" Id="Rbcf58e2c077f4607" /><Relationship Type="http://schemas.openxmlformats.org/officeDocument/2006/relationships/slide" Target="/ppt/slides/slide14.xml" Id="R72fecdfbd5c8444f" /><Relationship Type="http://schemas.openxmlformats.org/officeDocument/2006/relationships/slide" Target="/ppt/slides/slide15.xml" Id="R55fdbe15664d46cd" /><Relationship Type="http://schemas.openxmlformats.org/officeDocument/2006/relationships/slide" Target="/ppt/slides/slide16.xml" Id="R4494d5d4bd16433f" /><Relationship Type="http://schemas.openxmlformats.org/officeDocument/2006/relationships/slide" Target="/ppt/slides/slide17.xml" Id="Rc72c4a2f8b004403" /><Relationship Type="http://schemas.openxmlformats.org/officeDocument/2006/relationships/slide" Target="/ppt/slides/slide18.xml" Id="R3f8bcc5bfaec472c" /><Relationship Type="http://schemas.openxmlformats.org/officeDocument/2006/relationships/slide" Target="/ppt/slides/slide19.xml" Id="Rb4d8d8f5cad34e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136037592a44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7e0a76ed714b9b" /><Relationship Type="http://schemas.openxmlformats.org/officeDocument/2006/relationships/notesMaster" Target="/ppt/notesMasters/notesMaster1.xml" Id="R8c5a0c4eb47445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f69caede9f4aee" /><Relationship Type="http://schemas.openxmlformats.org/officeDocument/2006/relationships/notesMaster" Target="/ppt/notesMasters/notesMaster1.xml" Id="R52e98b00dc344d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7a45b94df3421c" /><Relationship Type="http://schemas.openxmlformats.org/officeDocument/2006/relationships/notesMaster" Target="/ppt/notesMasters/notesMaster1.xml" Id="R63ede49805354a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78a71349234dee" /><Relationship Type="http://schemas.openxmlformats.org/officeDocument/2006/relationships/notesMaster" Target="/ppt/notesMasters/notesMaster1.xml" Id="Re62bcb3a8f2045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f8766c731449af" /><Relationship Type="http://schemas.openxmlformats.org/officeDocument/2006/relationships/notesMaster" Target="/ppt/notesMasters/notesMaster1.xml" Id="Rbae86bebfabf41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794dc078404cf6" /><Relationship Type="http://schemas.openxmlformats.org/officeDocument/2006/relationships/notesMaster" Target="/ppt/notesMasters/notesMaster1.xml" Id="Rc8ca64ae304945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41c7567e5b4005" /><Relationship Type="http://schemas.openxmlformats.org/officeDocument/2006/relationships/notesMaster" Target="/ppt/notesMasters/notesMaster1.xml" Id="R9a18c6c9f17345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5469b1094c4be3" /><Relationship Type="http://schemas.openxmlformats.org/officeDocument/2006/relationships/notesMaster" Target="/ppt/notesMasters/notesMaster1.xml" Id="R3239f371177642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f2cf0d3fe94731" /><Relationship Type="http://schemas.openxmlformats.org/officeDocument/2006/relationships/notesMaster" Target="/ppt/notesMasters/notesMaster1.xml" Id="R1653f44bf5be44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9fedaa922649a4" /><Relationship Type="http://schemas.openxmlformats.org/officeDocument/2006/relationships/notesMaster" Target="/ppt/notesMasters/notesMaster1.xml" Id="R8b6dc4b0d8f44b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5a98ccd2f2498d" /><Relationship Type="http://schemas.openxmlformats.org/officeDocument/2006/relationships/notesMaster" Target="/ppt/notesMasters/notesMaster1.xml" Id="Rde549299d5bc4c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9fbc8d010a43e0" /><Relationship Type="http://schemas.openxmlformats.org/officeDocument/2006/relationships/notesMaster" Target="/ppt/notesMasters/notesMaster1.xml" Id="Redf3c7ab8bfe4e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a4f17d91e8429c" /><Relationship Type="http://schemas.openxmlformats.org/officeDocument/2006/relationships/notesMaster" Target="/ppt/notesMasters/notesMaster1.xml" Id="R0b693c49861149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680deff4f144e8" /><Relationship Type="http://schemas.openxmlformats.org/officeDocument/2006/relationships/notesMaster" Target="/ppt/notesMasters/notesMaster1.xml" Id="Rb3656e7ecac541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2b85614fe64e2c" /><Relationship Type="http://schemas.openxmlformats.org/officeDocument/2006/relationships/notesMaster" Target="/ppt/notesMasters/notesMaster1.xml" Id="R620e9a67a3f246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b2e8d97b7b4748" /><Relationship Type="http://schemas.openxmlformats.org/officeDocument/2006/relationships/notesMaster" Target="/ppt/notesMasters/notesMaster1.xml" Id="R6768fe0458a943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5924ee983a4de6" /><Relationship Type="http://schemas.openxmlformats.org/officeDocument/2006/relationships/notesMaster" Target="/ppt/notesMasters/notesMaster1.xml" Id="Rd59e946574354b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023ed2357b407a" /><Relationship Type="http://schemas.openxmlformats.org/officeDocument/2006/relationships/notesMaster" Target="/ppt/notesMasters/notesMaster1.xml" Id="R8151399d00d041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632b291f3245d0" /><Relationship Type="http://schemas.openxmlformats.org/officeDocument/2006/relationships/notesMaster" Target="/ppt/notesMasters/notesMaster1.xml" Id="R5e171c3f28de44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questions, in order. How does the robot decide which person to follow. How does the OmTrackVLA model turn a camera frame into motion. And how are those two things connected, given that they are separate systems that were never designed to talk to each other.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picture in your head. Top row is detection, bottom row is the planner, and they only come together at the teal box on the right. The small grey lines inside each branch box are the order the next slides follow, so you always know where in this picture we 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clearing rule came from an upstream bug we inherited and fixed: without it, a new episode began with the previous episode's memory, in a different room, following a different person. On the robot the same hazard is a target change, so the buffer is wiped there too.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technical point I most want an opinion on. Three ways out: raise the planner rate and pay the compute, run proper pure pursuit over the whole eight-waypoint path so the horizon matches the control period, or simply select a later waypoint that really does correspond to half a second. I kept upstream parity as the safer starting point, but I do not think it is right.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inference server runs target detection first. While the target is SEARCHING, UNCERTAIN, or LOST, it skips OmTrackVLA visual encoding and waypoint inference and returns a zero command. A September 23 no-target dry run measured about 0.023 s per frame, versus about 0.213 s before this skip. The current target view runs near 3 Hz; the heavier planner is capped at 2 Hz after LOCKED. A cached model path can be reused for at most 0.75 s and must pass the current target and safety checks.</a:t>
            </a:r>
            <a:endParaRPr/>
          </a:p>
          <a:p xmlns:a="http://schemas.openxmlformats.org/drawingml/2006/main">
            <a:r>
              <a:t>Source: docs/PROJECT_CONTEXT.md and docs/COMPUTE_PLACEMENT_PLAN.md, 2026-09-28.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that makes the detection half necessary. A planner that cannot abstain is a planner that will confidently drive you into a wall when the person leaves the frame. Every gate in part three exists because of the right-hand column.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identical real-camera frame was tested with instructions naming a black jacket, a white lab coat, a black chair, and even motion away from the scene. The released checkpoint produced similar forward commands. The values changed slightly, but the comparison did not demonstrate reliable selection of the named person. The local target manager therefore checks identity separately, and the controller joins a depth-localized leader with the raw OmTrackVLA proposal. This observation is one frame, not a general accuracy measurement.</a:t>
            </a:r>
            <a:endParaRPr/>
          </a:p>
          <a:p xmlns:a="http://schemas.openxmlformats.org/drawingml/2006/main">
            <a:r>
              <a:t>Source: docs/PROJECT_CONTEXT.md and docs/COMPUTE_PLACEMENT_PLAN.md, 2026-09-28.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manager runs YOLO11n and BoT-SORT on every 3 Hz target frame so it can detect and track every person in view. While the system is searching or recovering, Grounding DINO runs once every eight target frames to connect the visual attribute in the prompt to a person. A candidate must pass the geometry, colour, and ambiguity checks before the system can lock it. After locking, the tracker and the HSV appearance gallery maintain that identity on each frame. This detection branch returns the target state, track ID, bounding box, scores, and annotated image. It never produces a velocity.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startup instruction is “Follow the person who is holding blue basket.” OmTrackVLA receives that full sentence. The target manager removes action words, extracts “blue basket,” and asks Grounding DINO for “person.” and “blue basket.” as separate phrases. It accepts the basket only when the attribute box lies mostly inside a detected person box, is smaller than that box, and passes the blue colour check. The full instruction still reaches the released planner; the selected target box enters the local controller after inference.</a:t>
            </a:r>
            <a:endParaRPr/>
          </a:p>
          <a:p xmlns:a="http://schemas.openxmlformats.org/drawingml/2006/main">
            <a:r>
              <a:t>Source: docs/PROJECT_CONTEXT.md and docs/COMPUTE_PLACEMENT_PLAN.md, 2026-09-28.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Worth drawing the parallel out loud. Grounding DINO had the same failure mode as OmTrackVLA — the words were there and they were not doing the discriminating. The difference is that Grounding DINO exposes per-phrase boxes and scores, so the failure is observable and fixable from outside. OmTrackVLA exposes nothing.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camera-motion compensation is easy to overlook and it is load-bearing. On a static camera, a box that moves is a person who moved. On the Ridgeback, the whole image shifts whenever the base turns, and without compensation the tracker breaks identity every time the robot rotates — which is constantly, since it is turning to follow someone.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the prompt says “Follow the person with a bag,” the parser treats “bag” as the visual attribute and sends “person.” and “bag.” to Grounding DINO. The target manager checks whether each detected bag lies mostly inside a YOLO person box and is smaller than the person box. Because the prompt contains no colour word, the HSV colour test is skipped. If one person has a strong, unambiguous bag match, that candidate must remain verified for three consecutive target frames before the state becomes LOCKED. If no bag is found, or two people have similarly strong bag matches, the system stays in SEARCHING and the robot does not move.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appearance signature is needed because Grounding DINO runs only occasionally, while the tracker updates every target frame. After the system selects a person, it needs a lightweight way to check that the current track still resembles the same individual and to recover that individual after a brief occlusion without switching to a nearby stranger. The code stores colour distributions from the person’s clothing and compares new observations with that gallery. A poor match changes the state to UNCERTAIN and stops motion. This protects identity between grounding passes, although people wearing similar colours can still look alike to this hand-built descriptor.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manager starts in SEARCHING. One candidate must pass the prompt and appearance checks for three target frames before LOCKED allows motion. If its track disappears or appearance similarity drops below 0.72, the state becomes UNCERTAIN immediately and motion stops. After eight unverified frames it becomes LOST. The original track can recover, or a freshly grounded candidate can recover if it also matches the stored appearance for three frames. LOST has no automatic timeout or identity replacement. The operator uses reset_target when a different person should be selected.</a:t>
            </a:r>
            <a:endParaRPr/>
          </a:p>
          <a:p xmlns:a="http://schemas.openxmlformats.org/drawingml/2006/main">
            <a:r>
              <a:t>Source: docs/PROJECT_CONTEXT.md and docs/COMPUTE_PLACEMENT_PLAN.md, 2026-09-28.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0.35 grounding threshold is the Grounding DINO library default. The 0.25 person confidence was chosen to retain weak detections for tracking. The values 0.15, 0.08, 0.72, 0.85, and the 3/8 frame counts are engineering choices in the local configuration. The observed ranges come from one live trial and did not tune these values. A labelled replay dataset and sensitivity analysis are still needed.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uses two local processes because ROS 2 Jazzy runs in Python 3.12, while OmTrackVLA and CUDA run in Python 3.9. The ROS node receives compressed colour images, depth, LiDAR, E-stop, and deadman messages, then sends the selected JPEG and the full prompt to the inference server through a length-prefixed JSON connection on 127.0.0.1:18765. On the server, target tracking runs at 3 Hz, Grounding DINO runs every eighth target frame while searching or recovering, and OmTrackVLA runs at up to 2 Hz only after the target is locked. The server returns the target state, annotated image, waypoint path, and fields that state whether the planner ran. The ROS node fuses the path with target geometry, applies the safety limits at 20 Hz, and publishes cmd_vel only when every gate passes.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this slide, a branch means one path through the controller’s if/else decision logic. The fusion code first checks the leader’s range and then tests whether the OmTrackVLA direction points generally toward the leader. In the worked example, the projection is +0.96, so the value is positive and the controller selects the agreement branch. That branch blends 75% of the leader direction with 25% of the model direction. A zero or negative projection selects a different branch that replaces the model direction with the leader direction, while unsafe distance cases select a stop branch. “Branch taken” therefore names the rule the controller executed. It is not a model prediction or a measured trial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Row two is a deliberate asymmetry. The follow distance is a floor on approach, not a setpoint to servo to from both sides. If the leader closes on the robot, the robot yields the initiative rather than retreating into whatever is behind it, which the obstacle corridor only partly covers.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suite has 59 passing tests. A clean restarted run used 5,403 MiB of GPU memory and published the Target Tracker view at about 3.08 Hz. Two short offline comparisons reduced locked-frame median latency from 303.8–319.1 ms to 193.2–197.6 ms with shared CUDA vision preprocessing, while preserving target states and permitted-frame counts. Live latency distributions and sustained planner cadence are still unmeasured. In a blue-basket trial, the intended person was LOCKED for 15/15 initial samples, then LOST in 19 of the next 20 statuses before reacquisition. This does not establish reliable sustained following.</a:t>
            </a:r>
            <a:endParaRPr/>
          </a:p>
          <a:p xmlns:a="http://schemas.openxmlformats.org/drawingml/2006/main">
            <a:r>
              <a:t>Source: docs/PROJECT_CONTEXT.md and docs/COMPUTE_PLACEMENT_PLAN.md, 2026-09-28.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9037c44d26451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47242987d34162" /><Relationship Type="http://schemas.openxmlformats.org/officeDocument/2006/relationships/slideLayout" Target="/ppt/slideLayouts/slideLayout1.xml" Id="R3de848a0770a4b0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e848a0770a4b0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ab2ae37ea24a49" /><Relationship Type="http://schemas.openxmlformats.org/officeDocument/2006/relationships/notesSlide" Target="/ppt/notesSlides/notesSlide1.xml" Id="R1926b1e25c4d4e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af949f4eeb49d3" /><Relationship Type="http://schemas.openxmlformats.org/officeDocument/2006/relationships/image" Target="/ppt/media/image.png" Id="Rc5c4af061132426e" /><Relationship Type="http://schemas.openxmlformats.org/officeDocument/2006/relationships/image" Target="/ppt/media/image2.png" Id="R4fab2fe858d049cc" /><Relationship Type="http://schemas.openxmlformats.org/officeDocument/2006/relationships/image" Target="/ppt/media/image3.png" Id="R05ecf0c758a84562" /><Relationship Type="http://schemas.openxmlformats.org/officeDocument/2006/relationships/image" Target="/ppt/media/image4.png" Id="Rc48f4de725ce4463" /><Relationship Type="http://schemas.openxmlformats.org/officeDocument/2006/relationships/image" Target="/ppt/media/image5.png" Id="Rb0ab6822c60041f5" /><Relationship Type="http://schemas.openxmlformats.org/officeDocument/2006/relationships/image" Target="/ppt/media/image6.png" Id="R2d9ea44ac49540b0" /><Relationship Type="http://schemas.openxmlformats.org/officeDocument/2006/relationships/notesSlide" Target="/ppt/notesSlides/notesSlide2.xml" Id="Red665690458243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950cf8f6344ea9" /><Relationship Type="http://schemas.openxmlformats.org/officeDocument/2006/relationships/image" Target="/ppt/media/image7.png" Id="R5a0f30b9b4454fc7" /><Relationship Type="http://schemas.openxmlformats.org/officeDocument/2006/relationships/notesSlide" Target="/ppt/notesSlides/notesSlide3.xml" Id="Rac10c6355c1a4f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86375038df4aa2" /><Relationship Type="http://schemas.openxmlformats.org/officeDocument/2006/relationships/image" Target="/ppt/media/image8.png" Id="R4247d14d6efb44a4" /><Relationship Type="http://schemas.openxmlformats.org/officeDocument/2006/relationships/notesSlide" Target="/ppt/notesSlides/notesSlide4.xml" Id="R906d25bb20d84f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c420bfe5b34d83" /><Relationship Type="http://schemas.openxmlformats.org/officeDocument/2006/relationships/notesSlide" Target="/ppt/notesSlides/notesSlide5.xml" Id="Rbe56a06f7e6740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afdd6d062a4128" /><Relationship Type="http://schemas.openxmlformats.org/officeDocument/2006/relationships/notesSlide" Target="/ppt/notesSlides/notesSlide6.xml" Id="Re0c912c4763b42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273f4aaf49464f" /><Relationship Type="http://schemas.openxmlformats.org/officeDocument/2006/relationships/notesSlide" Target="/ppt/notesSlides/notesSlide7.xml" Id="R565aeaa639324b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a76e8e646d472d" /><Relationship Type="http://schemas.openxmlformats.org/officeDocument/2006/relationships/notesSlide" Target="/ppt/notesSlides/notesSlide8.xml" Id="Rab4047ea83934d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92652f480040ea" /><Relationship Type="http://schemas.openxmlformats.org/officeDocument/2006/relationships/notesSlide" Target="/ppt/notesSlides/notesSlide9.xml" Id="R81919064244e42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81a75660c4246be" /><Relationship Type="http://schemas.openxmlformats.org/officeDocument/2006/relationships/notesSlide" Target="/ppt/notesSlides/notesSlide10.xml" Id="R2fd6ac5c2fbe44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e5c133991134208" /><Relationship Type="http://schemas.openxmlformats.org/officeDocument/2006/relationships/notesSlide" Target="/ppt/notesSlides/notesSlide11.xml" Id="R90e61209d2f94d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43fa2c113fd4725" /><Relationship Type="http://schemas.openxmlformats.org/officeDocument/2006/relationships/notesSlide" Target="/ppt/notesSlides/notesSlide12.xml" Id="R64d3c526fc3f40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73fd41dbd844c11" /><Relationship Type="http://schemas.openxmlformats.org/officeDocument/2006/relationships/notesSlide" Target="/ppt/notesSlides/notesSlide13.xml" Id="R3f2d82f5be3d40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ec8427ca9242e4" /><Relationship Type="http://schemas.openxmlformats.org/officeDocument/2006/relationships/notesSlide" Target="/ppt/notesSlides/notesSlide14.xml" Id="R59c073465b3d46d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4bbd1978e5b4872" /><Relationship Type="http://schemas.openxmlformats.org/officeDocument/2006/relationships/notesSlide" Target="/ppt/notesSlides/notesSlide15.xml" Id="R7f6e1e9b526445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055cf33815415a" /><Relationship Type="http://schemas.openxmlformats.org/officeDocument/2006/relationships/notesSlide" Target="/ppt/notesSlides/notesSlide16.xml" Id="R8de156666ae5466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d631a394b14440b" /><Relationship Type="http://schemas.openxmlformats.org/officeDocument/2006/relationships/notesSlide" Target="/ppt/notesSlides/notesSlide17.xml" Id="R3b8384e917214de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224ebd4da124693" /><Relationship Type="http://schemas.openxmlformats.org/officeDocument/2006/relationships/notesSlide" Target="/ppt/notesSlides/notesSlide18.xml" Id="Re4fd523b63f042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6920a8f3bcf44fb" /><Relationship Type="http://schemas.openxmlformats.org/officeDocument/2006/relationships/notesSlide" Target="/ppt/notesSlides/notesSlide19.xml" Id="Rda4f07c31e5c495f" /></Relationships>
</file>

<file path=ppt/slides/slide1.xml><?xml version="1.0" encoding="utf-8"?>
<p:sld xmlns:p="http://schemas.openxmlformats.org/presentationml/2006/main">
  <p:cSld>
    <p:bg>
      <p:bgPr>
        <a:solidFill xmlns:a="http://schemas.openxmlformats.org/drawingml/2006/main">
          <a:srgbClr val="1020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1D0850-4CDC-48B4-9114-5440D24813C4}"/>
              </a:ext>
            </a:extLst>
          </p:cNvPr>
          <p:cNvSpPr>
            <a:spLocks xmlns:a="http://schemas.openxmlformats.org/drawingml/2006/main" noGrp="1"/>
          </p:cNvSpPr>
          <p:nvPr/>
        </p:nvSpPr>
        <p:spPr>
          <a:xfrm xmlns:a="http://schemas.openxmlformats.org/drawingml/2006/main">
            <a:off x="812720" y="812720"/>
            <a:ext cx="10883529"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50">
                <a:solidFill>
                  <a:srgbClr val="4FBFB4"/>
                </a:solidFill>
                <a:latin typeface="JetBrains Mono"/>
                <a:ea typeface="JetBrains Mono"/>
                <a:cs typeface="JetBrains Mono"/>
              </a:rPr>
              <a:t>TECHNICAL REVIEW</a:t>
            </a:r>
            <a:endParaRPr sz="1200"/>
          </a:p>
        </p:txBody>
      </p:sp>
      <p:sp>
        <p:nvSpPr>
          <p:cNvPr id="3" name="Text 1">
            <a:extLst xmlns:a="http://schemas.openxmlformats.org/drawingml/2006/main">
              <a:ext uri="{FF2B5EF4-FFF2-40B4-BE49-F238E27FC236}">
                <a16:creationId xmlns:a16="http://schemas.microsoft.com/office/drawing/2014/main" id="{FBAE76AA-1AE8-44D8-AD4F-DEFB1DC755F5}"/>
              </a:ext>
            </a:extLst>
          </p:cNvPr>
          <p:cNvSpPr>
            <a:spLocks xmlns:a="http://schemas.openxmlformats.org/drawingml/2006/main" noGrp="1"/>
          </p:cNvSpPr>
          <p:nvPr/>
        </p:nvSpPr>
        <p:spPr>
          <a:xfrm xmlns:a="http://schemas.openxmlformats.org/drawingml/2006/main">
            <a:off x="812720" y="2186998"/>
            <a:ext cx="9810681" cy="15798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120"/>
              </a:lnSpc>
              <a:buNone/>
            </a:pPr>
            <a:r>
              <a:rPr sz="6000" b="1">
                <a:solidFill>
                  <a:srgbClr val="F6F6F2"/>
                </a:solidFill>
                <a:latin typeface="IBM Plex Sans"/>
                <a:ea typeface="IBM Plex Sans"/>
                <a:cs typeface="IBM Plex Sans"/>
              </a:rPr>
              <a:t>OmTrackVLA on a Clearpath Ridgeback</a:t>
            </a:r>
            <a:endParaRPr sz="6000"/>
          </a:p>
        </p:txBody>
      </p:sp>
      <p:sp>
        <p:nvSpPr>
          <p:cNvPr id="4" name="Text 2">
            <a:extLst xmlns:a="http://schemas.openxmlformats.org/drawingml/2006/main">
              <a:ext uri="{FF2B5EF4-FFF2-40B4-BE49-F238E27FC236}">
                <a16:creationId xmlns:a16="http://schemas.microsoft.com/office/drawing/2014/main" id="{3EE6FB1F-F866-4955-ACBA-7F02A3D44284}"/>
              </a:ext>
            </a:extLst>
          </p:cNvPr>
          <p:cNvSpPr>
            <a:spLocks xmlns:a="http://schemas.openxmlformats.org/drawingml/2006/main" noGrp="1"/>
          </p:cNvSpPr>
          <p:nvPr/>
        </p:nvSpPr>
        <p:spPr>
          <a:xfrm xmlns:a="http://schemas.openxmlformats.org/drawingml/2006/main">
            <a:off x="812720" y="3944584"/>
            <a:ext cx="9156617" cy="7518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60"/>
              </a:lnSpc>
              <a:buNone/>
            </a:pPr>
            <a:r>
              <a:rPr sz="2200">
                <a:solidFill>
                  <a:srgbClr val="A9BCC4"/>
                </a:solidFill>
                <a:latin typeface="IBM Plex Sans"/>
                <a:ea typeface="IBM Plex Sans"/>
                <a:cs typeface="IBM Plex Sans"/>
              </a:rPr>
              <a:t>How the person is detected, how the planner works, and how the two are joined.</a:t>
            </a:r>
            <a:endParaRPr sz="2200"/>
          </a:p>
        </p:txBody>
      </p:sp>
      <p:sp>
        <p:nvSpPr>
          <p:cNvPr id="5" name="Text 3">
            <a:extLst xmlns:a="http://schemas.openxmlformats.org/drawingml/2006/main">
              <a:ext uri="{FF2B5EF4-FFF2-40B4-BE49-F238E27FC236}">
                <a16:creationId xmlns:a16="http://schemas.microsoft.com/office/drawing/2014/main" id="{95A6C0D2-B2DD-498F-A67E-CE8B74533840}"/>
              </a:ext>
            </a:extLst>
          </p:cNvPr>
          <p:cNvSpPr>
            <a:spLocks xmlns:a="http://schemas.openxmlformats.org/drawingml/2006/main" noGrp="1"/>
          </p:cNvSpPr>
          <p:nvPr/>
        </p:nvSpPr>
        <p:spPr>
          <a:xfrm xmlns:a="http://schemas.openxmlformats.org/drawingml/2006/main">
            <a:off x="812720" y="5831873"/>
            <a:ext cx="873483"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A9BCC4"/>
                </a:solidFill>
                <a:latin typeface="JetBrains Mono"/>
                <a:ea typeface="JetBrains Mono"/>
                <a:cs typeface="JetBrains Mono"/>
              </a:rPr>
              <a:t>r100-0160</a:t>
            </a:r>
            <a:endParaRPr sz="1200"/>
          </a:p>
        </p:txBody>
      </p:sp>
      <p:sp>
        <p:nvSpPr>
          <p:cNvPr id="6" name="Text 4">
            <a:extLst xmlns:a="http://schemas.openxmlformats.org/drawingml/2006/main">
              <a:ext uri="{FF2B5EF4-FFF2-40B4-BE49-F238E27FC236}">
                <a16:creationId xmlns:a16="http://schemas.microsoft.com/office/drawing/2014/main" id="{39BB7DE8-FB4B-4994-B9FF-3A4EE443F627}"/>
              </a:ext>
            </a:extLst>
          </p:cNvPr>
          <p:cNvSpPr>
            <a:spLocks xmlns:a="http://schemas.openxmlformats.org/drawingml/2006/main" noGrp="1"/>
          </p:cNvSpPr>
          <p:nvPr/>
        </p:nvSpPr>
        <p:spPr>
          <a:xfrm xmlns:a="http://schemas.openxmlformats.org/drawingml/2006/main">
            <a:off x="2041717" y="5831873"/>
            <a:ext cx="1056352"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A9BCC4"/>
                </a:solidFill>
                <a:latin typeface="JetBrains Mono"/>
                <a:ea typeface="JetBrains Mono"/>
                <a:cs typeface="JetBrains Mono"/>
              </a:rPr>
              <a:t>ROS 2 Jazzy</a:t>
            </a:r>
            <a:endParaRPr sz="1200"/>
          </a:p>
        </p:txBody>
      </p:sp>
      <p:sp>
        <p:nvSpPr>
          <p:cNvPr id="7" name="Text 5">
            <a:extLst xmlns:a="http://schemas.openxmlformats.org/drawingml/2006/main">
              <a:ext uri="{FF2B5EF4-FFF2-40B4-BE49-F238E27FC236}">
                <a16:creationId xmlns:a16="http://schemas.microsoft.com/office/drawing/2014/main" id="{F3859EBF-2F26-4F5A-A42A-1AA7790C31AB}"/>
              </a:ext>
            </a:extLst>
          </p:cNvPr>
          <p:cNvSpPr>
            <a:spLocks xmlns:a="http://schemas.openxmlformats.org/drawingml/2006/main" noGrp="1"/>
          </p:cNvSpPr>
          <p:nvPr/>
        </p:nvSpPr>
        <p:spPr>
          <a:xfrm xmlns:a="http://schemas.openxmlformats.org/drawingml/2006/main">
            <a:off x="3453583" y="5831873"/>
            <a:ext cx="1239130"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A9BCC4"/>
                </a:solidFill>
                <a:latin typeface="JetBrains Mono"/>
                <a:ea typeface="JetBrains Mono"/>
                <a:cs typeface="JetBrains Mono"/>
              </a:rPr>
              <a:t>RTX 5060 8 GB</a:t>
            </a:r>
            <a:endParaRPr sz="1200"/>
          </a:p>
        </p:txBody>
      </p:sp>
    </p:spTree>
    <p:extLst>
      <p:ext uri="{BB962C8B-B14F-4D97-AF65-F5344CB8AC3E}">
        <p14:creationId xmlns:p14="http://schemas.microsoft.com/office/powerpoint/2010/main" val="606002032"/>
      </p:ext>
    </p:extLst>
  </p:cSld>
</p:sld>
</file>

<file path=ppt/slides/slide2.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9AE5F5-4A1C-4292-B5F7-5FA7D57F8332}"/>
              </a:ext>
            </a:extLst>
          </p:cNvPr>
          <p:cNvSpPr>
            <a:spLocks xmlns:a="http://schemas.openxmlformats.org/drawingml/2006/main" noGrp="1"/>
          </p:cNvSpPr>
          <p:nvPr/>
        </p:nvSpPr>
        <p:spPr>
          <a:xfrm xmlns:a="http://schemas.openxmlformats.org/drawingml/2006/main">
            <a:off x="812720" y="812720"/>
            <a:ext cx="10883529" cy="197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70"/>
              </a:lnSpc>
              <a:buNone/>
            </a:pPr>
            <a:r>
              <a:rPr sz="979" spc="150">
                <a:solidFill>
                  <a:srgbClr val="0F7D76"/>
                </a:solidFill>
                <a:latin typeface="JetBrains Mono"/>
                <a:ea typeface="JetBrains Mono"/>
                <a:cs typeface="JetBrains Mono"/>
              </a:rPr>
              <a:t>THE WHOLE SYSTEM ON ONE SLIDE</a:t>
            </a:r>
            <a:endParaRPr sz="979"/>
          </a:p>
        </p:txBody>
      </p:sp>
      <p:sp>
        <p:nvSpPr>
          <p:cNvPr id="3" name="Text 1">
            <a:extLst xmlns:a="http://schemas.openxmlformats.org/drawingml/2006/main">
              <a:ext uri="{FF2B5EF4-FFF2-40B4-BE49-F238E27FC236}">
                <a16:creationId xmlns:a16="http://schemas.microsoft.com/office/drawing/2014/main" id="{5FFF3E3A-0BF5-4B12-BA44-228F8B236CC2}"/>
              </a:ext>
            </a:extLst>
          </p:cNvPr>
          <p:cNvSpPr>
            <a:spLocks xmlns:a="http://schemas.openxmlformats.org/drawingml/2006/main" noGrp="1"/>
          </p:cNvSpPr>
          <p:nvPr/>
        </p:nvSpPr>
        <p:spPr>
          <a:xfrm xmlns:a="http://schemas.openxmlformats.org/drawingml/2006/main">
            <a:off x="812720" y="1162516"/>
            <a:ext cx="10883529" cy="75886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25"/>
              </a:lnSpc>
              <a:buNone/>
            </a:pPr>
            <a:r>
              <a:rPr sz="2790" b="1">
                <a:solidFill>
                  <a:srgbClr val="10202A"/>
                </a:solidFill>
                <a:latin typeface="IBM Plex Sans"/>
                <a:ea typeface="IBM Plex Sans"/>
                <a:cs typeface="IBM Plex Sans"/>
              </a:rPr>
              <a:t>One camera frame, two independent answers, joined afterwards</a:t>
            </a:r>
            <a:endParaRPr sz="2790"/>
          </a:p>
        </p:txBody>
      </p:sp>
      <p:sp>
        <p:nvSpPr>
          <p:cNvPr id="4" name="Shape 2">
            <a:extLst xmlns:a="http://schemas.openxmlformats.org/drawingml/2006/main">
              <a:ext uri="{FF2B5EF4-FFF2-40B4-BE49-F238E27FC236}">
                <a16:creationId xmlns:a16="http://schemas.microsoft.com/office/drawing/2014/main" id="{A710B512-DD57-4502-989F-51B6DAE21076}"/>
              </a:ext>
            </a:extLst>
          </p:cNvPr>
          <p:cNvSpPr>
            <a:spLocks xmlns:a="http://schemas.openxmlformats.org/drawingml/2006/main" noGrp="1"/>
          </p:cNvSpPr>
          <p:nvPr/>
        </p:nvSpPr>
        <p:spPr>
          <a:xfrm xmlns:a="http://schemas.openxmlformats.org/drawingml/2006/main">
            <a:off x="812720" y="3216732"/>
            <a:ext cx="1650981" cy="888983"/>
          </a:xfrm>
          <a:prstGeom xmlns:a="http://schemas.openxmlformats.org/drawingml/2006/main" prst="roundRect">
            <a:avLst>
              <a:gd name="adj" fmla="val 8572"/>
            </a:avLst>
          </a:prstGeom>
          <a:solidFill xmlns:a="http://schemas.openxmlformats.org/drawingml/2006/main">
            <a:srgbClr val="10202A"/>
          </a:solidFill>
        </p:spPr>
      </p:sp>
      <p:sp>
        <p:nvSpPr>
          <p:cNvPr id="5" name="Text 3">
            <a:extLst xmlns:a="http://schemas.openxmlformats.org/drawingml/2006/main">
              <a:ext uri="{FF2B5EF4-FFF2-40B4-BE49-F238E27FC236}">
                <a16:creationId xmlns:a16="http://schemas.microsoft.com/office/drawing/2014/main" id="{7697350A-40CE-46C7-9E0A-756897885CBB}"/>
              </a:ext>
            </a:extLst>
          </p:cNvPr>
          <p:cNvSpPr>
            <a:spLocks xmlns:a="http://schemas.openxmlformats.org/drawingml/2006/main" noGrp="1"/>
          </p:cNvSpPr>
          <p:nvPr/>
        </p:nvSpPr>
        <p:spPr>
          <a:xfrm xmlns:a="http://schemas.openxmlformats.org/drawingml/2006/main">
            <a:off x="965065" y="3404674"/>
            <a:ext cx="1397091" cy="2742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F6F6F2"/>
                </a:solidFill>
                <a:latin typeface="IBM Plex Sans"/>
                <a:ea typeface="IBM Plex Sans"/>
                <a:cs typeface="IBM Plex Sans"/>
              </a:rPr>
              <a:t>Camera frame</a:t>
            </a:r>
            <a:endParaRPr sz="1400"/>
          </a:p>
        </p:txBody>
      </p:sp>
      <p:sp>
        <p:nvSpPr>
          <p:cNvPr id="6" name="Text 4">
            <a:extLst xmlns:a="http://schemas.openxmlformats.org/drawingml/2006/main">
              <a:ext uri="{FF2B5EF4-FFF2-40B4-BE49-F238E27FC236}">
                <a16:creationId xmlns:a16="http://schemas.microsoft.com/office/drawing/2014/main" id="{D6E6EE44-2102-487B-B846-C26F6AE32925}"/>
              </a:ext>
            </a:extLst>
          </p:cNvPr>
          <p:cNvSpPr>
            <a:spLocks xmlns:a="http://schemas.openxmlformats.org/drawingml/2006/main" noGrp="1"/>
          </p:cNvSpPr>
          <p:nvPr/>
        </p:nvSpPr>
        <p:spPr>
          <a:xfrm xmlns:a="http://schemas.openxmlformats.org/drawingml/2006/main">
            <a:off x="965065" y="3704292"/>
            <a:ext cx="1397091"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A9BCC4"/>
                </a:solidFill>
                <a:latin typeface="JetBrains Mono"/>
                <a:ea typeface="JetBrains Mono"/>
                <a:cs typeface="JetBrains Mono"/>
              </a:rPr>
              <a:t>+ the prompt</a:t>
            </a:r>
            <a:endParaRPr sz="1200"/>
          </a:p>
        </p:txBody>
      </p:sp>
      <p:sp>
        <p:nvSpPr>
          <p:cNvPr id="7" name="Shape 5">
            <a:extLst xmlns:a="http://schemas.openxmlformats.org/drawingml/2006/main">
              <a:ext uri="{FF2B5EF4-FFF2-40B4-BE49-F238E27FC236}">
                <a16:creationId xmlns:a16="http://schemas.microsoft.com/office/drawing/2014/main" id="{45D67279-8C55-48F4-8C57-0E0D842C434B}"/>
              </a:ext>
            </a:extLst>
          </p:cNvPr>
          <p:cNvSpPr>
            <a:spLocks xmlns:a="http://schemas.openxmlformats.org/drawingml/2006/main" noGrp="1"/>
          </p:cNvSpPr>
          <p:nvPr/>
        </p:nvSpPr>
        <p:spPr>
          <a:xfrm xmlns:a="http://schemas.openxmlformats.org/drawingml/2006/main">
            <a:off x="3101890" y="2267432"/>
            <a:ext cx="3549582" cy="1009618"/>
          </a:xfrm>
          <a:prstGeom xmlns:a="http://schemas.openxmlformats.org/drawingml/2006/main" prst="roundRect">
            <a:avLst>
              <a:gd name="adj" fmla="val 7233"/>
            </a:avLst>
          </a:prstGeom>
          <a:solidFill xmlns:a="http://schemas.openxmlformats.org/drawingml/2006/main">
            <a:srgbClr val="FFFFFF"/>
          </a:solidFill>
          <a:ln xmlns:a="http://schemas.openxmlformats.org/drawingml/2006/main" w="6350">
            <a:solidFill>
              <a:srgbClr val="D9DAD2"/>
            </a:solidFill>
            <a:prstDash val="solid"/>
          </a:ln>
        </p:spPr>
      </p:sp>
      <p:sp>
        <p:nvSpPr>
          <p:cNvPr id="8" name="Text 6">
            <a:extLst xmlns:a="http://schemas.openxmlformats.org/drawingml/2006/main">
              <a:ext uri="{FF2B5EF4-FFF2-40B4-BE49-F238E27FC236}">
                <a16:creationId xmlns:a16="http://schemas.microsoft.com/office/drawing/2014/main" id="{D221F39E-1FC6-45BE-8B5B-28B8170FF15F}"/>
              </a:ext>
            </a:extLst>
          </p:cNvPr>
          <p:cNvSpPr>
            <a:spLocks xmlns:a="http://schemas.openxmlformats.org/drawingml/2006/main" noGrp="1"/>
          </p:cNvSpPr>
          <p:nvPr/>
        </p:nvSpPr>
        <p:spPr>
          <a:xfrm xmlns:a="http://schemas.openxmlformats.org/drawingml/2006/main">
            <a:off x="3244176" y="2409719"/>
            <a:ext cx="3362958" cy="23833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0F7D76"/>
                </a:solidFill>
                <a:latin typeface="JetBrains Mono"/>
                <a:ea typeface="JetBrains Mono"/>
                <a:cs typeface="JetBrains Mono"/>
              </a:rPr>
              <a:t>PART 2 · DETECTION</a:t>
            </a:r>
            <a:endParaRPr sz="1200"/>
          </a:p>
        </p:txBody>
      </p:sp>
      <p:sp>
        <p:nvSpPr>
          <p:cNvPr id="9" name="Text 7">
            <a:extLst xmlns:a="http://schemas.openxmlformats.org/drawingml/2006/main">
              <a:ext uri="{FF2B5EF4-FFF2-40B4-BE49-F238E27FC236}">
                <a16:creationId xmlns:a16="http://schemas.microsoft.com/office/drawing/2014/main" id="{E80E5E24-F782-4DC7-93E3-B17B3F00CF15}"/>
              </a:ext>
            </a:extLst>
          </p:cNvPr>
          <p:cNvSpPr>
            <a:spLocks xmlns:a="http://schemas.openxmlformats.org/drawingml/2006/main" noGrp="1"/>
          </p:cNvSpPr>
          <p:nvPr/>
        </p:nvSpPr>
        <p:spPr>
          <a:xfrm xmlns:a="http://schemas.openxmlformats.org/drawingml/2006/main">
            <a:off x="3244176" y="2660699"/>
            <a:ext cx="3362958" cy="2560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0202A"/>
                </a:solidFill>
                <a:latin typeface="IBM Plex Sans"/>
                <a:ea typeface="IBM Plex Sans"/>
                <a:cs typeface="IBM Plex Sans"/>
              </a:rPr>
              <a:t>Grounding DINO · YOLO · BoT-SORT</a:t>
            </a:r>
            <a:endParaRPr sz="1300"/>
          </a:p>
        </p:txBody>
      </p:sp>
      <p:sp>
        <p:nvSpPr>
          <p:cNvPr id="10" name="Text 8">
            <a:extLst xmlns:a="http://schemas.openxmlformats.org/drawingml/2006/main">
              <a:ext uri="{FF2B5EF4-FFF2-40B4-BE49-F238E27FC236}">
                <a16:creationId xmlns:a16="http://schemas.microsoft.com/office/drawing/2014/main" id="{7F36F5BC-1BA0-4059-BEFA-0DE94EE39BC0}"/>
              </a:ext>
            </a:extLst>
          </p:cNvPr>
          <p:cNvSpPr>
            <a:spLocks xmlns:a="http://schemas.openxmlformats.org/drawingml/2006/main" noGrp="1"/>
          </p:cNvSpPr>
          <p:nvPr/>
        </p:nvSpPr>
        <p:spPr>
          <a:xfrm xmlns:a="http://schemas.openxmlformats.org/drawingml/2006/main">
            <a:off x="3244176" y="2929432"/>
            <a:ext cx="3362958" cy="23073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D5A63"/>
                </a:solidFill>
                <a:latin typeface="JetBrains Mono"/>
                <a:ea typeface="JetBrains Mono"/>
                <a:cs typeface="JetBrains Mono"/>
              </a:rPr>
              <a:t>ground → detect → track → verify</a:t>
            </a:r>
            <a:endParaRPr sz="1200"/>
          </a:p>
        </p:txBody>
      </p:sp>
      <p:sp>
        <p:nvSpPr>
          <p:cNvPr id="11" name="Shape 9">
            <a:extLst xmlns:a="http://schemas.openxmlformats.org/drawingml/2006/main">
              <a:ext uri="{FF2B5EF4-FFF2-40B4-BE49-F238E27FC236}">
                <a16:creationId xmlns:a16="http://schemas.microsoft.com/office/drawing/2014/main" id="{485139C9-D534-45CA-9EDB-F5B0592C6D91}"/>
              </a:ext>
            </a:extLst>
          </p:cNvPr>
          <p:cNvSpPr>
            <a:spLocks xmlns:a="http://schemas.openxmlformats.org/drawingml/2006/main" noGrp="1"/>
          </p:cNvSpPr>
          <p:nvPr/>
        </p:nvSpPr>
        <p:spPr>
          <a:xfrm xmlns:a="http://schemas.openxmlformats.org/drawingml/2006/main">
            <a:off x="3101890" y="4235875"/>
            <a:ext cx="3549582" cy="1009618"/>
          </a:xfrm>
          <a:prstGeom xmlns:a="http://schemas.openxmlformats.org/drawingml/2006/main" prst="roundRect">
            <a:avLst>
              <a:gd name="adj" fmla="val 7233"/>
            </a:avLst>
          </a:prstGeom>
          <a:solidFill xmlns:a="http://schemas.openxmlformats.org/drawingml/2006/main">
            <a:srgbClr val="FFFFFF"/>
          </a:solidFill>
          <a:ln xmlns:a="http://schemas.openxmlformats.org/drawingml/2006/main" w="6350">
            <a:solidFill>
              <a:srgbClr val="D9DAD2"/>
            </a:solidFill>
            <a:prstDash val="solid"/>
          </a:ln>
        </p:spPr>
      </p:sp>
      <p:sp>
        <p:nvSpPr>
          <p:cNvPr id="12" name="Text 10">
            <a:extLst xmlns:a="http://schemas.openxmlformats.org/drawingml/2006/main">
              <a:ext uri="{FF2B5EF4-FFF2-40B4-BE49-F238E27FC236}">
                <a16:creationId xmlns:a16="http://schemas.microsoft.com/office/drawing/2014/main" id="{EDD5D14E-D418-42B6-8998-951B438DE1F9}"/>
              </a:ext>
            </a:extLst>
          </p:cNvPr>
          <p:cNvSpPr>
            <a:spLocks xmlns:a="http://schemas.openxmlformats.org/drawingml/2006/main" noGrp="1"/>
          </p:cNvSpPr>
          <p:nvPr/>
        </p:nvSpPr>
        <p:spPr>
          <a:xfrm xmlns:a="http://schemas.openxmlformats.org/drawingml/2006/main">
            <a:off x="3244176" y="4378161"/>
            <a:ext cx="3362958" cy="1871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270"/>
              </a:lnSpc>
              <a:buNone/>
            </a:pPr>
            <a:r>
              <a:rPr sz="907">
                <a:solidFill>
                  <a:srgbClr val="9C5308"/>
                </a:solidFill>
                <a:latin typeface="JetBrains Mono"/>
                <a:ea typeface="JetBrains Mono"/>
                <a:cs typeface="JetBrains Mono"/>
              </a:rPr>
              <a:t>PART 1 · PLANNING</a:t>
            </a:r>
            <a:endParaRPr sz="907"/>
          </a:p>
        </p:txBody>
      </p:sp>
      <p:sp>
        <p:nvSpPr>
          <p:cNvPr id="13" name="Text 11">
            <a:extLst xmlns:a="http://schemas.openxmlformats.org/drawingml/2006/main">
              <a:ext uri="{FF2B5EF4-FFF2-40B4-BE49-F238E27FC236}">
                <a16:creationId xmlns:a16="http://schemas.microsoft.com/office/drawing/2014/main" id="{B56C91D6-716C-4200-9B68-A1F77FA011E1}"/>
              </a:ext>
            </a:extLst>
          </p:cNvPr>
          <p:cNvSpPr>
            <a:spLocks xmlns:a="http://schemas.openxmlformats.org/drawingml/2006/main" noGrp="1"/>
          </p:cNvSpPr>
          <p:nvPr/>
        </p:nvSpPr>
        <p:spPr>
          <a:xfrm xmlns:a="http://schemas.openxmlformats.org/drawingml/2006/main">
            <a:off x="3244176" y="4577968"/>
            <a:ext cx="3362958" cy="2005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2"/>
              </a:lnSpc>
              <a:buNone/>
            </a:pPr>
            <a:r>
              <a:rPr sz="1016" b="1">
                <a:solidFill>
                  <a:srgbClr val="10202A"/>
                </a:solidFill>
                <a:latin typeface="IBM Plex Sans"/>
                <a:ea typeface="IBM Plex Sans"/>
                <a:cs typeface="IBM Plex Sans"/>
              </a:rPr>
              <a:t>OmTrackVLA 0.6B</a:t>
            </a:r>
            <a:endParaRPr sz="1016"/>
          </a:p>
        </p:txBody>
      </p:sp>
      <p:sp>
        <p:nvSpPr>
          <p:cNvPr id="14" name="Text 12">
            <a:extLst xmlns:a="http://schemas.openxmlformats.org/drawingml/2006/main">
              <a:ext uri="{FF2B5EF4-FFF2-40B4-BE49-F238E27FC236}">
                <a16:creationId xmlns:a16="http://schemas.microsoft.com/office/drawing/2014/main" id="{F5072E79-EA7F-4E1D-BC7B-79B63849F459}"/>
              </a:ext>
            </a:extLst>
          </p:cNvPr>
          <p:cNvSpPr>
            <a:spLocks xmlns:a="http://schemas.openxmlformats.org/drawingml/2006/main" noGrp="1"/>
          </p:cNvSpPr>
          <p:nvPr/>
        </p:nvSpPr>
        <p:spPr>
          <a:xfrm xmlns:a="http://schemas.openxmlformats.org/drawingml/2006/main">
            <a:off x="3244176" y="4791179"/>
            <a:ext cx="3362958" cy="337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235"/>
              </a:lnSpc>
              <a:buNone/>
            </a:pPr>
            <a:r>
              <a:rPr sz="915">
                <a:solidFill>
                  <a:srgbClr val="4D5A63"/>
                </a:solidFill>
                <a:latin typeface="JetBrains Mono"/>
                <a:ea typeface="JetBrains Mono"/>
                <a:cs typeface="JetBrains Mono"/>
              </a:rPr>
              <a:t>encode → align → concatenate → pool → Qwen → head</a:t>
            </a:r>
            <a:endParaRPr sz="915"/>
          </a:p>
        </p:txBody>
      </p:sp>
      <p:sp>
        <p:nvSpPr>
          <p:cNvPr id="15" name="Shape 13">
            <a:extLst xmlns:a="http://schemas.openxmlformats.org/drawingml/2006/main">
              <a:ext uri="{FF2B5EF4-FFF2-40B4-BE49-F238E27FC236}">
                <a16:creationId xmlns:a16="http://schemas.microsoft.com/office/drawing/2014/main" id="{D1607F85-2588-470B-A3D5-BB4049193AE1}"/>
              </a:ext>
            </a:extLst>
          </p:cNvPr>
          <p:cNvSpPr>
            <a:spLocks xmlns:a="http://schemas.openxmlformats.org/drawingml/2006/main" noGrp="1"/>
          </p:cNvSpPr>
          <p:nvPr/>
        </p:nvSpPr>
        <p:spPr>
          <a:xfrm xmlns:a="http://schemas.openxmlformats.org/drawingml/2006/main">
            <a:off x="7038866" y="2330924"/>
            <a:ext cx="1898600" cy="882633"/>
          </a:xfrm>
          <a:prstGeom xmlns:a="http://schemas.openxmlformats.org/drawingml/2006/main" prst="roundRect">
            <a:avLst>
              <a:gd name="adj" fmla="val 8274"/>
            </a:avLst>
          </a:prstGeom>
          <a:solidFill xmlns:a="http://schemas.openxmlformats.org/drawingml/2006/main">
            <a:srgbClr val="FFFFFF"/>
          </a:solidFill>
          <a:ln xmlns:a="http://schemas.openxmlformats.org/drawingml/2006/main" w="6350">
            <a:solidFill>
              <a:srgbClr val="D9DAD2"/>
            </a:solidFill>
            <a:prstDash val="solid"/>
          </a:ln>
        </p:spPr>
      </p:sp>
      <p:sp>
        <p:nvSpPr>
          <p:cNvPr id="16" name="Text 14">
            <a:extLst xmlns:a="http://schemas.openxmlformats.org/drawingml/2006/main">
              <a:ext uri="{FF2B5EF4-FFF2-40B4-BE49-F238E27FC236}">
                <a16:creationId xmlns:a16="http://schemas.microsoft.com/office/drawing/2014/main" id="{3C212728-71D9-4B72-B0F4-0526A2E38934}"/>
              </a:ext>
            </a:extLst>
          </p:cNvPr>
          <p:cNvSpPr>
            <a:spLocks xmlns:a="http://schemas.openxmlformats.org/drawingml/2006/main" noGrp="1"/>
          </p:cNvSpPr>
          <p:nvPr/>
        </p:nvSpPr>
        <p:spPr>
          <a:xfrm xmlns:a="http://schemas.openxmlformats.org/drawingml/2006/main">
            <a:off x="7181152" y="2473211"/>
            <a:ext cx="1664827" cy="2317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1"/>
              </a:lnSpc>
              <a:buNone/>
            </a:pPr>
            <a:r>
              <a:rPr sz="1158" b="1">
                <a:solidFill>
                  <a:srgbClr val="10202A"/>
                </a:solidFill>
                <a:latin typeface="IBM Plex Sans"/>
                <a:ea typeface="IBM Plex Sans"/>
                <a:cs typeface="IBM Plex Sans"/>
              </a:rPr>
              <a:t>A locked box</a:t>
            </a:r>
            <a:endParaRPr sz="1158"/>
          </a:p>
        </p:txBody>
      </p:sp>
      <p:sp>
        <p:nvSpPr>
          <p:cNvPr id="17" name="Text 15">
            <a:extLst xmlns:a="http://schemas.openxmlformats.org/drawingml/2006/main">
              <a:ext uri="{FF2B5EF4-FFF2-40B4-BE49-F238E27FC236}">
                <a16:creationId xmlns:a16="http://schemas.microsoft.com/office/drawing/2014/main" id="{D6A8C94F-0DCB-41AA-BAD1-9782586F13CA}"/>
              </a:ext>
            </a:extLst>
          </p:cNvPr>
          <p:cNvSpPr>
            <a:spLocks xmlns:a="http://schemas.openxmlformats.org/drawingml/2006/main" noGrp="1"/>
          </p:cNvSpPr>
          <p:nvPr/>
        </p:nvSpPr>
        <p:spPr>
          <a:xfrm xmlns:a="http://schemas.openxmlformats.org/drawingml/2006/main">
            <a:off x="7181152" y="2717580"/>
            <a:ext cx="1664827" cy="3790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09"/>
              </a:lnSpc>
              <a:buNone/>
            </a:pPr>
            <a:r>
              <a:rPr sz="1084">
                <a:solidFill>
                  <a:srgbClr val="4D5A63"/>
                </a:solidFill>
                <a:latin typeface="IBM Plex Sans"/>
                <a:ea typeface="IBM Plex Sans"/>
                <a:cs typeface="IBM Plex Sans"/>
              </a:rPr>
              <a:t>turned into metres by depth</a:t>
            </a:r>
            <a:endParaRPr sz="1084"/>
          </a:p>
        </p:txBody>
      </p:sp>
      <p:sp>
        <p:nvSpPr>
          <p:cNvPr id="18" name="Shape 16">
            <a:extLst xmlns:a="http://schemas.openxmlformats.org/drawingml/2006/main">
              <a:ext uri="{FF2B5EF4-FFF2-40B4-BE49-F238E27FC236}">
                <a16:creationId xmlns:a16="http://schemas.microsoft.com/office/drawing/2014/main" id="{B19B29AF-01FE-41AF-B7CF-BF9639A9AED8}"/>
              </a:ext>
            </a:extLst>
          </p:cNvPr>
          <p:cNvSpPr>
            <a:spLocks xmlns:a="http://schemas.openxmlformats.org/drawingml/2006/main" noGrp="1"/>
          </p:cNvSpPr>
          <p:nvPr/>
        </p:nvSpPr>
        <p:spPr>
          <a:xfrm xmlns:a="http://schemas.openxmlformats.org/drawingml/2006/main">
            <a:off x="7038866" y="4299367"/>
            <a:ext cx="1898600" cy="882633"/>
          </a:xfrm>
          <a:prstGeom xmlns:a="http://schemas.openxmlformats.org/drawingml/2006/main" prst="roundRect">
            <a:avLst>
              <a:gd name="adj" fmla="val 8274"/>
            </a:avLst>
          </a:prstGeom>
          <a:solidFill xmlns:a="http://schemas.openxmlformats.org/drawingml/2006/main">
            <a:srgbClr val="FFFFFF"/>
          </a:solidFill>
          <a:ln xmlns:a="http://schemas.openxmlformats.org/drawingml/2006/main" w="6350">
            <a:solidFill>
              <a:srgbClr val="D9DAD2"/>
            </a:solidFill>
            <a:prstDash val="solid"/>
          </a:ln>
        </p:spPr>
      </p:sp>
      <p:sp>
        <p:nvSpPr>
          <p:cNvPr id="19" name="Text 17">
            <a:extLst xmlns:a="http://schemas.openxmlformats.org/drawingml/2006/main">
              <a:ext uri="{FF2B5EF4-FFF2-40B4-BE49-F238E27FC236}">
                <a16:creationId xmlns:a16="http://schemas.microsoft.com/office/drawing/2014/main" id="{E5897E03-B0F1-4B81-8416-CBCB2C9BAB89}"/>
              </a:ext>
            </a:extLst>
          </p:cNvPr>
          <p:cNvSpPr>
            <a:spLocks xmlns:a="http://schemas.openxmlformats.org/drawingml/2006/main" noGrp="1"/>
          </p:cNvSpPr>
          <p:nvPr/>
        </p:nvSpPr>
        <p:spPr>
          <a:xfrm xmlns:a="http://schemas.openxmlformats.org/drawingml/2006/main">
            <a:off x="7181152" y="4507048"/>
            <a:ext cx="1664827" cy="25654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0202A"/>
                </a:solidFill>
                <a:latin typeface="IBM Plex Sans"/>
                <a:ea typeface="IBM Plex Sans"/>
                <a:cs typeface="IBM Plex Sans"/>
              </a:rPr>
              <a:t>Eight waypoints</a:t>
            </a:r>
            <a:endParaRPr sz="1300"/>
          </a:p>
        </p:txBody>
      </p:sp>
      <p:sp>
        <p:nvSpPr>
          <p:cNvPr id="20" name="Text 18">
            <a:extLst xmlns:a="http://schemas.openxmlformats.org/drawingml/2006/main">
              <a:ext uri="{FF2B5EF4-FFF2-40B4-BE49-F238E27FC236}">
                <a16:creationId xmlns:a16="http://schemas.microsoft.com/office/drawing/2014/main" id="{7176EC0F-879E-4861-A7A8-2329BC49499F}"/>
              </a:ext>
            </a:extLst>
          </p:cNvPr>
          <p:cNvSpPr>
            <a:spLocks xmlns:a="http://schemas.openxmlformats.org/drawingml/2006/main" noGrp="1"/>
          </p:cNvSpPr>
          <p:nvPr/>
        </p:nvSpPr>
        <p:spPr>
          <a:xfrm xmlns:a="http://schemas.openxmlformats.org/drawingml/2006/main">
            <a:off x="7181152" y="4776234"/>
            <a:ext cx="1664827" cy="22348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D5A63"/>
                </a:solidFill>
                <a:latin typeface="IBM Plex Sans"/>
                <a:ea typeface="IBM Plex Sans"/>
                <a:cs typeface="IBM Plex Sans"/>
              </a:rPr>
              <a:t>index 1 divided by 0.1 s</a:t>
            </a:r>
            <a:endParaRPr sz="1200"/>
          </a:p>
        </p:txBody>
      </p:sp>
      <p:sp>
        <p:nvSpPr>
          <p:cNvPr id="21" name="Shape 19">
            <a:extLst xmlns:a="http://schemas.openxmlformats.org/drawingml/2006/main">
              <a:ext uri="{FF2B5EF4-FFF2-40B4-BE49-F238E27FC236}">
                <a16:creationId xmlns:a16="http://schemas.microsoft.com/office/drawing/2014/main" id="{523427C0-B11A-4F2C-A3EC-861D869CE572}"/>
              </a:ext>
            </a:extLst>
          </p:cNvPr>
          <p:cNvSpPr>
            <a:spLocks xmlns:a="http://schemas.openxmlformats.org/drawingml/2006/main" noGrp="1"/>
          </p:cNvSpPr>
          <p:nvPr/>
        </p:nvSpPr>
        <p:spPr>
          <a:xfrm xmlns:a="http://schemas.openxmlformats.org/drawingml/2006/main">
            <a:off x="9321685" y="3216732"/>
            <a:ext cx="2057386" cy="888983"/>
          </a:xfrm>
          <a:prstGeom xmlns:a="http://schemas.openxmlformats.org/drawingml/2006/main" prst="roundRect">
            <a:avLst>
              <a:gd name="adj" fmla="val 8572"/>
            </a:avLst>
          </a:prstGeom>
          <a:solidFill xmlns:a="http://schemas.openxmlformats.org/drawingml/2006/main">
            <a:srgbClr val="0F7D76"/>
          </a:solidFill>
        </p:spPr>
      </p:sp>
      <p:sp>
        <p:nvSpPr>
          <p:cNvPr id="22" name="Text 20">
            <a:extLst xmlns:a="http://schemas.openxmlformats.org/drawingml/2006/main">
              <a:ext uri="{FF2B5EF4-FFF2-40B4-BE49-F238E27FC236}">
                <a16:creationId xmlns:a16="http://schemas.microsoft.com/office/drawing/2014/main" id="{833A4BCE-6C84-455E-8163-121A66E8D931}"/>
              </a:ext>
            </a:extLst>
          </p:cNvPr>
          <p:cNvSpPr>
            <a:spLocks xmlns:a="http://schemas.openxmlformats.org/drawingml/2006/main" noGrp="1"/>
          </p:cNvSpPr>
          <p:nvPr/>
        </p:nvSpPr>
        <p:spPr>
          <a:xfrm xmlns:a="http://schemas.openxmlformats.org/drawingml/2006/main">
            <a:off x="9461350" y="3356397"/>
            <a:ext cx="1831398" cy="202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a:solidFill>
                  <a:srgbClr val="F6F6F2"/>
                </a:solidFill>
                <a:latin typeface="JetBrains Mono"/>
                <a:ea typeface="JetBrains Mono"/>
                <a:cs typeface="JetBrains Mono"/>
              </a:rPr>
              <a:t>PART 3</a:t>
            </a:r>
            <a:endParaRPr sz="1016"/>
          </a:p>
        </p:txBody>
      </p:sp>
      <p:sp>
        <p:nvSpPr>
          <p:cNvPr id="23" name="Text 21">
            <a:extLst xmlns:a="http://schemas.openxmlformats.org/drawingml/2006/main">
              <a:ext uri="{FF2B5EF4-FFF2-40B4-BE49-F238E27FC236}">
                <a16:creationId xmlns:a16="http://schemas.microsoft.com/office/drawing/2014/main" id="{6D40BD27-45DA-45F9-8B1C-B6E88C4C17F1}"/>
              </a:ext>
            </a:extLst>
          </p:cNvPr>
          <p:cNvSpPr>
            <a:spLocks xmlns:a="http://schemas.openxmlformats.org/drawingml/2006/main" noGrp="1"/>
          </p:cNvSpPr>
          <p:nvPr/>
        </p:nvSpPr>
        <p:spPr>
          <a:xfrm xmlns:a="http://schemas.openxmlformats.org/drawingml/2006/main">
            <a:off x="9461350" y="3571691"/>
            <a:ext cx="1831398" cy="21723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4"/>
              </a:lnSpc>
              <a:buNone/>
            </a:pPr>
            <a:r>
              <a:rPr sz="1089" b="1">
                <a:solidFill>
                  <a:srgbClr val="F6F6F2"/>
                </a:solidFill>
                <a:latin typeface="IBM Plex Sans"/>
                <a:ea typeface="IBM Plex Sans"/>
                <a:cs typeface="IBM Plex Sans"/>
              </a:rPr>
              <a:t>Fusion, then the gate</a:t>
            </a:r>
            <a:endParaRPr sz="1089"/>
          </a:p>
        </p:txBody>
      </p:sp>
      <p:sp>
        <p:nvSpPr>
          <p:cNvPr id="24" name="Text 22">
            <a:extLst xmlns:a="http://schemas.openxmlformats.org/drawingml/2006/main">
              <a:ext uri="{FF2B5EF4-FFF2-40B4-BE49-F238E27FC236}">
                <a16:creationId xmlns:a16="http://schemas.microsoft.com/office/drawing/2014/main" id="{01589A1C-8204-46E0-A58D-49B7035B8E70}"/>
              </a:ext>
            </a:extLst>
          </p:cNvPr>
          <p:cNvSpPr>
            <a:spLocks xmlns:a="http://schemas.openxmlformats.org/drawingml/2006/main" noGrp="1"/>
          </p:cNvSpPr>
          <p:nvPr/>
        </p:nvSpPr>
        <p:spPr>
          <a:xfrm xmlns:a="http://schemas.openxmlformats.org/drawingml/2006/main">
            <a:off x="9461350" y="3801568"/>
            <a:ext cx="1831398" cy="18988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21"/>
              </a:lnSpc>
              <a:buNone/>
            </a:pPr>
            <a:r>
              <a:rPr sz="1016">
                <a:solidFill>
                  <a:srgbClr val="F6F6F2"/>
                </a:solidFill>
                <a:latin typeface="IBM Plex Sans"/>
                <a:ea typeface="IBM Plex Sans"/>
                <a:cs typeface="IBM Plex Sans"/>
              </a:rPr>
              <a:t>then cmd_vel</a:t>
            </a:r>
            <a:endParaRPr sz="1016"/>
          </a:p>
        </p:txBody>
      </p:sp>
      <p:pic>
        <p:nvPicPr>
          <p:cNvPr id="61" name="Image 0"/>
          <p:cNvPicPr>
            <a:picLocks xmlns:a="http://schemas.openxmlformats.org/drawingml/2006/main" noChangeAspect="1"/>
          </p:cNvPicPr>
          <p:nvPr/>
        </p:nvPicPr>
        <p:blipFill>
          <a:blip xmlns:r="http://schemas.openxmlformats.org/officeDocument/2006/relationships" xmlns:a="http://schemas.openxmlformats.org/drawingml/2006/main" r:embed="Rc5c4af061132426e"/>
          <a:srcRect xmlns:a="http://schemas.openxmlformats.org/drawingml/2006/main" l="-1" t="0" r="-1" b="0"/>
          <a:stretch xmlns:a="http://schemas.openxmlformats.org/drawingml/2006/main"/>
        </p:blipFill>
        <p:spPr>
          <a:xfrm xmlns:a="http://schemas.openxmlformats.org/drawingml/2006/main">
            <a:off x="1587398" y="2721474"/>
            <a:ext cx="1562038" cy="546070"/>
          </a:xfrm>
          <a:prstGeom xmlns:a="http://schemas.openxmlformats.org/drawingml/2006/main" prst="rect">
            <a:avLst/>
          </a:prstGeom>
        </p:spPr>
      </p:pic>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4fab2fe858d049cc"/>
          <a:srcRect xmlns:a="http://schemas.openxmlformats.org/drawingml/2006/main" l="-2" t="0" r="-2" b="0"/>
          <a:stretch xmlns:a="http://schemas.openxmlformats.org/drawingml/2006/main"/>
        </p:blipFill>
        <p:spPr>
          <a:xfrm xmlns:a="http://schemas.openxmlformats.org/drawingml/2006/main">
            <a:off x="1587398" y="4054904"/>
            <a:ext cx="1562038" cy="736547"/>
          </a:xfrm>
          <a:prstGeom xmlns:a="http://schemas.openxmlformats.org/drawingml/2006/main" prst="rect">
            <a:avLst/>
          </a:prstGeom>
        </p:spPr>
      </p:pic>
      <p:pic>
        <p:nvPicPr>
          <p:cNvPr id="63" name="Image 2"/>
          <p:cNvPicPr>
            <a:picLocks xmlns:a="http://schemas.openxmlformats.org/drawingml/2006/main" noChangeAspect="1"/>
          </p:cNvPicPr>
          <p:nvPr/>
        </p:nvPicPr>
        <p:blipFill>
          <a:blip xmlns:r="http://schemas.openxmlformats.org/officeDocument/2006/relationships" xmlns:a="http://schemas.openxmlformats.org/drawingml/2006/main" r:embed="R05ecf0c758a84562"/>
          <a:srcRect xmlns:a="http://schemas.openxmlformats.org/drawingml/2006/main" l="-31" t="0" r="-31" b="0"/>
          <a:stretch xmlns:a="http://schemas.openxmlformats.org/drawingml/2006/main"/>
        </p:blipFill>
        <p:spPr>
          <a:xfrm xmlns:a="http://schemas.openxmlformats.org/drawingml/2006/main">
            <a:off x="6603834" y="2721474"/>
            <a:ext cx="482578" cy="101533"/>
          </a:xfrm>
          <a:prstGeom xmlns:a="http://schemas.openxmlformats.org/drawingml/2006/main" prst="rect">
            <a:avLst/>
          </a:prstGeom>
        </p:spPr>
      </p:pic>
      <p:pic>
        <p:nvPicPr>
          <p:cNvPr id="64" name="Image 3"/>
          <p:cNvPicPr>
            <a:picLocks xmlns:a="http://schemas.openxmlformats.org/drawingml/2006/main" noChangeAspect="1"/>
          </p:cNvPicPr>
          <p:nvPr/>
        </p:nvPicPr>
        <p:blipFill>
          <a:blip xmlns:r="http://schemas.openxmlformats.org/officeDocument/2006/relationships" xmlns:a="http://schemas.openxmlformats.org/drawingml/2006/main" r:embed="Rc48f4de725ce4463"/>
          <a:srcRect xmlns:a="http://schemas.openxmlformats.org/drawingml/2006/main" l="-31" t="0" r="-31" b="0"/>
          <a:stretch xmlns:a="http://schemas.openxmlformats.org/drawingml/2006/main"/>
        </p:blipFill>
        <p:spPr>
          <a:xfrm xmlns:a="http://schemas.openxmlformats.org/drawingml/2006/main">
            <a:off x="6603834" y="4689917"/>
            <a:ext cx="482578" cy="101533"/>
          </a:xfrm>
          <a:prstGeom xmlns:a="http://schemas.openxmlformats.org/drawingml/2006/main" prst="rect">
            <a:avLst/>
          </a:prstGeom>
        </p:spPr>
      </p:pic>
      <p:pic>
        <p:nvPicPr>
          <p:cNvPr id="65" name="Image 4"/>
          <p:cNvPicPr>
            <a:picLocks xmlns:a="http://schemas.openxmlformats.org/drawingml/2006/main" noChangeAspect="1"/>
          </p:cNvPicPr>
          <p:nvPr/>
        </p:nvPicPr>
        <p:blipFill>
          <a:blip xmlns:r="http://schemas.openxmlformats.org/officeDocument/2006/relationships" xmlns:a="http://schemas.openxmlformats.org/drawingml/2006/main" r:embed="Rb0ab6822c60041f5"/>
          <a:srcRect xmlns:a="http://schemas.openxmlformats.org/drawingml/2006/main" l="0" t="0" r="0" b="0"/>
          <a:stretch xmlns:a="http://schemas.openxmlformats.org/drawingml/2006/main"/>
        </p:blipFill>
        <p:spPr>
          <a:xfrm xmlns:a="http://schemas.openxmlformats.org/drawingml/2006/main">
            <a:off x="8889919" y="2721474"/>
            <a:ext cx="1511226" cy="546070"/>
          </a:xfrm>
          <a:prstGeom xmlns:a="http://schemas.openxmlformats.org/drawingml/2006/main" prst="rect">
            <a:avLst/>
          </a:prstGeom>
        </p:spPr>
      </p:pic>
      <p:pic>
        <p:nvPicPr>
          <p:cNvPr id="66" name="Image 5"/>
          <p:cNvPicPr>
            <a:picLocks xmlns:a="http://schemas.openxmlformats.org/drawingml/2006/main" noChangeAspect="1"/>
          </p:cNvPicPr>
          <p:nvPr/>
        </p:nvPicPr>
        <p:blipFill>
          <a:blip xmlns:r="http://schemas.openxmlformats.org/officeDocument/2006/relationships" xmlns:a="http://schemas.openxmlformats.org/drawingml/2006/main" r:embed="R2d9ea44ac49540b0"/>
          <a:srcRect xmlns:a="http://schemas.openxmlformats.org/drawingml/2006/main" l="-1" t="0" r="-1" b="0"/>
          <a:stretch xmlns:a="http://schemas.openxmlformats.org/drawingml/2006/main"/>
        </p:blipFill>
        <p:spPr>
          <a:xfrm xmlns:a="http://schemas.openxmlformats.org/drawingml/2006/main">
            <a:off x="8889919" y="4054904"/>
            <a:ext cx="1511226" cy="736547"/>
          </a:xfrm>
          <a:prstGeom xmlns:a="http://schemas.openxmlformats.org/drawingml/2006/main" prst="rect">
            <a:avLst/>
          </a:prstGeom>
        </p:spPr>
      </p:pic>
      <p:sp>
        <p:nvSpPr>
          <p:cNvPr id="31" name="Text 23">
            <a:extLst xmlns:a="http://schemas.openxmlformats.org/drawingml/2006/main">
              <a:ext uri="{FF2B5EF4-FFF2-40B4-BE49-F238E27FC236}">
                <a16:creationId xmlns:a16="http://schemas.microsoft.com/office/drawing/2014/main" id="{506DEED0-2339-48C1-AC12-2C13F4BD1FEC}"/>
              </a:ext>
            </a:extLst>
          </p:cNvPr>
          <p:cNvSpPr>
            <a:spLocks xmlns:a="http://schemas.openxmlformats.org/drawingml/2006/main" noGrp="1"/>
          </p:cNvSpPr>
          <p:nvPr/>
        </p:nvSpPr>
        <p:spPr>
          <a:xfrm xmlns:a="http://schemas.openxmlformats.org/drawingml/2006/main">
            <a:off x="812720" y="5426555"/>
            <a:ext cx="10464746" cy="4408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37"/>
              </a:lnSpc>
              <a:buNone/>
            </a:pPr>
            <a:r>
              <a:rPr sz="1129">
                <a:solidFill>
                  <a:srgbClr val="10202A"/>
                </a:solidFill>
                <a:latin typeface="IBM Plex Sans"/>
                <a:ea typeface="IBM Plex Sans"/>
                <a:cs typeface="IBM Plex Sans"/>
              </a:rPr>
              <a:t>Each branch is a chain, not a black box — the next slides open them up in that order. The two never meet inside a neural network; they meet in the controller, after both have produced an answer.</a:t>
            </a:r>
            <a:endParaRPr sz="1129"/>
          </a:p>
        </p:txBody>
      </p:sp>
    </p:spTree>
    <p:extLst>
      <p:ext uri="{BB962C8B-B14F-4D97-AF65-F5344CB8AC3E}">
        <p14:creationId xmlns:p14="http://schemas.microsoft.com/office/powerpoint/2010/main" val="1459052720"/>
      </p:ext>
    </p:extLst>
  </p:cSld>
</p:sld>
</file>

<file path=ppt/slides/slide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29AB78-892B-449A-B64C-2D5C7301F40C}"/>
              </a:ext>
            </a:extLst>
          </p:cNvPr>
          <p:cNvSpPr>
            <a:spLocks xmlns:a="http://schemas.openxmlformats.org/drawingml/2006/main" noGrp="1"/>
          </p:cNvSpPr>
          <p:nvPr/>
        </p:nvSpPr>
        <p:spPr>
          <a:xfrm xmlns:a="http://schemas.openxmlformats.org/drawingml/2006/main">
            <a:off x="812720" y="812719"/>
            <a:ext cx="10883529" cy="22058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5"/>
              </a:lnSpc>
              <a:buNone/>
            </a:pPr>
            <a:r>
              <a:rPr sz="1125" spc="150">
                <a:solidFill>
                  <a:srgbClr val="0F7D76"/>
                </a:solidFill>
                <a:latin typeface="JetBrains Mono"/>
                <a:ea typeface="JetBrains Mono"/>
                <a:cs typeface="JetBrains Mono"/>
              </a:rPr>
              <a:t>PART 1 · THE MEMORY</a:t>
            </a:r>
            <a:endParaRPr sz="1125"/>
          </a:p>
        </p:txBody>
      </p:sp>
      <p:sp>
        <p:nvSpPr>
          <p:cNvPr id="3" name="Text 1">
            <a:extLst xmlns:a="http://schemas.openxmlformats.org/drawingml/2006/main">
              <a:ext uri="{FF2B5EF4-FFF2-40B4-BE49-F238E27FC236}">
                <a16:creationId xmlns:a16="http://schemas.microsoft.com/office/drawing/2014/main" id="{A3962F49-D86C-458C-96E6-BAD27089DD7F}"/>
              </a:ext>
            </a:extLst>
          </p:cNvPr>
          <p:cNvSpPr>
            <a:spLocks xmlns:a="http://schemas.openxmlformats.org/drawingml/2006/main" noGrp="1"/>
          </p:cNvSpPr>
          <p:nvPr/>
        </p:nvSpPr>
        <p:spPr>
          <a:xfrm xmlns:a="http://schemas.openxmlformats.org/drawingml/2006/main">
            <a:off x="812720" y="1211064"/>
            <a:ext cx="10883529" cy="4414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15"/>
              </a:lnSpc>
              <a:buNone/>
            </a:pPr>
            <a:r>
              <a:rPr sz="2960" b="1">
                <a:solidFill>
                  <a:srgbClr val="10202A"/>
                </a:solidFill>
                <a:latin typeface="IBM Plex Sans"/>
                <a:ea typeface="IBM Plex Sans"/>
                <a:cs typeface="IBM Plex Sans"/>
              </a:rPr>
              <a:t>Thirty-one frames of history, and how it is filled</a:t>
            </a:r>
            <a:endParaRPr sz="296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5a0f30b9b4454fc7"/>
          <a:srcRect xmlns:a="http://schemas.openxmlformats.org/drawingml/2006/main" l="-109" t="0" r="-109" b="0"/>
          <a:stretch xmlns:a="http://schemas.openxmlformats.org/drawingml/2006/main"/>
        </p:blipFill>
        <p:spPr>
          <a:xfrm xmlns:a="http://schemas.openxmlformats.org/drawingml/2006/main">
            <a:off x="812720" y="2211271"/>
            <a:ext cx="10566081" cy="952385"/>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A0B49E24-38C4-4C0E-97F4-1488C1F4E024}"/>
              </a:ext>
            </a:extLst>
          </p:cNvPr>
          <p:cNvSpPr>
            <a:spLocks xmlns:a="http://schemas.openxmlformats.org/drawingml/2006/main" noGrp="1"/>
          </p:cNvSpPr>
          <p:nvPr/>
        </p:nvSpPr>
        <p:spPr>
          <a:xfrm xmlns:a="http://schemas.openxmlformats.org/drawingml/2006/main">
            <a:off x="812720" y="3201879"/>
            <a:ext cx="1320737" cy="6427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D5A63"/>
                </a:solidFill>
                <a:latin typeface="IBM Plex Sans"/>
                <a:ea typeface="IBM Plex Sans"/>
                <a:cs typeface="IBM Plex Sans"/>
              </a:rPr>
              <a:t>padding: copies of the earliest real frame</a:t>
            </a:r>
            <a:endParaRPr sz="1200"/>
          </a:p>
        </p:txBody>
      </p:sp>
      <p:sp>
        <p:nvSpPr>
          <p:cNvPr id="6" name="Text 3">
            <a:extLst xmlns:a="http://schemas.openxmlformats.org/drawingml/2006/main">
              <a:ext uri="{FF2B5EF4-FFF2-40B4-BE49-F238E27FC236}">
                <a16:creationId xmlns:a16="http://schemas.microsoft.com/office/drawing/2014/main" id="{ED157F5B-E345-43FE-9A49-6A402EE98806}"/>
              </a:ext>
            </a:extLst>
          </p:cNvPr>
          <p:cNvSpPr>
            <a:spLocks xmlns:a="http://schemas.openxmlformats.org/drawingml/2006/main" noGrp="1"/>
          </p:cNvSpPr>
          <p:nvPr/>
        </p:nvSpPr>
        <p:spPr>
          <a:xfrm xmlns:a="http://schemas.openxmlformats.org/drawingml/2006/main">
            <a:off x="4622711" y="3201879"/>
            <a:ext cx="3401021" cy="4369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D5A63"/>
                </a:solidFill>
                <a:latin typeface="IBM Plex Sans"/>
                <a:ea typeface="IBM Plex Sans"/>
                <a:cs typeface="IBM Plex Sans"/>
              </a:rPr>
              <a:t>31 slots, 4 coarse tokens each, each preceded by its own time token</a:t>
            </a:r>
            <a:endParaRPr sz="1200"/>
          </a:p>
        </p:txBody>
      </p:sp>
      <p:sp>
        <p:nvSpPr>
          <p:cNvPr id="7" name="Text 4">
            <a:extLst xmlns:a="http://schemas.openxmlformats.org/drawingml/2006/main">
              <a:ext uri="{FF2B5EF4-FFF2-40B4-BE49-F238E27FC236}">
                <a16:creationId xmlns:a16="http://schemas.microsoft.com/office/drawing/2014/main" id="{BE40717F-3BF0-4699-8BC6-F5401C3E219A}"/>
              </a:ext>
            </a:extLst>
          </p:cNvPr>
          <p:cNvSpPr>
            <a:spLocks xmlns:a="http://schemas.openxmlformats.org/drawingml/2006/main" noGrp="1"/>
          </p:cNvSpPr>
          <p:nvPr/>
        </p:nvSpPr>
        <p:spPr>
          <a:xfrm xmlns:a="http://schemas.openxmlformats.org/drawingml/2006/main">
            <a:off x="9728091" y="3201879"/>
            <a:ext cx="1701781" cy="6427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9C5308"/>
                </a:solidFill>
                <a:latin typeface="IBM Plex Sans"/>
                <a:ea typeface="IBM Plex Sans"/>
                <a:cs typeface="IBM Plex Sans"/>
              </a:rPr>
              <a:t>the current frame, 64 fine tokens, time index 31</a:t>
            </a:r>
            <a:endParaRPr sz="1200"/>
          </a:p>
        </p:txBody>
      </p:sp>
      <p:sp>
        <p:nvSpPr>
          <p:cNvPr id="8" name="Shape 5">
            <a:extLst xmlns:a="http://schemas.openxmlformats.org/drawingml/2006/main">
              <a:ext uri="{FF2B5EF4-FFF2-40B4-BE49-F238E27FC236}">
                <a16:creationId xmlns:a16="http://schemas.microsoft.com/office/drawing/2014/main" id="{39257E94-BD55-43ED-838D-33858B0AFFDC}"/>
              </a:ext>
            </a:extLst>
          </p:cNvPr>
          <p:cNvSpPr>
            <a:spLocks xmlns:a="http://schemas.openxmlformats.org/drawingml/2006/main" noGrp="1"/>
          </p:cNvSpPr>
          <p:nvPr/>
        </p:nvSpPr>
        <p:spPr>
          <a:xfrm xmlns:a="http://schemas.openxmlformats.org/drawingml/2006/main">
            <a:off x="815895" y="4322645"/>
            <a:ext cx="3397236" cy="1516197"/>
          </a:xfrm>
          <a:prstGeom xmlns:a="http://schemas.openxmlformats.org/drawingml/2006/main" prst="roundRect">
            <a:avLst>
              <a:gd name="adj" fmla="val 6492"/>
            </a:avLst>
          </a:prstGeom>
          <a:solidFill xmlns:a="http://schemas.openxmlformats.org/drawingml/2006/main">
            <a:srgbClr val="FFFFFF"/>
          </a:solidFill>
          <a:ln xmlns:a="http://schemas.openxmlformats.org/drawingml/2006/main" w="6350">
            <a:solidFill>
              <a:srgbClr val="D9DAD2"/>
            </a:solidFill>
            <a:prstDash val="solid"/>
          </a:ln>
        </p:spPr>
      </p:sp>
      <p:sp>
        <p:nvSpPr>
          <p:cNvPr id="9" name="Text 6">
            <a:extLst xmlns:a="http://schemas.openxmlformats.org/drawingml/2006/main">
              <a:ext uri="{FF2B5EF4-FFF2-40B4-BE49-F238E27FC236}">
                <a16:creationId xmlns:a16="http://schemas.microsoft.com/office/drawing/2014/main" id="{3AA12A49-7305-4EAA-BDCE-6732CD0E523F}"/>
              </a:ext>
            </a:extLst>
          </p:cNvPr>
          <p:cNvSpPr>
            <a:spLocks xmlns:a="http://schemas.openxmlformats.org/drawingml/2006/main" noGrp="1"/>
          </p:cNvSpPr>
          <p:nvPr/>
        </p:nvSpPr>
        <p:spPr>
          <a:xfrm xmlns:a="http://schemas.openxmlformats.org/drawingml/2006/main">
            <a:off x="1021674" y="4528424"/>
            <a:ext cx="3075249" cy="2127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269" b="1">
                <a:solidFill>
                  <a:srgbClr val="0F7D76"/>
                </a:solidFill>
                <a:latin typeface="IBM Plex Sans"/>
                <a:ea typeface="IBM Plex Sans"/>
                <a:cs typeface="IBM Plex Sans"/>
              </a:rPr>
              <a:t>Filling it</a:t>
            </a:r>
            <a:endParaRPr sz="1269"/>
          </a:p>
        </p:txBody>
      </p:sp>
      <p:sp>
        <p:nvSpPr>
          <p:cNvPr id="10" name="Text 7">
            <a:extLst xmlns:a="http://schemas.openxmlformats.org/drawingml/2006/main">
              <a:ext uri="{FF2B5EF4-FFF2-40B4-BE49-F238E27FC236}">
                <a16:creationId xmlns:a16="http://schemas.microsoft.com/office/drawing/2014/main" id="{E8C3DDBF-7B11-42F4-B99F-A4BC76A523FE}"/>
              </a:ext>
            </a:extLst>
          </p:cNvPr>
          <p:cNvSpPr>
            <a:spLocks xmlns:a="http://schemas.openxmlformats.org/drawingml/2006/main" noGrp="1"/>
          </p:cNvSpPr>
          <p:nvPr/>
        </p:nvSpPr>
        <p:spPr>
          <a:xfrm xmlns:a="http://schemas.openxmlformats.org/drawingml/2006/main">
            <a:off x="1021674" y="4791994"/>
            <a:ext cx="3075249" cy="8664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55"/>
              </a:lnSpc>
              <a:buNone/>
            </a:pPr>
            <a:r>
              <a:rPr sz="1142">
                <a:solidFill>
                  <a:srgbClr val="4D5A63"/>
                </a:solidFill>
                <a:latin typeface="IBM Plex Sans"/>
                <a:ea typeface="IBM Plex Sans"/>
                <a:cs typeface="IBM Plex Sans"/>
              </a:rPr>
              <a:t>A fixed-length queue. Until 31 real frames exist, the earliest one is repeated on the left, so the sequence length the model sees never changes.</a:t>
            </a:r>
            <a:endParaRPr sz="1142"/>
          </a:p>
        </p:txBody>
      </p:sp>
      <p:sp>
        <p:nvSpPr>
          <p:cNvPr id="11" name="Shape 8">
            <a:extLst xmlns:a="http://schemas.openxmlformats.org/drawingml/2006/main">
              <a:ext uri="{FF2B5EF4-FFF2-40B4-BE49-F238E27FC236}">
                <a16:creationId xmlns:a16="http://schemas.microsoft.com/office/drawing/2014/main" id="{A80CF3E2-0065-4D61-B8B0-4F42302C7F16}"/>
              </a:ext>
            </a:extLst>
          </p:cNvPr>
          <p:cNvSpPr>
            <a:spLocks xmlns:a="http://schemas.openxmlformats.org/drawingml/2006/main" noGrp="1"/>
          </p:cNvSpPr>
          <p:nvPr/>
        </p:nvSpPr>
        <p:spPr>
          <a:xfrm xmlns:a="http://schemas.openxmlformats.org/drawingml/2006/main">
            <a:off x="4397278" y="4322645"/>
            <a:ext cx="3397327" cy="1516197"/>
          </a:xfrm>
          <a:prstGeom xmlns:a="http://schemas.openxmlformats.org/drawingml/2006/main" prst="roundRect">
            <a:avLst>
              <a:gd name="adj" fmla="val 6492"/>
            </a:avLst>
          </a:prstGeom>
          <a:solidFill xmlns:a="http://schemas.openxmlformats.org/drawingml/2006/main">
            <a:srgbClr val="FFFFFF"/>
          </a:solidFill>
          <a:ln xmlns:a="http://schemas.openxmlformats.org/drawingml/2006/main" w="6350">
            <a:solidFill>
              <a:srgbClr val="D9DAD2"/>
            </a:solidFill>
            <a:prstDash val="solid"/>
          </a:ln>
        </p:spPr>
      </p:sp>
      <p:sp>
        <p:nvSpPr>
          <p:cNvPr id="12" name="Text 9">
            <a:extLst xmlns:a="http://schemas.openxmlformats.org/drawingml/2006/main">
              <a:ext uri="{FF2B5EF4-FFF2-40B4-BE49-F238E27FC236}">
                <a16:creationId xmlns:a16="http://schemas.microsoft.com/office/drawing/2014/main" id="{1F05E70F-1C41-4C21-B218-F181A75F29E3}"/>
              </a:ext>
            </a:extLst>
          </p:cNvPr>
          <p:cNvSpPr>
            <a:spLocks xmlns:a="http://schemas.openxmlformats.org/drawingml/2006/main" noGrp="1"/>
          </p:cNvSpPr>
          <p:nvPr/>
        </p:nvSpPr>
        <p:spPr>
          <a:xfrm xmlns:a="http://schemas.openxmlformats.org/drawingml/2006/main">
            <a:off x="4603057" y="4528424"/>
            <a:ext cx="3075342" cy="2127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269" b="1">
                <a:solidFill>
                  <a:srgbClr val="9C5308"/>
                </a:solidFill>
                <a:latin typeface="IBM Plex Sans"/>
                <a:ea typeface="IBM Plex Sans"/>
                <a:cs typeface="IBM Plex Sans"/>
              </a:rPr>
              <a:t>Clearing it</a:t>
            </a:r>
            <a:endParaRPr sz="1269"/>
          </a:p>
        </p:txBody>
      </p:sp>
      <p:sp>
        <p:nvSpPr>
          <p:cNvPr id="13" name="Text 10">
            <a:extLst xmlns:a="http://schemas.openxmlformats.org/drawingml/2006/main">
              <a:ext uri="{FF2B5EF4-FFF2-40B4-BE49-F238E27FC236}">
                <a16:creationId xmlns:a16="http://schemas.microsoft.com/office/drawing/2014/main" id="{35033440-6A31-4191-82AA-CF463E5D8402}"/>
              </a:ext>
            </a:extLst>
          </p:cNvPr>
          <p:cNvSpPr>
            <a:spLocks xmlns:a="http://schemas.openxmlformats.org/drawingml/2006/main" noGrp="1"/>
          </p:cNvSpPr>
          <p:nvPr/>
        </p:nvSpPr>
        <p:spPr>
          <a:xfrm xmlns:a="http://schemas.openxmlformats.org/drawingml/2006/main">
            <a:off x="4603057" y="4791994"/>
            <a:ext cx="3075342" cy="8664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55"/>
              </a:lnSpc>
              <a:buNone/>
            </a:pPr>
            <a:r>
              <a:rPr sz="1142">
                <a:solidFill>
                  <a:srgbClr val="4D5A63"/>
                </a:solidFill>
                <a:latin typeface="IBM Plex Sans"/>
                <a:ea typeface="IBM Plex Sans"/>
                <a:cs typeface="IBM Plex Sans"/>
              </a:rPr>
              <a:t>Wiped on a prompt change, on target loss, and on re-acquisition — so the model never reasons across a gap where it was following someone else.</a:t>
            </a:r>
            <a:endParaRPr sz="1142"/>
          </a:p>
        </p:txBody>
      </p:sp>
      <p:sp>
        <p:nvSpPr>
          <p:cNvPr id="14" name="Shape 11">
            <a:extLst xmlns:a="http://schemas.openxmlformats.org/drawingml/2006/main">
              <a:ext uri="{FF2B5EF4-FFF2-40B4-BE49-F238E27FC236}">
                <a16:creationId xmlns:a16="http://schemas.microsoft.com/office/drawing/2014/main" id="{4F91BC2E-4715-4749-B70D-64594AF1C92F}"/>
              </a:ext>
            </a:extLst>
          </p:cNvPr>
          <p:cNvSpPr>
            <a:spLocks xmlns:a="http://schemas.openxmlformats.org/drawingml/2006/main" noGrp="1"/>
          </p:cNvSpPr>
          <p:nvPr/>
        </p:nvSpPr>
        <p:spPr>
          <a:xfrm xmlns:a="http://schemas.openxmlformats.org/drawingml/2006/main">
            <a:off x="7978751" y="4322645"/>
            <a:ext cx="3397327" cy="1516197"/>
          </a:xfrm>
          <a:prstGeom xmlns:a="http://schemas.openxmlformats.org/drawingml/2006/main" prst="roundRect">
            <a:avLst>
              <a:gd name="adj" fmla="val 6492"/>
            </a:avLst>
          </a:prstGeom>
          <a:solidFill xmlns:a="http://schemas.openxmlformats.org/drawingml/2006/main">
            <a:srgbClr val="FFFFFF"/>
          </a:solidFill>
          <a:ln xmlns:a="http://schemas.openxmlformats.org/drawingml/2006/main" w="6350">
            <a:solidFill>
              <a:srgbClr val="D9DAD2"/>
            </a:solidFill>
            <a:prstDash val="solid"/>
          </a:ln>
        </p:spPr>
      </p:sp>
      <p:sp>
        <p:nvSpPr>
          <p:cNvPr id="15" name="Text 12">
            <a:extLst xmlns:a="http://schemas.openxmlformats.org/drawingml/2006/main">
              <a:ext uri="{FF2B5EF4-FFF2-40B4-BE49-F238E27FC236}">
                <a16:creationId xmlns:a16="http://schemas.microsoft.com/office/drawing/2014/main" id="{323ABAE6-D0E4-4F46-8C13-AABA0F48A709}"/>
              </a:ext>
            </a:extLst>
          </p:cNvPr>
          <p:cNvSpPr>
            <a:spLocks xmlns:a="http://schemas.openxmlformats.org/drawingml/2006/main" noGrp="1"/>
          </p:cNvSpPr>
          <p:nvPr/>
        </p:nvSpPr>
        <p:spPr>
          <a:xfrm xmlns:a="http://schemas.openxmlformats.org/drawingml/2006/main">
            <a:off x="8184530" y="4528424"/>
            <a:ext cx="3075342" cy="2387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0F7D76"/>
                </a:solidFill>
                <a:latin typeface="IBM Plex Sans"/>
                <a:ea typeface="IBM Plex Sans"/>
                <a:cs typeface="IBM Plex Sans"/>
              </a:rPr>
              <a:t>What it spans</a:t>
            </a:r>
            <a:endParaRPr sz="1400"/>
          </a:p>
        </p:txBody>
      </p:sp>
      <p:sp>
        <p:nvSpPr>
          <p:cNvPr id="16" name="Text 13">
            <a:extLst xmlns:a="http://schemas.openxmlformats.org/drawingml/2006/main">
              <a:ext uri="{FF2B5EF4-FFF2-40B4-BE49-F238E27FC236}">
                <a16:creationId xmlns:a16="http://schemas.microsoft.com/office/drawing/2014/main" id="{1BC48E2E-9E79-4CE0-9FC2-B210C80E13DA}"/>
              </a:ext>
            </a:extLst>
          </p:cNvPr>
          <p:cNvSpPr>
            <a:spLocks xmlns:a="http://schemas.openxmlformats.org/drawingml/2006/main" noGrp="1"/>
          </p:cNvSpPr>
          <p:nvPr/>
        </p:nvSpPr>
        <p:spPr>
          <a:xfrm xmlns:a="http://schemas.openxmlformats.org/drawingml/2006/main">
            <a:off x="8184530" y="4817898"/>
            <a:ext cx="3075342" cy="743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85"/>
              </a:lnSpc>
              <a:buNone/>
            </a:pPr>
            <a:r>
              <a:rPr sz="1300">
                <a:solidFill>
                  <a:srgbClr val="4D5A63"/>
                </a:solidFill>
                <a:latin typeface="IBM Plex Sans"/>
                <a:ea typeface="IBM Plex Sans"/>
                <a:cs typeface="IBM Plex Sans"/>
              </a:rPr>
              <a:t>At the 2 Hz planner rate, 31 frames is about 15 seconds of scene — far longer than the 0.8 s it plans forward.</a:t>
            </a:r>
            <a:endParaRPr sz="1300"/>
          </a:p>
        </p:txBody>
      </p:sp>
    </p:spTree>
    <p:extLst>
      <p:ext uri="{BB962C8B-B14F-4D97-AF65-F5344CB8AC3E}">
        <p14:creationId xmlns:p14="http://schemas.microsoft.com/office/powerpoint/2010/main" val="871188609"/>
      </p:ext>
    </p:extLst>
  </p:cSld>
</p:sld>
</file>

<file path=ppt/slides/slide4.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DF1DDB2-94E9-46B3-9993-252DD20FAB8C}"/>
              </a:ext>
            </a:extLst>
          </p:cNvPr>
          <p:cNvSpPr>
            <a:spLocks xmlns:a="http://schemas.openxmlformats.org/drawingml/2006/main" noGrp="1"/>
          </p:cNvSpPr>
          <p:nvPr/>
        </p:nvSpPr>
        <p:spPr>
          <a:xfrm xmlns:a="http://schemas.openxmlformats.org/drawingml/2006/main">
            <a:off x="812720" y="812719"/>
            <a:ext cx="10883529" cy="2002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spc="150">
                <a:solidFill>
                  <a:srgbClr val="9C5308"/>
                </a:solidFill>
                <a:latin typeface="JetBrains Mono"/>
                <a:ea typeface="JetBrains Mono"/>
                <a:cs typeface="JetBrains Mono"/>
              </a:rPr>
              <a:t>PART 1 · OUTPUT TO MOTION</a:t>
            </a:r>
            <a:endParaRPr sz="1016"/>
          </a:p>
        </p:txBody>
      </p:sp>
      <p:sp>
        <p:nvSpPr>
          <p:cNvPr id="3" name="Text 1">
            <a:extLst xmlns:a="http://schemas.openxmlformats.org/drawingml/2006/main">
              <a:ext uri="{FF2B5EF4-FFF2-40B4-BE49-F238E27FC236}">
                <a16:creationId xmlns:a16="http://schemas.microsoft.com/office/drawing/2014/main" id="{C979C534-1F0D-4529-9CE8-1BD4BD3D3476}"/>
              </a:ext>
            </a:extLst>
          </p:cNvPr>
          <p:cNvSpPr>
            <a:spLocks xmlns:a="http://schemas.openxmlformats.org/drawingml/2006/main" noGrp="1"/>
          </p:cNvSpPr>
          <p:nvPr/>
        </p:nvSpPr>
        <p:spPr>
          <a:xfrm xmlns:a="http://schemas.openxmlformats.org/drawingml/2006/main">
            <a:off x="812720" y="1165324"/>
            <a:ext cx="10883529" cy="7711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282"/>
              </a:lnSpc>
              <a:buNone/>
            </a:pPr>
            <a:r>
              <a:rPr sz="2930" b="1">
                <a:solidFill>
                  <a:srgbClr val="10202A"/>
                </a:solidFill>
                <a:latin typeface="IBM Plex Sans"/>
                <a:ea typeface="IBM Plex Sans"/>
                <a:cs typeface="IBM Plex Sans"/>
              </a:rPr>
              <a:t>A 0.1 s waypoint command reused for up to 0.75 s</a:t>
            </a:r>
            <a:endParaRPr sz="2930"/>
          </a:p>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4247d14d6efb44a4"/>
          <a:srcRect xmlns:a="http://schemas.openxmlformats.org/drawingml/2006/main" l="0" t="-20" r="0" b="-20"/>
          <a:stretch xmlns:a="http://schemas.openxmlformats.org/drawingml/2006/main"/>
        </p:blipFill>
        <p:spPr>
          <a:xfrm xmlns:a="http://schemas.openxmlformats.org/drawingml/2006/main">
            <a:off x="812720" y="2088907"/>
            <a:ext cx="10566171" cy="273035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257B7D8C-37FF-4CA1-8609-5C90917C7258}"/>
              </a:ext>
            </a:extLst>
          </p:cNvPr>
          <p:cNvSpPr>
            <a:spLocks xmlns:a="http://schemas.openxmlformats.org/drawingml/2006/main" noGrp="1"/>
          </p:cNvSpPr>
          <p:nvPr/>
        </p:nvSpPr>
        <p:spPr>
          <a:xfrm xmlns:a="http://schemas.openxmlformats.org/drawingml/2006/main">
            <a:off x="2781162" y="2444499"/>
            <a:ext cx="4970738" cy="2742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0202A"/>
                </a:solidFill>
                <a:latin typeface="IBM Plex Sans"/>
                <a:ea typeface="IBM Plex Sans"/>
                <a:cs typeface="IBM Plex Sans"/>
              </a:rPr>
              <a:t>The 0.1 s of motion that waypoint 1 actually describes</a:t>
            </a:r>
            <a:endParaRPr sz="1400"/>
          </a:p>
        </p:txBody>
      </p:sp>
      <p:sp>
        <p:nvSpPr>
          <p:cNvPr id="6" name="Text 3">
            <a:extLst xmlns:a="http://schemas.openxmlformats.org/drawingml/2006/main">
              <a:ext uri="{FF2B5EF4-FFF2-40B4-BE49-F238E27FC236}">
                <a16:creationId xmlns:a16="http://schemas.microsoft.com/office/drawing/2014/main" id="{1B4AC237-9140-4CF1-874B-4D04927E1BDF}"/>
              </a:ext>
            </a:extLst>
          </p:cNvPr>
          <p:cNvSpPr>
            <a:spLocks xmlns:a="http://schemas.openxmlformats.org/drawingml/2006/main" noGrp="1"/>
          </p:cNvSpPr>
          <p:nvPr/>
        </p:nvSpPr>
        <p:spPr>
          <a:xfrm xmlns:a="http://schemas.openxmlformats.org/drawingml/2006/main">
            <a:off x="1422282" y="3485828"/>
            <a:ext cx="812798"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7A848C"/>
                </a:solidFill>
                <a:latin typeface="IBM Plex Sans"/>
                <a:ea typeface="IBM Plex Sans"/>
                <a:cs typeface="IBM Plex Sans"/>
              </a:rPr>
              <a:t>t = 0</a:t>
            </a:r>
            <a:endParaRPr sz="1200"/>
          </a:p>
        </p:txBody>
      </p:sp>
      <p:sp>
        <p:nvSpPr>
          <p:cNvPr id="7" name="Text 4">
            <a:extLst xmlns:a="http://schemas.openxmlformats.org/drawingml/2006/main">
              <a:ext uri="{FF2B5EF4-FFF2-40B4-BE49-F238E27FC236}">
                <a16:creationId xmlns:a16="http://schemas.microsoft.com/office/drawing/2014/main" id="{E12BF7C2-DD48-4AAE-B5B2-76FA47E67E35}"/>
              </a:ext>
            </a:extLst>
          </p:cNvPr>
          <p:cNvSpPr>
            <a:spLocks xmlns:a="http://schemas.openxmlformats.org/drawingml/2006/main" noGrp="1"/>
          </p:cNvSpPr>
          <p:nvPr/>
        </p:nvSpPr>
        <p:spPr>
          <a:xfrm xmlns:a="http://schemas.openxmlformats.org/drawingml/2006/main">
            <a:off x="9524843" y="3485828"/>
            <a:ext cx="1320737"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7A848C"/>
                </a:solidFill>
                <a:latin typeface="IBM Plex Sans"/>
                <a:ea typeface="IBM Plex Sans"/>
                <a:cs typeface="IBM Plex Sans"/>
              </a:rPr>
              <a:t>t = 0.8 s</a:t>
            </a:r>
            <a:endParaRPr sz="1200"/>
          </a:p>
        </p:txBody>
      </p:sp>
      <p:sp>
        <p:nvSpPr>
          <p:cNvPr id="8" name="Text 5">
            <a:extLst xmlns:a="http://schemas.openxmlformats.org/drawingml/2006/main">
              <a:ext uri="{FF2B5EF4-FFF2-40B4-BE49-F238E27FC236}">
                <a16:creationId xmlns:a16="http://schemas.microsoft.com/office/drawing/2014/main" id="{A6A31D1A-3A6E-4478-98AE-9561B27756F7}"/>
              </a:ext>
            </a:extLst>
          </p:cNvPr>
          <p:cNvSpPr>
            <a:spLocks xmlns:a="http://schemas.openxmlformats.org/drawingml/2006/main" noGrp="1"/>
          </p:cNvSpPr>
          <p:nvPr/>
        </p:nvSpPr>
        <p:spPr>
          <a:xfrm xmlns:a="http://schemas.openxmlformats.org/drawingml/2006/main">
            <a:off x="6908706" y="3905004"/>
            <a:ext cx="4185880" cy="2742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9C5308"/>
                </a:solidFill>
                <a:latin typeface="IBM Plex Sans"/>
                <a:ea typeface="IBM Plex Sans"/>
                <a:cs typeface="IBM Plex Sans"/>
              </a:rPr>
              <a:t>Held for one 2 Hz control period: 0.5 s</a:t>
            </a:r>
            <a:endParaRPr sz="1400"/>
          </a:p>
        </p:txBody>
      </p:sp>
      <p:sp>
        <p:nvSpPr>
          <p:cNvPr id="9" name="Text 6">
            <a:extLst xmlns:a="http://schemas.openxmlformats.org/drawingml/2006/main">
              <a:ext uri="{FF2B5EF4-FFF2-40B4-BE49-F238E27FC236}">
                <a16:creationId xmlns:a16="http://schemas.microsoft.com/office/drawing/2014/main" id="{63111E73-C4B6-48FF-B11B-70FB05E4AE9B}"/>
              </a:ext>
            </a:extLst>
          </p:cNvPr>
          <p:cNvSpPr>
            <a:spLocks xmlns:a="http://schemas.openxmlformats.org/drawingml/2006/main" noGrp="1"/>
          </p:cNvSpPr>
          <p:nvPr/>
        </p:nvSpPr>
        <p:spPr>
          <a:xfrm xmlns:a="http://schemas.openxmlformats.org/drawingml/2006/main">
            <a:off x="1574718" y="4590738"/>
            <a:ext cx="7848582" cy="2742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9C5308"/>
                </a:solidFill>
                <a:latin typeface="IBM Plex Sans"/>
                <a:ea typeface="IBM Plex Sans"/>
                <a:cs typeface="IBM Plex Sans"/>
              </a:rPr>
              <a:t>Worst case inside the bounded reuse window: 0.75 s</a:t>
            </a:r>
            <a:endParaRPr sz="1400"/>
          </a:p>
        </p:txBody>
      </p:sp>
      <p:sp>
        <p:nvSpPr>
          <p:cNvPr id="10" name="Text 7">
            <a:extLst xmlns:a="http://schemas.openxmlformats.org/drawingml/2006/main">
              <a:ext uri="{FF2B5EF4-FFF2-40B4-BE49-F238E27FC236}">
                <a16:creationId xmlns:a16="http://schemas.microsoft.com/office/drawing/2014/main" id="{5D84AE51-5BC8-40FF-AE8F-0EA700F7D441}"/>
              </a:ext>
            </a:extLst>
          </p:cNvPr>
          <p:cNvSpPr>
            <a:spLocks xmlns:a="http://schemas.openxmlformats.org/drawingml/2006/main" noGrp="1"/>
          </p:cNvSpPr>
          <p:nvPr/>
        </p:nvSpPr>
        <p:spPr>
          <a:xfrm xmlns:a="http://schemas.openxmlformats.org/drawingml/2006/main">
            <a:off x="812720" y="4997145"/>
            <a:ext cx="10464746" cy="87027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03"/>
              </a:lnSpc>
              <a:buNone/>
            </a:pPr>
            <a:r>
              <a:rPr sz="1313">
                <a:solidFill>
                  <a:srgbClr val="10202A"/>
                </a:solidFill>
                <a:latin typeface="IBM Plex Sans"/>
                <a:ea typeface="IBM Plex Sans"/>
                <a:cs typeface="IBM Plex Sans"/>
              </a:rPr>
              <a:t>Waypoints land at t = 0, 0.1, 0.2, 0.3, </a:t>
            </a:r>
            <a:r>
              <a:rPr sz="1313" b="1">
                <a:solidFill>
                  <a:srgbClr val="10202A"/>
                </a:solidFill>
                <a:latin typeface="IBM Plex Sans"/>
                <a:ea typeface="IBM Plex Sans"/>
                <a:cs typeface="IBM Plex Sans"/>
              </a:rPr>
              <a:t>0.5</a:t>
            </a:r>
            <a:r>
              <a:rPr sz="1313">
                <a:solidFill>
                  <a:srgbClr val="10202A"/>
                </a:solidFill>
                <a:latin typeface="IBM Plex Sans"/>
                <a:ea typeface="IBM Plex Sans"/>
                <a:cs typeface="IBM Plex Sans"/>
              </a:rPr>
              <a:t>, 0.6, 0.7, 0.8 s — the training pipeline subsamples nine integrated steps down to eight, so the spacing is uneven. Upstream takes index 1 and divides by dt = 0.1, which is the mean velocity over the first tenth of a second. The bridge then holds that number five to seven times longer. Speed clipping and acceleration limits bound the consequence; they do not remove it.</a:t>
            </a:r>
            <a:endParaRPr sz="1313"/>
          </a:p>
        </p:txBody>
      </p:sp>
    </p:spTree>
    <p:extLst>
      <p:ext uri="{BB962C8B-B14F-4D97-AF65-F5344CB8AC3E}">
        <p14:creationId xmlns:p14="http://schemas.microsoft.com/office/powerpoint/2010/main" val="1533922940"/>
      </p:ext>
    </p:extLst>
  </p:cSld>
</p:sld>
</file>

<file path=ppt/slides/slide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8B27DD-1430-499C-BBE9-AC633ED90ADB}"/>
              </a:ext>
            </a:extLst>
          </p:cNvPr>
          <p:cNvSpPr>
            <a:spLocks xmlns:a="http://schemas.openxmlformats.org/drawingml/2006/main" noGrp="1"/>
          </p:cNvSpPr>
          <p:nvPr/>
        </p:nvSpPr>
        <p:spPr>
          <a:xfrm xmlns:a="http://schemas.openxmlformats.org/drawingml/2006/main">
            <a:off x="812720" y="812719"/>
            <a:ext cx="10883342"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50">
                <a:solidFill>
                  <a:srgbClr val="0F7D76"/>
                </a:solidFill>
                <a:latin typeface="JetBrains Mono"/>
                <a:ea typeface="JetBrains Mono"/>
                <a:cs typeface="JetBrains Mono"/>
              </a:rPr>
              <a:t>PART 1 · WHAT IT COSTS TO RUN</a:t>
            </a:r>
            <a:endParaRPr sz="1200"/>
          </a:p>
        </p:txBody>
      </p:sp>
      <p:sp>
        <p:nvSpPr>
          <p:cNvPr id="6" name="Current title">
            <a:extLst xmlns:a="http://schemas.openxmlformats.org/drawingml/2006/main">
              <a:ext uri="{FF2B5EF4-FFF2-40B4-BE49-F238E27FC236}">
                <a16:creationId xmlns:a16="http://schemas.microsoft.com/office/drawing/2014/main" id="{F48E5B99-46FF-402B-AF8D-6680BF5DBB9F}"/>
              </a:ext>
            </a:extLst>
          </p:cNvPr>
          <p:cNvSpPr>
            <a:spLocks xmlns:a="http://schemas.openxmlformats.org/drawingml/2006/main" noGrp="1"/>
          </p:cNvSpPr>
          <p:nvPr/>
        </p:nvSpPr>
        <p:spPr>
          <a:xfrm xmlns:a="http://schemas.openxmlformats.org/drawingml/2006/main">
            <a:off x="809625" y="1238250"/>
            <a:ext cx="10887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273943"/>
                </a:solidFill>
                <a:latin typeface="IBM Plex Sans"/>
                <a:ea typeface="IBM Plex Sans"/>
                <a:cs typeface="IBM Plex Sans"/>
              </a:defRPr>
            </a:pPr>
            <a:r>
              <a:t>Planner work begins after target lock</a:t>
            </a:r>
          </a:p>
        </p:txBody>
      </p:sp>
      <p:sp>
        <p:nvSpPr>
          <p:cNvPr id="7" name="Current evidence">
            <a:extLst xmlns:a="http://schemas.openxmlformats.org/drawingml/2006/main">
              <a:ext uri="{FF2B5EF4-FFF2-40B4-BE49-F238E27FC236}">
                <a16:creationId xmlns:a16="http://schemas.microsoft.com/office/drawing/2014/main" id="{E330AF32-80CC-41BB-829F-DD4828F6DCDF}"/>
              </a:ext>
            </a:extLst>
          </p:cNvPr>
          <p:cNvSpPr>
            <a:spLocks xmlns:a="http://schemas.openxmlformats.org/drawingml/2006/main" noGrp="1"/>
          </p:cNvSpPr>
          <p:nvPr/>
        </p:nvSpPr>
        <p:spPr>
          <a:xfrm xmlns:a="http://schemas.openxmlformats.org/drawingml/2006/main">
            <a:off x="1047750" y="223837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2000"/>
              </a:lnSpc>
              <a:buNone/>
              <a:defRPr sz="2025">
                <a:solidFill>
                  <a:srgbClr val="273943"/>
                </a:solidFill>
                <a:latin typeface="IBM Plex Sans"/>
                <a:ea typeface="IBM Plex Sans"/>
                <a:cs typeface="IBM Plex Sans"/>
              </a:defRPr>
            </a:pPr>
            <a:r>
              <a:rPr sz="2025">
                <a:solidFill>
                  <a:srgbClr val="273943"/>
                </a:solidFill>
                <a:latin typeface="IBM Plex Sans"/>
                <a:ea typeface="IBM Plex Sans"/>
                <a:cs typeface="IBM Plex Sans"/>
              </a:rPr>
              <a:t>The local inference server runs target detection first. While the target is SEARCHING, UNCERTAIN, or LOST, it skips OmTrackVLA visual encoding and waypoint inference and returns a zero command. A September 23 no-target dry run measured about 0.023 s per frame, versus about 0.213 s before this skip. The current target view runs near 3 Hz; the heavier planner is capped at 2 Hz after LOCKED. A cached model path can be reused for at most 0.75 s and must pass the current target and safety checks.</a:t>
            </a:r>
          </a:p>
        </p:txBody>
      </p:sp>
    </p:spTree>
    <p:extLst>
      <p:ext uri="{BB962C8B-B14F-4D97-AF65-F5344CB8AC3E}">
        <p14:creationId xmlns:p14="http://schemas.microsoft.com/office/powerpoint/2010/main" val="562323345"/>
      </p:ext>
    </p:extLst>
  </p:cSld>
</p:sld>
</file>

<file path=ppt/slides/slide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EED752E-60B8-4B60-8A62-A168D2018B45}"/>
              </a:ext>
            </a:extLst>
          </p:cNvPr>
          <p:cNvSpPr>
            <a:spLocks xmlns:a="http://schemas.openxmlformats.org/drawingml/2006/main" noGrp="1"/>
          </p:cNvSpPr>
          <p:nvPr/>
        </p:nvSpPr>
        <p:spPr>
          <a:xfrm xmlns:a="http://schemas.openxmlformats.org/drawingml/2006/main">
            <a:off x="812720" y="812719"/>
            <a:ext cx="10883529" cy="2115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70"/>
              </a:lnSpc>
              <a:buNone/>
            </a:pPr>
            <a:r>
              <a:rPr sz="1050" spc="150">
                <a:solidFill>
                  <a:srgbClr val="0F7D76"/>
                </a:solidFill>
                <a:latin typeface="JetBrains Mono"/>
                <a:ea typeface="JetBrains Mono"/>
                <a:cs typeface="JetBrains Mono"/>
              </a:rPr>
              <a:t>PART 1 · THE INTERFACE CONTRACT</a:t>
            </a:r>
            <a:endParaRPr sz="1050"/>
          </a:p>
        </p:txBody>
      </p:sp>
      <p:sp>
        <p:nvSpPr>
          <p:cNvPr id="3" name="Text 1">
            <a:extLst xmlns:a="http://schemas.openxmlformats.org/drawingml/2006/main">
              <a:ext uri="{FF2B5EF4-FFF2-40B4-BE49-F238E27FC236}">
                <a16:creationId xmlns:a16="http://schemas.microsoft.com/office/drawing/2014/main" id="{07FDF76F-163E-40DE-A191-14263BA19F12}"/>
              </a:ext>
            </a:extLst>
          </p:cNvPr>
          <p:cNvSpPr>
            <a:spLocks xmlns:a="http://schemas.openxmlformats.org/drawingml/2006/main" noGrp="1"/>
          </p:cNvSpPr>
          <p:nvPr/>
        </p:nvSpPr>
        <p:spPr>
          <a:xfrm xmlns:a="http://schemas.openxmlformats.org/drawingml/2006/main">
            <a:off x="812720" y="1278179"/>
            <a:ext cx="10883529" cy="8192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438"/>
              </a:lnSpc>
              <a:buNone/>
            </a:pPr>
            <a:r>
              <a:rPr sz="3070" b="1">
                <a:solidFill>
                  <a:srgbClr val="10202A"/>
                </a:solidFill>
                <a:latin typeface="IBM Plex Sans"/>
                <a:ea typeface="IBM Plex Sans"/>
                <a:cs typeface="IBM Plex Sans"/>
              </a:rPr>
              <a:t>It always returns a path, and never says who it is following</a:t>
            </a:r>
            <a:endParaRPr sz="3070"/>
          </a:p>
        </p:txBody>
      </p:sp>
      <p:sp>
        <p:nvSpPr>
          <p:cNvPr id="4" name="Shape 2">
            <a:extLst xmlns:a="http://schemas.openxmlformats.org/drawingml/2006/main">
              <a:ext uri="{FF2B5EF4-FFF2-40B4-BE49-F238E27FC236}">
                <a16:creationId xmlns:a16="http://schemas.microsoft.com/office/drawing/2014/main" id="{FA979C43-A62C-4D29-8C47-65ECABDA37AD}"/>
              </a:ext>
            </a:extLst>
          </p:cNvPr>
          <p:cNvSpPr>
            <a:spLocks xmlns:a="http://schemas.openxmlformats.org/drawingml/2006/main" noGrp="1"/>
          </p:cNvSpPr>
          <p:nvPr/>
        </p:nvSpPr>
        <p:spPr>
          <a:xfrm xmlns:a="http://schemas.openxmlformats.org/drawingml/2006/main">
            <a:off x="815895" y="2354563"/>
            <a:ext cx="5155729" cy="3484278"/>
          </a:xfrm>
          <a:prstGeom xmlns:a="http://schemas.openxmlformats.org/drawingml/2006/main" prst="roundRect">
            <a:avLst>
              <a:gd name="adj" fmla="val 2825"/>
            </a:avLst>
          </a:prstGeom>
          <a:solidFill xmlns:a="http://schemas.openxmlformats.org/drawingml/2006/main">
            <a:srgbClr val="FFFFFF"/>
          </a:solidFill>
          <a:ln xmlns:a="http://schemas.openxmlformats.org/drawingml/2006/main" w="6350">
            <a:solidFill>
              <a:srgbClr val="D9DAD2"/>
            </a:solidFill>
            <a:prstDash val="solid"/>
          </a:ln>
        </p:spPr>
      </p:sp>
      <p:sp>
        <p:nvSpPr>
          <p:cNvPr id="5" name="Text 3">
            <a:extLst xmlns:a="http://schemas.openxmlformats.org/drawingml/2006/main">
              <a:ext uri="{FF2B5EF4-FFF2-40B4-BE49-F238E27FC236}">
                <a16:creationId xmlns:a16="http://schemas.microsoft.com/office/drawing/2014/main" id="{96CCEB0C-F28F-4D02-AA4E-271892F41169}"/>
              </a:ext>
            </a:extLst>
          </p:cNvPr>
          <p:cNvSpPr>
            <a:spLocks xmlns:a="http://schemas.openxmlformats.org/drawingml/2006/main" noGrp="1"/>
          </p:cNvSpPr>
          <p:nvPr/>
        </p:nvSpPr>
        <p:spPr>
          <a:xfrm xmlns:a="http://schemas.openxmlformats.org/drawingml/2006/main">
            <a:off x="1097846" y="2636515"/>
            <a:ext cx="4729580" cy="2987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60"/>
              </a:lnSpc>
              <a:buNone/>
            </a:pPr>
            <a:r>
              <a:rPr sz="1800" b="1">
                <a:solidFill>
                  <a:srgbClr val="0F7D76"/>
                </a:solidFill>
                <a:latin typeface="IBM Plex Sans"/>
                <a:ea typeface="IBM Plex Sans"/>
                <a:cs typeface="IBM Plex Sans"/>
              </a:rPr>
              <a:t>What it returns</a:t>
            </a:r>
            <a:endParaRPr sz="1800"/>
          </a:p>
        </p:txBody>
      </p:sp>
      <p:sp>
        <p:nvSpPr>
          <p:cNvPr id="6" name="Text 4">
            <a:extLst xmlns:a="http://schemas.openxmlformats.org/drawingml/2006/main">
              <a:ext uri="{FF2B5EF4-FFF2-40B4-BE49-F238E27FC236}">
                <a16:creationId xmlns:a16="http://schemas.microsoft.com/office/drawing/2014/main" id="{5D8457CA-C29C-4DDB-98B1-7C6BD5E246BA}"/>
              </a:ext>
            </a:extLst>
          </p:cNvPr>
          <p:cNvSpPr>
            <a:spLocks xmlns:a="http://schemas.openxmlformats.org/drawingml/2006/main" noGrp="1"/>
          </p:cNvSpPr>
          <p:nvPr/>
        </p:nvSpPr>
        <p:spPr>
          <a:xfrm xmlns:a="http://schemas.openxmlformats.org/drawingml/2006/main">
            <a:off x="1097846" y="3036853"/>
            <a:ext cx="4729580" cy="13981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212693" indent="-175735" algn="l">
              <a:lnSpc>
                <a:spcPts val="2163"/>
              </a:lnSpc>
              <a:buSzPct val="100000"/>
              <a:buChar char="•"/>
            </a:pPr>
            <a:r>
              <a:rPr sz="1396">
                <a:solidFill>
                  <a:srgbClr val="4D5A63"/>
                </a:solidFill>
                <a:latin typeface="IBM Plex Sans"/>
                <a:ea typeface="IBM Plex Sans"/>
                <a:cs typeface="IBM Plex Sans"/>
              </a:rPr>
              <a:t>Eight waypoints, each [x, y, yaw] in the robot's local frame</a:t>
            </a:r>
            <a:endParaRPr sz="1396"/>
          </a:p>
          <a:p xmlns:a="http://schemas.openxmlformats.org/drawingml/2006/main">
            <a:pPr marL="212693" indent="-175735" algn="l">
              <a:lnSpc>
                <a:spcPts val="2163"/>
              </a:lnSpc>
              <a:buSzPct val="100000"/>
              <a:buChar char="•"/>
            </a:pPr>
            <a:r>
              <a:rPr sz="1396">
                <a:solidFill>
                  <a:srgbClr val="4D5A63"/>
                </a:solidFill>
                <a:latin typeface="IBM Plex Sans"/>
                <a:ea typeface="IBM Plex Sans"/>
                <a:cs typeface="IBM Plex Sans"/>
              </a:rPr>
              <a:t>Always eight, on every single forward pass</a:t>
            </a:r>
            <a:endParaRPr sz="1396"/>
          </a:p>
          <a:p xmlns:a="http://schemas.openxmlformats.org/drawingml/2006/main">
            <a:pPr marL="212693" indent="-175735" algn="l">
              <a:lnSpc>
                <a:spcPts val="2163"/>
              </a:lnSpc>
              <a:buSzPct val="100000"/>
              <a:buChar char="•"/>
            </a:pPr>
            <a:r>
              <a:rPr sz="1396">
                <a:solidFill>
                  <a:srgbClr val="4D5A63"/>
                </a:solidFill>
                <a:latin typeface="IBM Plex Sans"/>
                <a:ea typeface="IBM Plex Sans"/>
                <a:cs typeface="IBM Plex Sans"/>
              </a:rPr>
              <a:t>Metres and radians, unnormalised, scaled by a constant</a:t>
            </a:r>
            <a:endParaRPr sz="1396"/>
          </a:p>
        </p:txBody>
      </p:sp>
      <p:sp>
        <p:nvSpPr>
          <p:cNvPr id="7" name="Shape 5">
            <a:extLst xmlns:a="http://schemas.openxmlformats.org/drawingml/2006/main">
              <a:ext uri="{FF2B5EF4-FFF2-40B4-BE49-F238E27FC236}">
                <a16:creationId xmlns:a16="http://schemas.microsoft.com/office/drawing/2014/main" id="{75F03D25-8001-427D-921B-1160C902C5E0}"/>
              </a:ext>
            </a:extLst>
          </p:cNvPr>
          <p:cNvSpPr>
            <a:spLocks xmlns:a="http://schemas.openxmlformats.org/drawingml/2006/main" noGrp="1"/>
          </p:cNvSpPr>
          <p:nvPr/>
        </p:nvSpPr>
        <p:spPr>
          <a:xfrm xmlns:a="http://schemas.openxmlformats.org/drawingml/2006/main">
            <a:off x="1097846" y="4536576"/>
            <a:ext cx="4591826" cy="1020315"/>
          </a:xfrm>
          <a:prstGeom xmlns:a="http://schemas.openxmlformats.org/drawingml/2006/main" prst="roundRect">
            <a:avLst>
              <a:gd name="adj" fmla="val 7468"/>
            </a:avLst>
          </a:prstGeom>
          <a:solidFill xmlns:a="http://schemas.openxmlformats.org/drawingml/2006/main">
            <a:srgbClr val="EAEAE4"/>
          </a:solidFill>
        </p:spPr>
      </p:sp>
      <p:sp>
        <p:nvSpPr>
          <p:cNvPr id="8" name="Text 6">
            <a:extLst xmlns:a="http://schemas.openxmlformats.org/drawingml/2006/main">
              <a:ext uri="{FF2B5EF4-FFF2-40B4-BE49-F238E27FC236}">
                <a16:creationId xmlns:a16="http://schemas.microsoft.com/office/drawing/2014/main" id="{351A9221-4CDF-4152-88B4-67AA7701D550}"/>
              </a:ext>
            </a:extLst>
          </p:cNvPr>
          <p:cNvSpPr>
            <a:spLocks xmlns:a="http://schemas.openxmlformats.org/drawingml/2006/main" noGrp="1"/>
          </p:cNvSpPr>
          <p:nvPr/>
        </p:nvSpPr>
        <p:spPr>
          <a:xfrm xmlns:a="http://schemas.openxmlformats.org/drawingml/2006/main">
            <a:off x="1250246" y="4688976"/>
            <a:ext cx="4415636" cy="74091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85"/>
              </a:lnSpc>
              <a:buNone/>
            </a:pPr>
            <a:r>
              <a:rPr sz="1300">
                <a:solidFill>
                  <a:srgbClr val="4D5A63"/>
                </a:solidFill>
                <a:latin typeface="IBM Plex Sans"/>
                <a:ea typeface="IBM Plex Sans"/>
                <a:cs typeface="IBM Plex Sans"/>
              </a:rPr>
              <a:t>The upstream agent takes waypoint index 1, divides by dt = 0.1 s, and uses that as the base velocity. The bridge does exactly the same thing before clipping.</a:t>
            </a:r>
            <a:endParaRPr sz="1300"/>
          </a:p>
        </p:txBody>
      </p:sp>
      <p:sp>
        <p:nvSpPr>
          <p:cNvPr id="9" name="Shape 7">
            <a:extLst xmlns:a="http://schemas.openxmlformats.org/drawingml/2006/main">
              <a:ext uri="{FF2B5EF4-FFF2-40B4-BE49-F238E27FC236}">
                <a16:creationId xmlns:a16="http://schemas.microsoft.com/office/drawing/2014/main" id="{0102E05D-B3D7-4EAA-9925-22B09DB02BAA}"/>
              </a:ext>
            </a:extLst>
          </p:cNvPr>
          <p:cNvSpPr>
            <a:spLocks xmlns:a="http://schemas.openxmlformats.org/drawingml/2006/main" noGrp="1"/>
          </p:cNvSpPr>
          <p:nvPr/>
        </p:nvSpPr>
        <p:spPr>
          <a:xfrm xmlns:a="http://schemas.openxmlformats.org/drawingml/2006/main">
            <a:off x="6228767" y="2351388"/>
            <a:ext cx="5150485" cy="3490628"/>
          </a:xfrm>
          <a:prstGeom xmlns:a="http://schemas.openxmlformats.org/drawingml/2006/main" prst="roundRect">
            <a:avLst>
              <a:gd name="adj" fmla="val 2911"/>
            </a:avLst>
          </a:prstGeom>
          <a:solidFill xmlns:a="http://schemas.openxmlformats.org/drawingml/2006/main">
            <a:srgbClr val="10202A"/>
          </a:solidFill>
        </p:spPr>
      </p:sp>
      <p:sp>
        <p:nvSpPr>
          <p:cNvPr id="10" name="Text 8">
            <a:extLst xmlns:a="http://schemas.openxmlformats.org/drawingml/2006/main">
              <a:ext uri="{FF2B5EF4-FFF2-40B4-BE49-F238E27FC236}">
                <a16:creationId xmlns:a16="http://schemas.microsoft.com/office/drawing/2014/main" id="{2E7F46CE-81BD-450B-BFF4-94DAD7861749}"/>
              </a:ext>
            </a:extLst>
          </p:cNvPr>
          <p:cNvSpPr>
            <a:spLocks xmlns:a="http://schemas.openxmlformats.org/drawingml/2006/main" noGrp="1"/>
          </p:cNvSpPr>
          <p:nvPr/>
        </p:nvSpPr>
        <p:spPr>
          <a:xfrm xmlns:a="http://schemas.openxmlformats.org/drawingml/2006/main">
            <a:off x="6508097" y="2630720"/>
            <a:ext cx="4729580" cy="2509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3"/>
              </a:lnSpc>
              <a:buNone/>
            </a:pPr>
            <a:r>
              <a:rPr sz="1519" b="1">
                <a:solidFill>
                  <a:srgbClr val="E0913C"/>
                </a:solidFill>
                <a:latin typeface="IBM Plex Sans"/>
                <a:ea typeface="IBM Plex Sans"/>
                <a:cs typeface="IBM Plex Sans"/>
              </a:rPr>
              <a:t>What it never returns</a:t>
            </a:r>
            <a:endParaRPr sz="1519"/>
          </a:p>
        </p:txBody>
      </p:sp>
      <p:sp>
        <p:nvSpPr>
          <p:cNvPr id="11" name="Text 9">
            <a:extLst xmlns:a="http://schemas.openxmlformats.org/drawingml/2006/main">
              <a:ext uri="{FF2B5EF4-FFF2-40B4-BE49-F238E27FC236}">
                <a16:creationId xmlns:a16="http://schemas.microsoft.com/office/drawing/2014/main" id="{513AD725-3CBC-41BD-8B06-78E761C66C7E}"/>
              </a:ext>
            </a:extLst>
          </p:cNvPr>
          <p:cNvSpPr>
            <a:spLocks xmlns:a="http://schemas.openxmlformats.org/drawingml/2006/main" noGrp="1"/>
          </p:cNvSpPr>
          <p:nvPr/>
        </p:nvSpPr>
        <p:spPr>
          <a:xfrm xmlns:a="http://schemas.openxmlformats.org/drawingml/2006/main">
            <a:off x="6508097" y="2983232"/>
            <a:ext cx="4729580" cy="138536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176022" indent="-154851" algn="l">
              <a:lnSpc>
                <a:spcPts val="1790"/>
              </a:lnSpc>
              <a:buSzPct val="100000"/>
              <a:buChar char="•"/>
            </a:pPr>
            <a:r>
              <a:rPr sz="1155">
                <a:solidFill>
                  <a:srgbClr val="A9BCC4"/>
                </a:solidFill>
                <a:latin typeface="IBM Plex Sans"/>
                <a:ea typeface="IBM Plex Sans"/>
                <a:cs typeface="IBM Plex Sans"/>
              </a:rPr>
              <a:t>A target identity or a track</a:t>
            </a:r>
            <a:endParaRPr sz="1155"/>
          </a:p>
          <a:p xmlns:a="http://schemas.openxmlformats.org/drawingml/2006/main">
            <a:pPr marL="176022" indent="-154851" algn="l">
              <a:lnSpc>
                <a:spcPts val="1790"/>
              </a:lnSpc>
              <a:buSzPct val="100000"/>
              <a:buChar char="•"/>
            </a:pPr>
            <a:r>
              <a:rPr sz="1155">
                <a:solidFill>
                  <a:srgbClr val="A9BCC4"/>
                </a:solidFill>
                <a:latin typeface="IBM Plex Sans"/>
                <a:ea typeface="IBM Plex Sans"/>
                <a:cs typeface="IBM Plex Sans"/>
              </a:rPr>
              <a:t>A confidence in that target</a:t>
            </a:r>
            <a:endParaRPr sz="1155"/>
          </a:p>
          <a:p xmlns:a="http://schemas.openxmlformats.org/drawingml/2006/main">
            <a:pPr marL="176022" indent="-154851" algn="l">
              <a:lnSpc>
                <a:spcPts val="1790"/>
              </a:lnSpc>
              <a:buSzPct val="100000"/>
              <a:buChar char="•"/>
            </a:pPr>
            <a:r>
              <a:rPr sz="1155">
                <a:solidFill>
                  <a:srgbClr val="A9BCC4"/>
                </a:solidFill>
                <a:latin typeface="IBM Plex Sans"/>
                <a:ea typeface="IBM Plex Sans"/>
                <a:cs typeface="IBM Plex Sans"/>
              </a:rPr>
              <a:t>A target-present flag</a:t>
            </a:r>
            <a:endParaRPr sz="1155"/>
          </a:p>
          <a:p xmlns:a="http://schemas.openxmlformats.org/drawingml/2006/main">
            <a:pPr marL="176022" indent="-154851" algn="l">
              <a:lnSpc>
                <a:spcPts val="1790"/>
              </a:lnSpc>
              <a:buSzPct val="100000"/>
              <a:buChar char="•"/>
            </a:pPr>
            <a:r>
              <a:rPr sz="1155">
                <a:solidFill>
                  <a:srgbClr val="A9BCC4"/>
                </a:solidFill>
                <a:latin typeface="IBM Plex Sans"/>
                <a:ea typeface="IBM Plex Sans"/>
                <a:cs typeface="IBM Plex Sans"/>
              </a:rPr>
              <a:t>A target-lost signal</a:t>
            </a:r>
            <a:endParaRPr sz="1155"/>
          </a:p>
          <a:p xmlns:a="http://schemas.openxmlformats.org/drawingml/2006/main">
            <a:pPr marL="176022" indent="-154851" algn="l">
              <a:lnSpc>
                <a:spcPts val="1790"/>
              </a:lnSpc>
              <a:buSzPct val="100000"/>
              <a:buChar char="•"/>
            </a:pPr>
            <a:r>
              <a:rPr sz="1155">
                <a:solidFill>
                  <a:srgbClr val="A9BCC4"/>
                </a:solidFill>
                <a:latin typeface="IBM Plex Sans"/>
                <a:ea typeface="IBM Plex Sans"/>
                <a:cs typeface="IBM Plex Sans"/>
              </a:rPr>
              <a:t>Any way to abstain — it always returns eight well-formed waypoints</a:t>
            </a:r>
            <a:endParaRPr sz="1155"/>
          </a:p>
        </p:txBody>
      </p:sp>
      <p:sp>
        <p:nvSpPr>
          <p:cNvPr id="12" name="Shape 10">
            <a:extLst xmlns:a="http://schemas.openxmlformats.org/drawingml/2006/main">
              <a:ext uri="{FF2B5EF4-FFF2-40B4-BE49-F238E27FC236}">
                <a16:creationId xmlns:a16="http://schemas.microsoft.com/office/drawing/2014/main" id="{75308B67-CAB9-4080-952F-90E8E339F319}"/>
              </a:ext>
            </a:extLst>
          </p:cNvPr>
          <p:cNvSpPr>
            <a:spLocks xmlns:a="http://schemas.openxmlformats.org/drawingml/2006/main" noGrp="1"/>
          </p:cNvSpPr>
          <p:nvPr/>
        </p:nvSpPr>
        <p:spPr>
          <a:xfrm xmlns:a="http://schemas.openxmlformats.org/drawingml/2006/main">
            <a:off x="6508097" y="4470186"/>
            <a:ext cx="4591826" cy="1092503"/>
          </a:xfrm>
          <a:prstGeom xmlns:a="http://schemas.openxmlformats.org/drawingml/2006/main" prst="roundRect">
            <a:avLst>
              <a:gd name="adj" fmla="val 6975"/>
            </a:avLst>
          </a:prstGeom>
          <a:solidFill xmlns:a="http://schemas.openxmlformats.org/drawingml/2006/main">
            <a:srgbClr val="17303D"/>
          </a:solidFill>
        </p:spPr>
      </p:sp>
      <p:sp>
        <p:nvSpPr>
          <p:cNvPr id="13" name="Text 11">
            <a:extLst xmlns:a="http://schemas.openxmlformats.org/drawingml/2006/main">
              <a:ext uri="{FF2B5EF4-FFF2-40B4-BE49-F238E27FC236}">
                <a16:creationId xmlns:a16="http://schemas.microsoft.com/office/drawing/2014/main" id="{38B7D63F-B4D5-4D0A-8ED2-22BCECC0614F}"/>
              </a:ext>
            </a:extLst>
          </p:cNvPr>
          <p:cNvSpPr>
            <a:spLocks xmlns:a="http://schemas.openxmlformats.org/drawingml/2006/main" noGrp="1"/>
          </p:cNvSpPr>
          <p:nvPr/>
        </p:nvSpPr>
        <p:spPr>
          <a:xfrm xmlns:a="http://schemas.openxmlformats.org/drawingml/2006/main">
            <a:off x="6660497" y="4622586"/>
            <a:ext cx="4415636" cy="8131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38"/>
              </a:lnSpc>
              <a:buNone/>
            </a:pPr>
            <a:r>
              <a:rPr sz="1268">
                <a:solidFill>
                  <a:srgbClr val="F6F6F2"/>
                </a:solidFill>
                <a:latin typeface="IBM Plex Sans"/>
                <a:ea typeface="IBM Plex Sans"/>
                <a:cs typeface="IBM Plex Sans"/>
              </a:rPr>
              <a:t>With no target-present output, an empty corridor and a correctly-followed leader produce the same kind of answer. Something outside the network has to tell them apart.</a:t>
            </a:r>
            <a:endParaRPr sz="1268"/>
          </a:p>
        </p:txBody>
      </p:sp>
      <p:sp>
        <p:nvSpPr>
          <p:cNvPr id="14" name="Text 12">
            <a:extLst xmlns:a="http://schemas.openxmlformats.org/drawingml/2006/main">
              <a:ext uri="{FF2B5EF4-FFF2-40B4-BE49-F238E27FC236}">
                <a16:creationId xmlns:a16="http://schemas.microsoft.com/office/drawing/2014/main" id="{21FF454A-5231-4B16-90A2-D75AB86BB360}"/>
              </a:ext>
            </a:extLst>
          </p:cNvPr>
          <p:cNvSpPr>
            <a:spLocks xmlns:a="http://schemas.openxmlformats.org/drawingml/2006/main" noGrp="1"/>
          </p:cNvSpPr>
          <p:nvPr/>
        </p:nvSpPr>
        <p:spPr>
          <a:xfrm xmlns:a="http://schemas.openxmlformats.org/drawingml/2006/main">
            <a:off x="812720" y="6238280"/>
            <a:ext cx="9590141"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7A848C"/>
                </a:solidFill>
                <a:latin typeface="IBM Plex Sans"/>
                <a:ea typeface="IBM Plex Sans"/>
                <a:cs typeface="IBM Plex Sans"/>
              </a:rPr>
              <a:t>Audited against upstream commit e9cb1fb. A provision for a presence signal exists in the data pipeline but its call site is commented out.</a:t>
            </a:r>
            <a:endParaRPr sz="1200"/>
          </a:p>
        </p:txBody>
      </p:sp>
    </p:spTree>
    <p:extLst>
      <p:ext uri="{BB962C8B-B14F-4D97-AF65-F5344CB8AC3E}">
        <p14:creationId xmlns:p14="http://schemas.microsoft.com/office/powerpoint/2010/main" val="2060278271"/>
      </p:ext>
    </p:extLst>
  </p:cSld>
</p:sld>
</file>

<file path=ppt/slides/slide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6E5F75-CA2F-463E-BE8A-B1E28A858A20}"/>
              </a:ext>
            </a:extLst>
          </p:cNvPr>
          <p:cNvSpPr>
            <a:spLocks xmlns:a="http://schemas.openxmlformats.org/drawingml/2006/main" noGrp="1"/>
          </p:cNvSpPr>
          <p:nvPr/>
        </p:nvSpPr>
        <p:spPr>
          <a:xfrm xmlns:a="http://schemas.openxmlformats.org/drawingml/2006/main">
            <a:off x="812720" y="812719"/>
            <a:ext cx="10883529" cy="2158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spc="150">
                <a:solidFill>
                  <a:srgbClr val="9C5308"/>
                </a:solidFill>
                <a:latin typeface="JetBrains Mono"/>
                <a:ea typeface="JetBrains Mono"/>
                <a:cs typeface="JetBrains Mono"/>
              </a:rPr>
              <a:t>PART 1 · THE FINDING THAT SHAPED EVERYTHING</a:t>
            </a:r>
            <a:endParaRPr sz="1088"/>
          </a:p>
        </p:txBody>
      </p:sp>
      <p:sp>
        <p:nvSpPr>
          <p:cNvPr id="3" name="Text 1">
            <a:extLst xmlns:a="http://schemas.openxmlformats.org/drawingml/2006/main">
              <a:ext uri="{FF2B5EF4-FFF2-40B4-BE49-F238E27FC236}">
                <a16:creationId xmlns:a16="http://schemas.microsoft.com/office/drawing/2014/main" id="{8D92A39E-D8B3-44E8-969B-4BA7002AB731}"/>
              </a:ext>
            </a:extLst>
          </p:cNvPr>
          <p:cNvSpPr>
            <a:spLocks xmlns:a="http://schemas.openxmlformats.org/drawingml/2006/main" noGrp="1"/>
          </p:cNvSpPr>
          <p:nvPr/>
        </p:nvSpPr>
        <p:spPr>
          <a:xfrm xmlns:a="http://schemas.openxmlformats.org/drawingml/2006/main">
            <a:off x="812720" y="1257167"/>
            <a:ext cx="10883529" cy="83793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203"/>
              </a:lnSpc>
              <a:buNone/>
            </a:pPr>
            <a:r>
              <a:rPr sz="2860" b="1">
                <a:solidFill>
                  <a:srgbClr val="10202A"/>
                </a:solidFill>
                <a:latin typeface="IBM Plex Sans"/>
                <a:ea typeface="IBM Plex Sans"/>
                <a:cs typeface="IBM Plex Sans"/>
              </a:rPr>
              <a:t>Changing the prompt did not reliably select the target</a:t>
            </a:r>
            <a:endParaRPr sz="2860"/>
          </a:p>
        </p:txBody>
      </p:sp>
      <p:sp>
        <p:nvSpPr>
          <p:cNvPr id="4" name="Current evidence">
            <a:extLst xmlns:a="http://schemas.openxmlformats.org/drawingml/2006/main">
              <a:ext uri="{FF2B5EF4-FFF2-40B4-BE49-F238E27FC236}">
                <a16:creationId xmlns:a16="http://schemas.microsoft.com/office/drawing/2014/main" id="{B045345F-8BC4-4BD0-AD69-5C1ED777EF8A}"/>
              </a:ext>
            </a:extLst>
          </p:cNvPr>
          <p:cNvSpPr>
            <a:spLocks xmlns:a="http://schemas.openxmlformats.org/drawingml/2006/main" noGrp="1"/>
          </p:cNvSpPr>
          <p:nvPr/>
        </p:nvSpPr>
        <p:spPr>
          <a:xfrm xmlns:a="http://schemas.openxmlformats.org/drawingml/2006/main">
            <a:off x="1047750" y="223837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2000"/>
              </a:lnSpc>
              <a:buNone/>
              <a:defRPr sz="2025">
                <a:solidFill>
                  <a:srgbClr val="273943"/>
                </a:solidFill>
                <a:latin typeface="IBM Plex Sans"/>
                <a:ea typeface="IBM Plex Sans"/>
                <a:cs typeface="IBM Plex Sans"/>
              </a:defRPr>
            </a:pPr>
            <a:r>
              <a:rPr sz="2025">
                <a:solidFill>
                  <a:srgbClr val="273943"/>
                </a:solidFill>
                <a:latin typeface="IBM Plex Sans"/>
                <a:ea typeface="IBM Plex Sans"/>
                <a:cs typeface="IBM Plex Sans"/>
              </a:rPr>
              <a:t>An identical real-camera frame was tested with instructions naming a black jacket, a white lab coat, a black chair, and even motion away from the scene. The released checkpoint produced similar forward commands. The values changed slightly, but the comparison did not demonstrate reliable selection of the named person. The local target manager therefore checks identity separately, and the controller joins a depth-localized leader with the raw OmTrackVLA proposal. This observation is one frame, not a general accuracy measurement.</a:t>
            </a:r>
          </a:p>
        </p:txBody>
      </p:sp>
    </p:spTree>
    <p:extLst>
      <p:ext uri="{BB962C8B-B14F-4D97-AF65-F5344CB8AC3E}">
        <p14:creationId xmlns:p14="http://schemas.microsoft.com/office/powerpoint/2010/main" val="933901017"/>
      </p:ext>
    </p:extLst>
  </p:cSld>
</p:sld>
</file>

<file path=ppt/slides/slide8.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BE9BA6-DD46-4B0D-940A-C1554C8072DC}"/>
              </a:ext>
            </a:extLst>
          </p:cNvPr>
          <p:cNvSpPr>
            <a:spLocks xmlns:a="http://schemas.openxmlformats.org/drawingml/2006/main" noGrp="1"/>
          </p:cNvSpPr>
          <p:nvPr/>
        </p:nvSpPr>
        <p:spPr>
          <a:xfrm xmlns:a="http://schemas.openxmlformats.org/drawingml/2006/main">
            <a:off x="812720" y="812719"/>
            <a:ext cx="10883529" cy="2031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spc="150">
                <a:solidFill>
                  <a:srgbClr val="0F7D76"/>
                </a:solidFill>
                <a:latin typeface="JetBrains Mono"/>
                <a:ea typeface="JetBrains Mono"/>
                <a:cs typeface="JetBrains Mono"/>
              </a:rPr>
              <a:t>PART 2 · HOW DETECTION WORKS</a:t>
            </a:r>
            <a:endParaRPr sz="1016"/>
          </a:p>
        </p:txBody>
      </p:sp>
      <p:sp>
        <p:nvSpPr>
          <p:cNvPr id="3" name="Text 1">
            <a:extLst xmlns:a="http://schemas.openxmlformats.org/drawingml/2006/main">
              <a:ext uri="{FF2B5EF4-FFF2-40B4-BE49-F238E27FC236}">
                <a16:creationId xmlns:a16="http://schemas.microsoft.com/office/drawing/2014/main" id="{86CFE491-C88C-48BF-8EDA-9F5FA82EAD4E}"/>
              </a:ext>
            </a:extLst>
          </p:cNvPr>
          <p:cNvSpPr>
            <a:spLocks xmlns:a="http://schemas.openxmlformats.org/drawingml/2006/main" noGrp="1"/>
          </p:cNvSpPr>
          <p:nvPr/>
        </p:nvSpPr>
        <p:spPr>
          <a:xfrm xmlns:a="http://schemas.openxmlformats.org/drawingml/2006/main">
            <a:off x="812720" y="1168223"/>
            <a:ext cx="10883529" cy="78359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102"/>
              </a:lnSpc>
              <a:buNone/>
            </a:pPr>
            <a:r>
              <a:rPr sz="2770" b="1">
                <a:solidFill>
                  <a:srgbClr val="10202A"/>
                </a:solidFill>
                <a:latin typeface="IBM Plex Sans"/>
                <a:ea typeface="IBM Plex Sans"/>
                <a:cs typeface="IBM Plex Sans"/>
              </a:rPr>
              <a:t>How the target is detected and tracked</a:t>
            </a:r>
            <a:endParaRPr sz="2770"/>
          </a:p>
        </p:txBody>
      </p:sp>
      <p:sp>
        <p:nvSpPr>
          <p:cNvPr id="4" name="Plain-language explanation">
            <a:extLst xmlns:a="http://schemas.openxmlformats.org/drawingml/2006/main">
              <a:ext uri="{FF2B5EF4-FFF2-40B4-BE49-F238E27FC236}">
                <a16:creationId xmlns:a16="http://schemas.microsoft.com/office/drawing/2014/main" id="{BE53D997-2419-42EA-8569-A17375A373F1}"/>
              </a:ext>
            </a:extLst>
          </p:cNvPr>
          <p:cNvSpPr>
            <a:spLocks xmlns:a="http://schemas.openxmlformats.org/drawingml/2006/main" noGrp="1"/>
          </p:cNvSpPr>
          <p:nvPr/>
        </p:nvSpPr>
        <p:spPr>
          <a:xfrm xmlns:a="http://schemas.openxmlformats.org/drawingml/2006/main">
            <a:off x="1047750" y="2333625"/>
            <a:ext cx="10001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89"/>
          </a:bodyPr>
          <a:lstStyle xmlns:a="http://schemas.openxmlformats.org/drawingml/2006/main"/>
          <a:p xmlns:a="http://schemas.openxmlformats.org/drawingml/2006/main">
            <a:pPr>
              <a:lnSpc>
                <a:spcPct val="125000"/>
              </a:lnSpc>
              <a:buNone/>
              <a:defRPr sz="2025">
                <a:solidFill>
                  <a:srgbClr val="273943"/>
                </a:solidFill>
                <a:latin typeface="IBM Plex Sans"/>
                <a:ea typeface="IBM Plex Sans"/>
                <a:cs typeface="IBM Plex Sans"/>
              </a:defRPr>
            </a:pPr>
            <a:r>
              <a:rPr sz="2025">
                <a:solidFill>
                  <a:srgbClr val="273943"/>
                </a:solidFill>
                <a:latin typeface="IBM Plex Sans"/>
                <a:ea typeface="IBM Plex Sans"/>
                <a:cs typeface="IBM Plex Sans"/>
              </a:rPr>
              <a:t>The target manager runs YOLO11n and BoT-SORT on every 3 Hz target frame so it can detect and track every person in view. While the system is searching or recovering, Grounding DINO runs once every eight target frames to connect the visual attribute in the prompt to a person. A candidate must pass the geometry, colour, and ambiguity checks before the system can lock it. After locking, the tracker and the HSV appearance gallery maintain that identity on each frame. This detection branch returns the target state, track ID, bounding box, scores, and annotated image. It never produces a velocity.</a:t>
            </a:r>
          </a:p>
        </p:txBody>
      </p:sp>
    </p:spTree>
    <p:extLst>
      <p:ext uri="{BB962C8B-B14F-4D97-AF65-F5344CB8AC3E}">
        <p14:creationId xmlns:p14="http://schemas.microsoft.com/office/powerpoint/2010/main" val="445267375"/>
      </p:ext>
    </p:extLst>
  </p:cSld>
</p:sld>
</file>

<file path=ppt/slides/slide9.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85E3F8-50AB-47CE-AD4E-926FFAD9B4CA}"/>
              </a:ext>
            </a:extLst>
          </p:cNvPr>
          <p:cNvSpPr>
            <a:spLocks xmlns:a="http://schemas.openxmlformats.org/drawingml/2006/main" noGrp="1"/>
          </p:cNvSpPr>
          <p:nvPr/>
        </p:nvSpPr>
        <p:spPr>
          <a:xfrm xmlns:a="http://schemas.openxmlformats.org/drawingml/2006/main">
            <a:off x="812720" y="812719"/>
            <a:ext cx="10883529"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50">
                <a:solidFill>
                  <a:srgbClr val="0F7D76"/>
                </a:solidFill>
                <a:latin typeface="JetBrains Mono"/>
                <a:ea typeface="JetBrains Mono"/>
                <a:cs typeface="JetBrains Mono"/>
              </a:rPr>
              <a:t>PART 2 · FROM SENTENCE TO QUERY</a:t>
            </a:r>
            <a:endParaRPr sz="1200"/>
          </a:p>
        </p:txBody>
      </p:sp>
      <p:sp>
        <p:nvSpPr>
          <p:cNvPr id="3" name="Text 1">
            <a:extLst xmlns:a="http://schemas.openxmlformats.org/drawingml/2006/main">
              <a:ext uri="{FF2B5EF4-FFF2-40B4-BE49-F238E27FC236}">
                <a16:creationId xmlns:a16="http://schemas.microsoft.com/office/drawing/2014/main" id="{BC0A3840-6F74-457A-BD62-1388F0028731}"/>
              </a:ext>
            </a:extLst>
          </p:cNvPr>
          <p:cNvSpPr>
            <a:spLocks xmlns:a="http://schemas.openxmlformats.org/drawingml/2006/main" noGrp="1"/>
          </p:cNvSpPr>
          <p:nvPr/>
        </p:nvSpPr>
        <p:spPr>
          <a:xfrm xmlns:a="http://schemas.openxmlformats.org/drawingml/2006/main">
            <a:off x="812720" y="1229271"/>
            <a:ext cx="10883529" cy="48053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584"/>
              </a:lnSpc>
              <a:buNone/>
            </a:pPr>
            <a:r>
              <a:rPr sz="3200" b="1">
                <a:solidFill>
                  <a:srgbClr val="10202A"/>
                </a:solidFill>
                <a:latin typeface="IBM Plex Sans"/>
                <a:ea typeface="IBM Plex Sans"/>
                <a:cs typeface="IBM Plex Sans"/>
              </a:rPr>
              <a:t>How one instruction becomes two model inputs</a:t>
            </a:r>
            <a:endParaRPr sz="3200"/>
          </a:p>
        </p:txBody>
      </p:sp>
      <p:sp>
        <p:nvSpPr>
          <p:cNvPr id="4" name="Current evidence">
            <a:extLst xmlns:a="http://schemas.openxmlformats.org/drawingml/2006/main">
              <a:ext uri="{FF2B5EF4-FFF2-40B4-BE49-F238E27FC236}">
                <a16:creationId xmlns:a16="http://schemas.microsoft.com/office/drawing/2014/main" id="{56750A5C-299F-4FED-9693-CA1DB718F08D}"/>
              </a:ext>
            </a:extLst>
          </p:cNvPr>
          <p:cNvSpPr>
            <a:spLocks xmlns:a="http://schemas.openxmlformats.org/drawingml/2006/main" noGrp="1"/>
          </p:cNvSpPr>
          <p:nvPr/>
        </p:nvSpPr>
        <p:spPr>
          <a:xfrm xmlns:a="http://schemas.openxmlformats.org/drawingml/2006/main">
            <a:off x="1047750" y="223837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2000"/>
              </a:lnSpc>
              <a:buNone/>
              <a:defRPr sz="2025">
                <a:solidFill>
                  <a:srgbClr val="273943"/>
                </a:solidFill>
                <a:latin typeface="IBM Plex Sans"/>
                <a:ea typeface="IBM Plex Sans"/>
                <a:cs typeface="IBM Plex Sans"/>
              </a:defRPr>
            </a:pPr>
            <a:r>
              <a:rPr sz="2025">
                <a:solidFill>
                  <a:srgbClr val="273943"/>
                </a:solidFill>
                <a:latin typeface="IBM Plex Sans"/>
                <a:ea typeface="IBM Plex Sans"/>
                <a:cs typeface="IBM Plex Sans"/>
              </a:rPr>
              <a:t>The active startup instruction is “Follow the person who is holding blue basket.” OmTrackVLA receives that full sentence. The target manager removes action words, extracts “blue basket,” and asks Grounding DINO for “person.” and “blue basket.” as separate phrases. It accepts the basket only when the attribute box lies mostly inside a detected person box, is smaller than that box, and passes the blue colour check. The full instruction still reaches the released planner; the selected target box enters the local controller after inference.</a:t>
            </a:r>
          </a:p>
        </p:txBody>
      </p:sp>
    </p:spTree>
    <p:extLst>
      <p:ext uri="{BB962C8B-B14F-4D97-AF65-F5344CB8AC3E}">
        <p14:creationId xmlns:p14="http://schemas.microsoft.com/office/powerpoint/2010/main" val="219000640"/>
      </p:ext>
    </p:extLst>
  </p:cSld>
</p:sld>
</file>

<file path=ppt/slides/slide10.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D1381F-141C-4B6E-937F-5109629AD92B}"/>
              </a:ext>
            </a:extLst>
          </p:cNvPr>
          <p:cNvSpPr>
            <a:spLocks xmlns:a="http://schemas.openxmlformats.org/drawingml/2006/main" noGrp="1"/>
          </p:cNvSpPr>
          <p:nvPr/>
        </p:nvSpPr>
        <p:spPr>
          <a:xfrm xmlns:a="http://schemas.openxmlformats.org/drawingml/2006/main">
            <a:off x="812720" y="812719"/>
            <a:ext cx="10883529" cy="22221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5"/>
              </a:lnSpc>
              <a:buNone/>
            </a:pPr>
            <a:r>
              <a:rPr sz="1125" spc="150">
                <a:solidFill>
                  <a:srgbClr val="0F7D76"/>
                </a:solidFill>
                <a:latin typeface="JetBrains Mono"/>
                <a:ea typeface="JetBrains Mono"/>
                <a:cs typeface="JetBrains Mono"/>
              </a:rPr>
              <a:t>PART 2 · WHY THE PROMPT IS SPLIT</a:t>
            </a:r>
            <a:endParaRPr sz="1125"/>
          </a:p>
        </p:txBody>
      </p:sp>
      <p:sp>
        <p:nvSpPr>
          <p:cNvPr id="3" name="Text 1">
            <a:extLst xmlns:a="http://schemas.openxmlformats.org/drawingml/2006/main">
              <a:ext uri="{FF2B5EF4-FFF2-40B4-BE49-F238E27FC236}">
                <a16:creationId xmlns:a16="http://schemas.microsoft.com/office/drawing/2014/main" id="{32CA665C-D1F4-4282-A75D-EDA53ABAC8F8}"/>
              </a:ext>
            </a:extLst>
          </p:cNvPr>
          <p:cNvSpPr>
            <a:spLocks xmlns:a="http://schemas.openxmlformats.org/drawingml/2006/main" noGrp="1"/>
          </p:cNvSpPr>
          <p:nvPr/>
        </p:nvSpPr>
        <p:spPr>
          <a:xfrm xmlns:a="http://schemas.openxmlformats.org/drawingml/2006/main">
            <a:off x="812720" y="1263501"/>
            <a:ext cx="10883529" cy="4450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15"/>
              </a:lnSpc>
              <a:buNone/>
            </a:pPr>
            <a:r>
              <a:rPr sz="2960" b="1">
                <a:solidFill>
                  <a:srgbClr val="10202A"/>
                </a:solidFill>
                <a:latin typeface="IBM Plex Sans"/>
                <a:ea typeface="IBM Plex Sans"/>
                <a:cs typeface="IBM Plex Sans"/>
              </a:rPr>
              <a:t>A whole sentence made every human a match</a:t>
            </a:r>
            <a:endParaRPr sz="2960"/>
          </a:p>
        </p:txBody>
      </p:sp>
      <p:sp>
        <p:nvSpPr>
          <p:cNvPr id="4" name="Shape 2">
            <a:extLst xmlns:a="http://schemas.openxmlformats.org/drawingml/2006/main">
              <a:ext uri="{FF2B5EF4-FFF2-40B4-BE49-F238E27FC236}">
                <a16:creationId xmlns:a16="http://schemas.microsoft.com/office/drawing/2014/main" id="{37F13A1D-AAE0-47C8-B3ED-899D74DCFA78}"/>
              </a:ext>
            </a:extLst>
          </p:cNvPr>
          <p:cNvSpPr>
            <a:spLocks xmlns:a="http://schemas.openxmlformats.org/drawingml/2006/main" noGrp="1"/>
          </p:cNvSpPr>
          <p:nvPr/>
        </p:nvSpPr>
        <p:spPr>
          <a:xfrm xmlns:a="http://schemas.openxmlformats.org/drawingml/2006/main">
            <a:off x="815895" y="1940278"/>
            <a:ext cx="5149932" cy="2525100"/>
          </a:xfrm>
          <a:prstGeom xmlns:a="http://schemas.openxmlformats.org/drawingml/2006/main" prst="roundRect">
            <a:avLst>
              <a:gd name="adj" fmla="val 3898"/>
            </a:avLst>
          </a:prstGeom>
          <a:solidFill xmlns:a="http://schemas.openxmlformats.org/drawingml/2006/main">
            <a:srgbClr val="F6F6F2"/>
          </a:solidFill>
          <a:ln xmlns:a="http://schemas.openxmlformats.org/drawingml/2006/main" w="6350">
            <a:solidFill>
              <a:srgbClr val="D9DAD2"/>
            </a:solidFill>
            <a:prstDash val="solid"/>
          </a:ln>
        </p:spPr>
      </p:sp>
      <p:sp>
        <p:nvSpPr>
          <p:cNvPr id="5" name="Text 3">
            <a:extLst xmlns:a="http://schemas.openxmlformats.org/drawingml/2006/main">
              <a:ext uri="{FF2B5EF4-FFF2-40B4-BE49-F238E27FC236}">
                <a16:creationId xmlns:a16="http://schemas.microsoft.com/office/drawing/2014/main" id="{58751BFF-4E4D-491D-B756-A100B156DE9D}"/>
              </a:ext>
            </a:extLst>
          </p:cNvPr>
          <p:cNvSpPr>
            <a:spLocks xmlns:a="http://schemas.openxmlformats.org/drawingml/2006/main" noGrp="1"/>
          </p:cNvSpPr>
          <p:nvPr/>
        </p:nvSpPr>
        <p:spPr>
          <a:xfrm xmlns:a="http://schemas.openxmlformats.org/drawingml/2006/main">
            <a:off x="1072486" y="2196871"/>
            <a:ext cx="4775852"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2"/>
              </a:lnSpc>
              <a:buNone/>
            </a:pPr>
            <a:r>
              <a:rPr sz="1435" b="1">
                <a:solidFill>
                  <a:srgbClr val="9E3B2F"/>
                </a:solidFill>
                <a:latin typeface="IBM Plex Sans"/>
                <a:ea typeface="IBM Plex Sans"/>
                <a:cs typeface="IBM Plex Sans"/>
              </a:rPr>
              <a:t>Before — one caption</a:t>
            </a:r>
            <a:endParaRPr sz="1435"/>
          </a:p>
        </p:txBody>
      </p:sp>
      <p:sp>
        <p:nvSpPr>
          <p:cNvPr id="6" name="Shape 4">
            <a:extLst xmlns:a="http://schemas.openxmlformats.org/drawingml/2006/main">
              <a:ext uri="{FF2B5EF4-FFF2-40B4-BE49-F238E27FC236}">
                <a16:creationId xmlns:a16="http://schemas.microsoft.com/office/drawing/2014/main" id="{DBA5DFE1-E809-4C15-BDB2-E84F2BC1C1B4}"/>
              </a:ext>
            </a:extLst>
          </p:cNvPr>
          <p:cNvSpPr>
            <a:spLocks xmlns:a="http://schemas.openxmlformats.org/drawingml/2006/main" noGrp="1"/>
          </p:cNvSpPr>
          <p:nvPr/>
        </p:nvSpPr>
        <p:spPr>
          <a:xfrm xmlns:a="http://schemas.openxmlformats.org/drawingml/2006/main">
            <a:off x="1072486" y="2537247"/>
            <a:ext cx="4636750" cy="456402"/>
          </a:xfrm>
          <a:prstGeom xmlns:a="http://schemas.openxmlformats.org/drawingml/2006/main" prst="roundRect">
            <a:avLst>
              <a:gd name="adj" fmla="val 13913"/>
            </a:avLst>
          </a:prstGeom>
          <a:solidFill xmlns:a="http://schemas.openxmlformats.org/drawingml/2006/main">
            <a:srgbClr val="EAEAE4"/>
          </a:solidFill>
        </p:spPr>
      </p:sp>
      <p:sp>
        <p:nvSpPr>
          <p:cNvPr id="7" name="Text 5">
            <a:extLst xmlns:a="http://schemas.openxmlformats.org/drawingml/2006/main">
              <a:ext uri="{FF2B5EF4-FFF2-40B4-BE49-F238E27FC236}">
                <a16:creationId xmlns:a16="http://schemas.microsoft.com/office/drawing/2014/main" id="{F1C39F26-9774-409C-94A6-4EBD95317739}"/>
              </a:ext>
            </a:extLst>
          </p:cNvPr>
          <p:cNvSpPr>
            <a:spLocks xmlns:a="http://schemas.openxmlformats.org/drawingml/2006/main" noGrp="1"/>
          </p:cNvSpPr>
          <p:nvPr/>
        </p:nvSpPr>
        <p:spPr>
          <a:xfrm xmlns:a="http://schemas.openxmlformats.org/drawingml/2006/main">
            <a:off x="1199486" y="2664247"/>
            <a:ext cx="4514232" cy="227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1"/>
              </a:lnSpc>
              <a:buNone/>
            </a:pPr>
            <a:r>
              <a:rPr sz="1158">
                <a:solidFill>
                  <a:srgbClr val="10202A"/>
                </a:solidFill>
                <a:latin typeface="JetBrains Mono"/>
                <a:ea typeface="JetBrains Mono"/>
                <a:cs typeface="JetBrains Mono"/>
              </a:rPr>
              <a:t>"the person who is holding a blue basket"</a:t>
            </a:r>
            <a:endParaRPr sz="1158"/>
          </a:p>
        </p:txBody>
      </p:sp>
      <p:sp>
        <p:nvSpPr>
          <p:cNvPr id="8" name="Text 6">
            <a:extLst xmlns:a="http://schemas.openxmlformats.org/drawingml/2006/main">
              <a:ext uri="{FF2B5EF4-FFF2-40B4-BE49-F238E27FC236}">
                <a16:creationId xmlns:a16="http://schemas.microsoft.com/office/drawing/2014/main" id="{6C89355E-F45B-4C3B-A91B-5DF54698CC30}"/>
              </a:ext>
            </a:extLst>
          </p:cNvPr>
          <p:cNvSpPr>
            <a:spLocks xmlns:a="http://schemas.openxmlformats.org/drawingml/2006/main" noGrp="1"/>
          </p:cNvSpPr>
          <p:nvPr/>
        </p:nvSpPr>
        <p:spPr>
          <a:xfrm xmlns:a="http://schemas.openxmlformats.org/drawingml/2006/main">
            <a:off x="1072486" y="3120628"/>
            <a:ext cx="4775852" cy="111355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7"/>
              </a:lnSpc>
              <a:buNone/>
            </a:pPr>
            <a:r>
              <a:rPr sz="1253">
                <a:solidFill>
                  <a:srgbClr val="4D5A63"/>
                </a:solidFill>
                <a:latin typeface="IBM Plex Sans"/>
                <a:ea typeface="IBM Plex Sans"/>
                <a:cs typeface="IBM Plex Sans"/>
              </a:rPr>
              <a:t>The word </a:t>
            </a:r>
            <a:r>
              <a:rPr sz="1253" b="1">
                <a:solidFill>
                  <a:srgbClr val="4D5A63"/>
                </a:solidFill>
                <a:latin typeface="IBM Plex Sans"/>
                <a:ea typeface="IBM Plex Sans"/>
                <a:cs typeface="IBM Plex Sans"/>
              </a:rPr>
              <a:t>person</a:t>
            </a:r>
            <a:r>
              <a:rPr sz="1253">
                <a:solidFill>
                  <a:srgbClr val="4D5A63"/>
                </a:solidFill>
                <a:latin typeface="IBM Plex Sans"/>
                <a:ea typeface="IBM Plex Sans"/>
                <a:cs typeface="IBM Plex Sans"/>
              </a:rPr>
              <a:t> on its own matched two basket-less people in a test image, at 0.50 and 0.39. Whoever appeared first was locked. Appearance-gated recovery then refused the genuine target, and the run sat at LOST with a stale grounding score of 0.731.</a:t>
            </a:r>
            <a:endParaRPr sz="1253"/>
          </a:p>
        </p:txBody>
      </p:sp>
      <p:sp>
        <p:nvSpPr>
          <p:cNvPr id="9" name="Shape 7">
            <a:extLst xmlns:a="http://schemas.openxmlformats.org/drawingml/2006/main">
              <a:ext uri="{FF2B5EF4-FFF2-40B4-BE49-F238E27FC236}">
                <a16:creationId xmlns:a16="http://schemas.microsoft.com/office/drawing/2014/main" id="{9F284C03-4209-40C3-934B-F5F0C1770857}"/>
              </a:ext>
            </a:extLst>
          </p:cNvPr>
          <p:cNvSpPr>
            <a:spLocks xmlns:a="http://schemas.openxmlformats.org/drawingml/2006/main" noGrp="1"/>
          </p:cNvSpPr>
          <p:nvPr/>
        </p:nvSpPr>
        <p:spPr>
          <a:xfrm xmlns:a="http://schemas.openxmlformats.org/drawingml/2006/main">
            <a:off x="6226146" y="1940278"/>
            <a:ext cx="5149932" cy="2525100"/>
          </a:xfrm>
          <a:prstGeom xmlns:a="http://schemas.openxmlformats.org/drawingml/2006/main" prst="roundRect">
            <a:avLst>
              <a:gd name="adj" fmla="val 3898"/>
            </a:avLst>
          </a:prstGeom>
          <a:solidFill xmlns:a="http://schemas.openxmlformats.org/drawingml/2006/main">
            <a:srgbClr val="F6F6F2"/>
          </a:solidFill>
          <a:ln xmlns:a="http://schemas.openxmlformats.org/drawingml/2006/main" w="6350">
            <a:solidFill>
              <a:srgbClr val="D9DAD2"/>
            </a:solidFill>
            <a:prstDash val="solid"/>
          </a:ln>
        </p:spPr>
      </p:sp>
      <p:sp>
        <p:nvSpPr>
          <p:cNvPr id="10" name="Text 8">
            <a:extLst xmlns:a="http://schemas.openxmlformats.org/drawingml/2006/main">
              <a:ext uri="{FF2B5EF4-FFF2-40B4-BE49-F238E27FC236}">
                <a16:creationId xmlns:a16="http://schemas.microsoft.com/office/drawing/2014/main" id="{A810D2F9-F0D7-4073-A4B7-88C3F6DFDC76}"/>
              </a:ext>
            </a:extLst>
          </p:cNvPr>
          <p:cNvSpPr>
            <a:spLocks xmlns:a="http://schemas.openxmlformats.org/drawingml/2006/main" noGrp="1"/>
          </p:cNvSpPr>
          <p:nvPr/>
        </p:nvSpPr>
        <p:spPr>
          <a:xfrm xmlns:a="http://schemas.openxmlformats.org/drawingml/2006/main">
            <a:off x="6482737" y="2196871"/>
            <a:ext cx="4775852" cy="26913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20"/>
              </a:lnSpc>
              <a:buNone/>
            </a:pPr>
            <a:r>
              <a:rPr sz="1600" b="1">
                <a:solidFill>
                  <a:srgbClr val="0F7D76"/>
                </a:solidFill>
                <a:latin typeface="IBM Plex Sans"/>
                <a:ea typeface="IBM Plex Sans"/>
                <a:cs typeface="IBM Plex Sans"/>
              </a:rPr>
              <a:t>After — two phrases</a:t>
            </a:r>
            <a:endParaRPr sz="1600"/>
          </a:p>
        </p:txBody>
      </p:sp>
      <p:sp>
        <p:nvSpPr>
          <p:cNvPr id="11" name="Shape 9">
            <a:extLst xmlns:a="http://schemas.openxmlformats.org/drawingml/2006/main">
              <a:ext uri="{FF2B5EF4-FFF2-40B4-BE49-F238E27FC236}">
                <a16:creationId xmlns:a16="http://schemas.microsoft.com/office/drawing/2014/main" id="{1CEE83DB-0450-4411-9832-300DE71AF216}"/>
              </a:ext>
            </a:extLst>
          </p:cNvPr>
          <p:cNvSpPr>
            <a:spLocks xmlns:a="http://schemas.openxmlformats.org/drawingml/2006/main" noGrp="1"/>
          </p:cNvSpPr>
          <p:nvPr/>
        </p:nvSpPr>
        <p:spPr>
          <a:xfrm xmlns:a="http://schemas.openxmlformats.org/drawingml/2006/main">
            <a:off x="6482737" y="2567589"/>
            <a:ext cx="4636750" cy="485114"/>
          </a:xfrm>
          <a:prstGeom xmlns:a="http://schemas.openxmlformats.org/drawingml/2006/main" prst="roundRect">
            <a:avLst>
              <a:gd name="adj" fmla="val 13090"/>
            </a:avLst>
          </a:prstGeom>
          <a:solidFill xmlns:a="http://schemas.openxmlformats.org/drawingml/2006/main">
            <a:srgbClr val="EAEAE4"/>
          </a:solidFill>
        </p:spPr>
      </p:sp>
      <p:sp>
        <p:nvSpPr>
          <p:cNvPr id="12" name="Text 10">
            <a:extLst xmlns:a="http://schemas.openxmlformats.org/drawingml/2006/main">
              <a:ext uri="{FF2B5EF4-FFF2-40B4-BE49-F238E27FC236}">
                <a16:creationId xmlns:a16="http://schemas.microsoft.com/office/drawing/2014/main" id="{6ECFA54A-4AD2-4857-8D1A-08855AF0145B}"/>
              </a:ext>
            </a:extLst>
          </p:cNvPr>
          <p:cNvSpPr>
            <a:spLocks xmlns:a="http://schemas.openxmlformats.org/drawingml/2006/main" noGrp="1"/>
          </p:cNvSpPr>
          <p:nvPr/>
        </p:nvSpPr>
        <p:spPr>
          <a:xfrm xmlns:a="http://schemas.openxmlformats.org/drawingml/2006/main">
            <a:off x="6609737" y="2694589"/>
            <a:ext cx="4514232" cy="2565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0202A"/>
                </a:solidFill>
                <a:latin typeface="JetBrains Mono"/>
                <a:ea typeface="JetBrains Mono"/>
                <a:cs typeface="JetBrains Mono"/>
              </a:rPr>
              <a:t>"person. blue basket."</a:t>
            </a:r>
            <a:endParaRPr sz="1300"/>
          </a:p>
        </p:txBody>
      </p:sp>
      <p:sp>
        <p:nvSpPr>
          <p:cNvPr id="13" name="Text 11">
            <a:extLst xmlns:a="http://schemas.openxmlformats.org/drawingml/2006/main">
              <a:ext uri="{FF2B5EF4-FFF2-40B4-BE49-F238E27FC236}">
                <a16:creationId xmlns:a16="http://schemas.microsoft.com/office/drawing/2014/main" id="{CFAC3A1D-19BE-4E44-AF2A-244065176D51}"/>
              </a:ext>
            </a:extLst>
          </p:cNvPr>
          <p:cNvSpPr>
            <a:spLocks xmlns:a="http://schemas.openxmlformats.org/drawingml/2006/main" noGrp="1"/>
          </p:cNvSpPr>
          <p:nvPr/>
        </p:nvSpPr>
        <p:spPr>
          <a:xfrm xmlns:a="http://schemas.openxmlformats.org/drawingml/2006/main">
            <a:off x="6482737" y="3179688"/>
            <a:ext cx="4775852" cy="101953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58"/>
              </a:lnSpc>
              <a:buNone/>
            </a:pPr>
            <a:r>
              <a:rPr sz="1350">
                <a:solidFill>
                  <a:srgbClr val="4D5A63"/>
                </a:solidFill>
                <a:latin typeface="IBM Plex Sans"/>
                <a:ea typeface="IBM Plex Sans"/>
                <a:cs typeface="IBM Plex Sans"/>
              </a:rPr>
              <a:t>The attribute is grounded as its own phrase and must then be found </a:t>
            </a:r>
            <a:r>
              <a:rPr sz="1350" i="1">
                <a:solidFill>
                  <a:srgbClr val="4D5A63"/>
                </a:solidFill>
                <a:latin typeface="IBM Plex Sans"/>
                <a:ea typeface="IBM Plex Sans"/>
                <a:cs typeface="IBM Plex Sans"/>
              </a:rPr>
              <a:t>on</a:t>
            </a:r>
            <a:r>
              <a:rPr sz="1350">
                <a:solidFill>
                  <a:srgbClr val="4D5A63"/>
                </a:solidFill>
                <a:latin typeface="IBM Plex Sans"/>
                <a:ea typeface="IBM Plex Sans"/>
                <a:cs typeface="IBM Plex Sans"/>
              </a:rPr>
              <a:t> a detected person. Verified on test images: no lock when no basket is present, a correct lock on "black jacket", and a mislabelled tie rejected by the colour test.</a:t>
            </a:r>
            <a:endParaRPr sz="1350"/>
          </a:p>
        </p:txBody>
      </p:sp>
    </p:spTree>
    <p:extLst>
      <p:ext uri="{BB962C8B-B14F-4D97-AF65-F5344CB8AC3E}">
        <p14:creationId xmlns:p14="http://schemas.microsoft.com/office/powerpoint/2010/main" val="565404268"/>
      </p:ext>
    </p:extLst>
  </p:cSld>
</p:sld>
</file>

<file path=ppt/slides/slide11.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5588CB-3C14-41E2-B8A6-6BBA4E95395D}"/>
              </a:ext>
            </a:extLst>
          </p:cNvPr>
          <p:cNvSpPr>
            <a:spLocks xmlns:a="http://schemas.openxmlformats.org/drawingml/2006/main" noGrp="1"/>
          </p:cNvSpPr>
          <p:nvPr/>
        </p:nvSpPr>
        <p:spPr>
          <a:xfrm xmlns:a="http://schemas.openxmlformats.org/drawingml/2006/main">
            <a:off x="812720" y="812719"/>
            <a:ext cx="10883529" cy="19395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70"/>
              </a:lnSpc>
              <a:buNone/>
            </a:pPr>
            <a:r>
              <a:rPr sz="979" spc="150">
                <a:solidFill>
                  <a:srgbClr val="0F7D76"/>
                </a:solidFill>
                <a:latin typeface="JetBrains Mono"/>
                <a:ea typeface="JetBrains Mono"/>
                <a:cs typeface="JetBrains Mono"/>
              </a:rPr>
              <a:t>PART 2 · TRACKING EVERYONE</a:t>
            </a:r>
            <a:endParaRPr sz="979"/>
          </a:p>
        </p:txBody>
      </p:sp>
      <p:sp>
        <p:nvSpPr>
          <p:cNvPr id="3" name="Text 1">
            <a:extLst xmlns:a="http://schemas.openxmlformats.org/drawingml/2006/main">
              <a:ext uri="{FF2B5EF4-FFF2-40B4-BE49-F238E27FC236}">
                <a16:creationId xmlns:a16="http://schemas.microsoft.com/office/drawing/2014/main" id="{F49C07EE-C878-4C81-94D5-4BF0B0216E4D}"/>
              </a:ext>
            </a:extLst>
          </p:cNvPr>
          <p:cNvSpPr>
            <a:spLocks xmlns:a="http://schemas.openxmlformats.org/drawingml/2006/main" noGrp="1"/>
          </p:cNvSpPr>
          <p:nvPr/>
        </p:nvSpPr>
        <p:spPr>
          <a:xfrm xmlns:a="http://schemas.openxmlformats.org/drawingml/2006/main">
            <a:off x="812720" y="1209799"/>
            <a:ext cx="10883529" cy="74428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427"/>
              </a:lnSpc>
              <a:buNone/>
            </a:pPr>
            <a:r>
              <a:rPr sz="3060" b="1">
                <a:solidFill>
                  <a:srgbClr val="10202A"/>
                </a:solidFill>
                <a:latin typeface="IBM Plex Sans"/>
                <a:ea typeface="IBM Plex Sans"/>
                <a:cs typeface="IBM Plex Sans"/>
              </a:rPr>
              <a:t>The detector finds every person, not only the one asked for</a:t>
            </a:r>
            <a:endParaRPr sz="3060"/>
          </a:p>
        </p:txBody>
      </p:sp>
      <p:sp>
        <p:nvSpPr>
          <p:cNvPr id="4" name="Shape 2">
            <a:extLst xmlns:a="http://schemas.openxmlformats.org/drawingml/2006/main">
              <a:ext uri="{FF2B5EF4-FFF2-40B4-BE49-F238E27FC236}">
                <a16:creationId xmlns:a16="http://schemas.microsoft.com/office/drawing/2014/main" id="{96FD07A9-F132-4666-8A9D-8836F9759E18}"/>
              </a:ext>
            </a:extLst>
          </p:cNvPr>
          <p:cNvSpPr>
            <a:spLocks xmlns:a="http://schemas.openxmlformats.org/drawingml/2006/main" noGrp="1"/>
          </p:cNvSpPr>
          <p:nvPr/>
        </p:nvSpPr>
        <p:spPr>
          <a:xfrm xmlns:a="http://schemas.openxmlformats.org/drawingml/2006/main">
            <a:off x="815895" y="2160377"/>
            <a:ext cx="3397236" cy="1559763"/>
          </a:xfrm>
          <a:prstGeom xmlns:a="http://schemas.openxmlformats.org/drawingml/2006/main" prst="roundRect">
            <a:avLst>
              <a:gd name="adj" fmla="val 6310"/>
            </a:avLst>
          </a:prstGeom>
          <a:solidFill xmlns:a="http://schemas.openxmlformats.org/drawingml/2006/main">
            <a:srgbClr val="FFFFFF"/>
          </a:solidFill>
          <a:ln xmlns:a="http://schemas.openxmlformats.org/drawingml/2006/main" w="6350">
            <a:solidFill>
              <a:srgbClr val="D9DAD2"/>
            </a:solidFill>
            <a:prstDash val="solid"/>
          </a:ln>
        </p:spPr>
      </p:sp>
      <p:sp>
        <p:nvSpPr>
          <p:cNvPr id="5" name="Text 3">
            <a:extLst xmlns:a="http://schemas.openxmlformats.org/drawingml/2006/main">
              <a:ext uri="{FF2B5EF4-FFF2-40B4-BE49-F238E27FC236}">
                <a16:creationId xmlns:a16="http://schemas.microsoft.com/office/drawing/2014/main" id="{BC33DA04-AE89-432E-96BC-D5289E464B51}"/>
              </a:ext>
            </a:extLst>
          </p:cNvPr>
          <p:cNvSpPr>
            <a:spLocks xmlns:a="http://schemas.openxmlformats.org/drawingml/2006/main" noGrp="1"/>
          </p:cNvSpPr>
          <p:nvPr/>
        </p:nvSpPr>
        <p:spPr>
          <a:xfrm xmlns:a="http://schemas.openxmlformats.org/drawingml/2006/main">
            <a:off x="1047034" y="2391513"/>
            <a:ext cx="3023006" cy="2197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5"/>
              </a:lnSpc>
              <a:buNone/>
            </a:pPr>
            <a:r>
              <a:rPr sz="1313" b="1">
                <a:solidFill>
                  <a:srgbClr val="0F7D76"/>
                </a:solidFill>
                <a:latin typeface="IBM Plex Sans"/>
                <a:ea typeface="IBM Plex Sans"/>
                <a:cs typeface="IBM Plex Sans"/>
              </a:rPr>
              <a:t>Detect</a:t>
            </a:r>
            <a:endParaRPr sz="1313"/>
          </a:p>
        </p:txBody>
      </p:sp>
      <p:sp>
        <p:nvSpPr>
          <p:cNvPr id="6" name="Text 4">
            <a:extLst xmlns:a="http://schemas.openxmlformats.org/drawingml/2006/main">
              <a:ext uri="{FF2B5EF4-FFF2-40B4-BE49-F238E27FC236}">
                <a16:creationId xmlns:a16="http://schemas.microsoft.com/office/drawing/2014/main" id="{FFFCE226-AE86-4D9B-A887-DA3AD6FAB27C}"/>
              </a:ext>
            </a:extLst>
          </p:cNvPr>
          <p:cNvSpPr>
            <a:spLocks xmlns:a="http://schemas.openxmlformats.org/drawingml/2006/main" noGrp="1"/>
          </p:cNvSpPr>
          <p:nvPr/>
        </p:nvSpPr>
        <p:spPr>
          <a:xfrm xmlns:a="http://schemas.openxmlformats.org/drawingml/2006/main">
            <a:off x="1047034" y="2674739"/>
            <a:ext cx="3023006" cy="83965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02"/>
              </a:lnSpc>
              <a:buNone/>
            </a:pPr>
            <a:r>
              <a:rPr sz="1105">
                <a:solidFill>
                  <a:srgbClr val="4D5A63"/>
                </a:solidFill>
                <a:latin typeface="IBM Plex Sans"/>
                <a:ea typeface="IBM Plex Sans"/>
                <a:cs typeface="IBM Plex Sans"/>
              </a:rPr>
              <a:t>YOLO11n at 416 pixels, person class only, confidence 0.25. The threshold is deliberately low: a missed distractor is more dangerous than a spurious one.</a:t>
            </a:r>
            <a:endParaRPr sz="1105"/>
          </a:p>
        </p:txBody>
      </p:sp>
      <p:sp>
        <p:nvSpPr>
          <p:cNvPr id="7" name="Shape 5">
            <a:extLst xmlns:a="http://schemas.openxmlformats.org/drawingml/2006/main">
              <a:ext uri="{FF2B5EF4-FFF2-40B4-BE49-F238E27FC236}">
                <a16:creationId xmlns:a16="http://schemas.microsoft.com/office/drawing/2014/main" id="{BF80B74E-D96C-4404-BACE-42C72661FC78}"/>
              </a:ext>
            </a:extLst>
          </p:cNvPr>
          <p:cNvSpPr>
            <a:spLocks xmlns:a="http://schemas.openxmlformats.org/drawingml/2006/main" noGrp="1"/>
          </p:cNvSpPr>
          <p:nvPr/>
        </p:nvSpPr>
        <p:spPr>
          <a:xfrm xmlns:a="http://schemas.openxmlformats.org/drawingml/2006/main">
            <a:off x="4397278" y="2160377"/>
            <a:ext cx="3397327" cy="1559763"/>
          </a:xfrm>
          <a:prstGeom xmlns:a="http://schemas.openxmlformats.org/drawingml/2006/main" prst="roundRect">
            <a:avLst>
              <a:gd name="adj" fmla="val 6310"/>
            </a:avLst>
          </a:prstGeom>
          <a:solidFill xmlns:a="http://schemas.openxmlformats.org/drawingml/2006/main">
            <a:srgbClr val="FFFFFF"/>
          </a:solidFill>
          <a:ln xmlns:a="http://schemas.openxmlformats.org/drawingml/2006/main" w="6350">
            <a:solidFill>
              <a:srgbClr val="D9DAD2"/>
            </a:solidFill>
            <a:prstDash val="solid"/>
          </a:ln>
        </p:spPr>
      </p:sp>
      <p:sp>
        <p:nvSpPr>
          <p:cNvPr id="8" name="Text 6">
            <a:extLst xmlns:a="http://schemas.openxmlformats.org/drawingml/2006/main">
              <a:ext uri="{FF2B5EF4-FFF2-40B4-BE49-F238E27FC236}">
                <a16:creationId xmlns:a16="http://schemas.microsoft.com/office/drawing/2014/main" id="{6D5958B6-D3BB-43DC-A05D-B6DF9898A5B4}"/>
              </a:ext>
            </a:extLst>
          </p:cNvPr>
          <p:cNvSpPr>
            <a:spLocks xmlns:a="http://schemas.openxmlformats.org/drawingml/2006/main" noGrp="1"/>
          </p:cNvSpPr>
          <p:nvPr/>
        </p:nvSpPr>
        <p:spPr>
          <a:xfrm xmlns:a="http://schemas.openxmlformats.org/drawingml/2006/main">
            <a:off x="4628417" y="2391513"/>
            <a:ext cx="3023099" cy="1870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271"/>
              </a:lnSpc>
              <a:buNone/>
            </a:pPr>
            <a:r>
              <a:rPr sz="1059" b="1">
                <a:solidFill>
                  <a:srgbClr val="0F7D76"/>
                </a:solidFill>
                <a:latin typeface="IBM Plex Sans"/>
                <a:ea typeface="IBM Plex Sans"/>
                <a:cs typeface="IBM Plex Sans"/>
              </a:rPr>
              <a:t>Associate</a:t>
            </a:r>
            <a:endParaRPr sz="1059"/>
          </a:p>
        </p:txBody>
      </p:sp>
      <p:sp>
        <p:nvSpPr>
          <p:cNvPr id="9" name="Text 7">
            <a:extLst xmlns:a="http://schemas.openxmlformats.org/drawingml/2006/main">
              <a:ext uri="{FF2B5EF4-FFF2-40B4-BE49-F238E27FC236}">
                <a16:creationId xmlns:a16="http://schemas.microsoft.com/office/drawing/2014/main" id="{D23D9281-D07D-4AC5-AC39-3AB79F9CBA8E}"/>
              </a:ext>
            </a:extLst>
          </p:cNvPr>
          <p:cNvSpPr>
            <a:spLocks xmlns:a="http://schemas.openxmlformats.org/drawingml/2006/main" noGrp="1"/>
          </p:cNvSpPr>
          <p:nvPr/>
        </p:nvSpPr>
        <p:spPr>
          <a:xfrm xmlns:a="http://schemas.openxmlformats.org/drawingml/2006/main">
            <a:off x="4628417" y="2642040"/>
            <a:ext cx="3023099" cy="87235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67"/>
              </a:lnSpc>
              <a:buNone/>
            </a:pPr>
            <a:r>
              <a:rPr sz="1150">
                <a:solidFill>
                  <a:srgbClr val="4D5A63"/>
                </a:solidFill>
                <a:latin typeface="IBM Plex Sans"/>
                <a:ea typeface="IBM Plex Sans"/>
                <a:cs typeface="IBM Plex Sans"/>
              </a:rPr>
              <a:t>BoT-SORT, with sparse optical-flow camera-motion compensation — necessary because the camera is on a moving base, so image motion is not object motion.</a:t>
            </a:r>
            <a:endParaRPr sz="1150"/>
          </a:p>
        </p:txBody>
      </p:sp>
      <p:sp>
        <p:nvSpPr>
          <p:cNvPr id="10" name="Shape 8">
            <a:extLst xmlns:a="http://schemas.openxmlformats.org/drawingml/2006/main">
              <a:ext uri="{FF2B5EF4-FFF2-40B4-BE49-F238E27FC236}">
                <a16:creationId xmlns:a16="http://schemas.microsoft.com/office/drawing/2014/main" id="{FE0D6766-E933-4AFC-9D08-FD8FA2CC612F}"/>
              </a:ext>
            </a:extLst>
          </p:cNvPr>
          <p:cNvSpPr>
            <a:spLocks xmlns:a="http://schemas.openxmlformats.org/drawingml/2006/main" noGrp="1"/>
          </p:cNvSpPr>
          <p:nvPr/>
        </p:nvSpPr>
        <p:spPr>
          <a:xfrm xmlns:a="http://schemas.openxmlformats.org/drawingml/2006/main">
            <a:off x="7978751" y="2160377"/>
            <a:ext cx="3397327" cy="1559763"/>
          </a:xfrm>
          <a:prstGeom xmlns:a="http://schemas.openxmlformats.org/drawingml/2006/main" prst="roundRect">
            <a:avLst>
              <a:gd name="adj" fmla="val 6310"/>
            </a:avLst>
          </a:prstGeom>
          <a:solidFill xmlns:a="http://schemas.openxmlformats.org/drawingml/2006/main">
            <a:srgbClr val="FFFFFF"/>
          </a:solidFill>
          <a:ln xmlns:a="http://schemas.openxmlformats.org/drawingml/2006/main" w="6350">
            <a:solidFill>
              <a:srgbClr val="D9DAD2"/>
            </a:solidFill>
            <a:prstDash val="solid"/>
          </a:ln>
        </p:spPr>
      </p:sp>
      <p:sp>
        <p:nvSpPr>
          <p:cNvPr id="11" name="Text 9">
            <a:extLst xmlns:a="http://schemas.openxmlformats.org/drawingml/2006/main">
              <a:ext uri="{FF2B5EF4-FFF2-40B4-BE49-F238E27FC236}">
                <a16:creationId xmlns:a16="http://schemas.microsoft.com/office/drawing/2014/main" id="{3E806B77-A762-4E49-B389-CA1C1802C74D}"/>
              </a:ext>
            </a:extLst>
          </p:cNvPr>
          <p:cNvSpPr>
            <a:spLocks xmlns:a="http://schemas.openxmlformats.org/drawingml/2006/main" noGrp="1"/>
          </p:cNvSpPr>
          <p:nvPr/>
        </p:nvSpPr>
        <p:spPr>
          <a:xfrm xmlns:a="http://schemas.openxmlformats.org/drawingml/2006/main">
            <a:off x="8209891" y="2391513"/>
            <a:ext cx="3023099" cy="1870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271"/>
              </a:lnSpc>
              <a:buNone/>
            </a:pPr>
            <a:r>
              <a:rPr sz="1059" b="1">
                <a:solidFill>
                  <a:srgbClr val="0F7D76"/>
                </a:solidFill>
                <a:latin typeface="IBM Plex Sans"/>
                <a:ea typeface="IBM Plex Sans"/>
                <a:cs typeface="IBM Plex Sans"/>
              </a:rPr>
              <a:t>Describe</a:t>
            </a:r>
            <a:endParaRPr sz="1059"/>
          </a:p>
        </p:txBody>
      </p:sp>
      <p:sp>
        <p:nvSpPr>
          <p:cNvPr id="12" name="Text 10">
            <a:extLst xmlns:a="http://schemas.openxmlformats.org/drawingml/2006/main">
              <a:ext uri="{FF2B5EF4-FFF2-40B4-BE49-F238E27FC236}">
                <a16:creationId xmlns:a16="http://schemas.microsoft.com/office/drawing/2014/main" id="{0394237D-B553-4BE6-AEBF-A1838555D58C}"/>
              </a:ext>
            </a:extLst>
          </p:cNvPr>
          <p:cNvSpPr>
            <a:spLocks xmlns:a="http://schemas.openxmlformats.org/drawingml/2006/main" noGrp="1"/>
          </p:cNvSpPr>
          <p:nvPr/>
        </p:nvSpPr>
        <p:spPr>
          <a:xfrm xmlns:a="http://schemas.openxmlformats.org/drawingml/2006/main">
            <a:off x="8209891" y="2642040"/>
            <a:ext cx="3023099" cy="87235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67"/>
              </a:lnSpc>
              <a:buNone/>
            </a:pPr>
            <a:r>
              <a:rPr sz="1150">
                <a:solidFill>
                  <a:srgbClr val="4D5A63"/>
                </a:solidFill>
                <a:latin typeface="IBM Plex Sans"/>
                <a:ea typeface="IBM Plex Sans"/>
                <a:cs typeface="IBM Plex Sans"/>
              </a:rPr>
              <a:t>Each box gets a colour signature, and those same vectors are handed to BoT-SORT as its appearance features, so tracking and identity use one description.</a:t>
            </a:r>
            <a:endParaRPr sz="1150"/>
          </a:p>
        </p:txBody>
      </p:sp>
      <p:sp>
        <p:nvSpPr>
          <p:cNvPr id="13" name="Shape 11">
            <a:extLst xmlns:a="http://schemas.openxmlformats.org/drawingml/2006/main">
              <a:ext uri="{FF2B5EF4-FFF2-40B4-BE49-F238E27FC236}">
                <a16:creationId xmlns:a16="http://schemas.microsoft.com/office/drawing/2014/main" id="{87238EE1-E537-4935-8EED-2CAD767B0F99}"/>
              </a:ext>
            </a:extLst>
          </p:cNvPr>
          <p:cNvSpPr>
            <a:spLocks xmlns:a="http://schemas.openxmlformats.org/drawingml/2006/main" noGrp="1"/>
          </p:cNvSpPr>
          <p:nvPr/>
        </p:nvSpPr>
        <p:spPr>
          <a:xfrm xmlns:a="http://schemas.openxmlformats.org/drawingml/2006/main">
            <a:off x="812720" y="3951833"/>
            <a:ext cx="10566533" cy="1296566"/>
          </a:xfrm>
          <a:prstGeom xmlns:a="http://schemas.openxmlformats.org/drawingml/2006/main" prst="roundRect">
            <a:avLst>
              <a:gd name="adj" fmla="val 7836"/>
            </a:avLst>
          </a:prstGeom>
          <a:solidFill xmlns:a="http://schemas.openxmlformats.org/drawingml/2006/main">
            <a:srgbClr val="10202A"/>
          </a:solidFill>
        </p:spPr>
      </p:sp>
      <p:sp>
        <p:nvSpPr>
          <p:cNvPr id="14" name="Text 12">
            <a:extLst xmlns:a="http://schemas.openxmlformats.org/drawingml/2006/main">
              <a:ext uri="{FF2B5EF4-FFF2-40B4-BE49-F238E27FC236}">
                <a16:creationId xmlns:a16="http://schemas.microsoft.com/office/drawing/2014/main" id="{32C78A33-0EF3-4335-A180-49B12DCB1FCA}"/>
              </a:ext>
            </a:extLst>
          </p:cNvPr>
          <p:cNvSpPr>
            <a:spLocks xmlns:a="http://schemas.openxmlformats.org/drawingml/2006/main" noGrp="1"/>
          </p:cNvSpPr>
          <p:nvPr/>
        </p:nvSpPr>
        <p:spPr>
          <a:xfrm xmlns:a="http://schemas.openxmlformats.org/drawingml/2006/main">
            <a:off x="1066689" y="4180346"/>
            <a:ext cx="10360352" cy="20147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186" b="1">
                <a:solidFill>
                  <a:srgbClr val="4FBFB4"/>
                </a:solidFill>
                <a:latin typeface="IBM Plex Sans"/>
                <a:ea typeface="IBM Plex Sans"/>
                <a:cs typeface="IBM Plex Sans"/>
              </a:rPr>
              <a:t>Why track people the prompt did not ask for</a:t>
            </a:r>
            <a:endParaRPr sz="1186"/>
          </a:p>
        </p:txBody>
      </p:sp>
      <p:sp>
        <p:nvSpPr>
          <p:cNvPr id="15" name="Text 13">
            <a:extLst xmlns:a="http://schemas.openxmlformats.org/drawingml/2006/main">
              <a:ext uri="{FF2B5EF4-FFF2-40B4-BE49-F238E27FC236}">
                <a16:creationId xmlns:a16="http://schemas.microsoft.com/office/drawing/2014/main" id="{8D3C7712-9601-4A73-AC5F-714017D434AC}"/>
              </a:ext>
            </a:extLst>
          </p:cNvPr>
          <p:cNvSpPr>
            <a:spLocks xmlns:a="http://schemas.openxmlformats.org/drawingml/2006/main" noGrp="1"/>
          </p:cNvSpPr>
          <p:nvPr/>
        </p:nvSpPr>
        <p:spPr>
          <a:xfrm xmlns:a="http://schemas.openxmlformats.org/drawingml/2006/main">
            <a:off x="1066689" y="4445279"/>
            <a:ext cx="10360352" cy="60000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54"/>
              </a:lnSpc>
              <a:buNone/>
            </a:pPr>
            <a:r>
              <a:rPr sz="1072">
                <a:solidFill>
                  <a:srgbClr val="A9BCC4"/>
                </a:solidFill>
                <a:latin typeface="IBM Plex Sans"/>
                <a:ea typeface="IBM Plex Sans"/>
                <a:cs typeface="IBM Plex Sans"/>
              </a:rPr>
              <a:t>Because identity is a question about </a:t>
            </a:r>
            <a:r>
              <a:rPr sz="1072" i="1">
                <a:solidFill>
                  <a:srgbClr val="A9BCC4"/>
                </a:solidFill>
                <a:latin typeface="IBM Plex Sans"/>
                <a:ea typeface="IBM Plex Sans"/>
                <a:cs typeface="IBM Plex Sans"/>
              </a:rPr>
              <a:t>competition</a:t>
            </a:r>
            <a:r>
              <a:rPr sz="1072">
                <a:solidFill>
                  <a:srgbClr val="A9BCC4"/>
                </a:solidFill>
                <a:latin typeface="IBM Plex Sans"/>
                <a:ea typeface="IBM Plex Sans"/>
                <a:cs typeface="IBM Plex Sans"/>
              </a:rPr>
              <a:t>. To know the leader is still the leader, the system has to know who else is in frame and how similar they look. Tracking only the match would leave no way to notice that a second person just became the better match — which is exactly how a follower gets handed to a stranger.</a:t>
            </a:r>
            <a:endParaRPr sz="1072"/>
          </a:p>
        </p:txBody>
      </p:sp>
      <p:sp>
        <p:nvSpPr>
          <p:cNvPr id="16" name="Text 14">
            <a:extLst xmlns:a="http://schemas.openxmlformats.org/drawingml/2006/main">
              <a:ext uri="{FF2B5EF4-FFF2-40B4-BE49-F238E27FC236}">
                <a16:creationId xmlns:a16="http://schemas.microsoft.com/office/drawing/2014/main" id="{9830DC80-5EAF-4767-BC59-DA5519243767}"/>
              </a:ext>
            </a:extLst>
          </p:cNvPr>
          <p:cNvSpPr>
            <a:spLocks xmlns:a="http://schemas.openxmlformats.org/drawingml/2006/main" noGrp="1"/>
          </p:cNvSpPr>
          <p:nvPr/>
        </p:nvSpPr>
        <p:spPr>
          <a:xfrm xmlns:a="http://schemas.openxmlformats.org/drawingml/2006/main">
            <a:off x="812720" y="5476912"/>
            <a:ext cx="10464746" cy="3905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7"/>
              </a:lnSpc>
              <a:buNone/>
            </a:pPr>
            <a:r>
              <a:rPr sz="1162">
                <a:solidFill>
                  <a:srgbClr val="4D5A63"/>
                </a:solidFill>
                <a:latin typeface="IBM Plex Sans"/>
                <a:ea typeface="IBM Plex Sans"/>
                <a:cs typeface="IBM Plex Sans"/>
              </a:rPr>
              <a:t>Tracker settings: match threshold 0.80, appearance threshold 0.80, proximity 0.50, track buffer 30 frames — about ten seconds at the 3 Hz detection rate.</a:t>
            </a:r>
            <a:endParaRPr sz="1162"/>
          </a:p>
        </p:txBody>
      </p:sp>
    </p:spTree>
    <p:extLst>
      <p:ext uri="{BB962C8B-B14F-4D97-AF65-F5344CB8AC3E}">
        <p14:creationId xmlns:p14="http://schemas.microsoft.com/office/powerpoint/2010/main" val="542721049"/>
      </p:ext>
    </p:extLst>
  </p:cSld>
</p:sld>
</file>

<file path=ppt/slides/slide12.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0E17D4-7262-4514-85F9-8EDD3E2D68B4}"/>
              </a:ext>
            </a:extLst>
          </p:cNvPr>
          <p:cNvSpPr>
            <a:spLocks xmlns:a="http://schemas.openxmlformats.org/drawingml/2006/main" noGrp="1"/>
          </p:cNvSpPr>
          <p:nvPr/>
        </p:nvSpPr>
        <p:spPr>
          <a:xfrm xmlns:a="http://schemas.openxmlformats.org/drawingml/2006/main">
            <a:off x="812720" y="812719"/>
            <a:ext cx="10883529" cy="1910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23"/>
              </a:lnSpc>
              <a:buNone/>
            </a:pPr>
            <a:r>
              <a:rPr sz="945" spc="150">
                <a:solidFill>
                  <a:srgbClr val="9C5308"/>
                </a:solidFill>
                <a:latin typeface="JetBrains Mono"/>
                <a:ea typeface="JetBrains Mono"/>
                <a:cs typeface="JetBrains Mono"/>
              </a:rPr>
              <a:t>PART 2 · THE COLOUR TEST, AND WHERE IT BROKE</a:t>
            </a:r>
            <a:endParaRPr sz="945"/>
          </a:p>
        </p:txBody>
      </p:sp>
      <p:sp>
        <p:nvSpPr>
          <p:cNvPr id="3" name="Text 1">
            <a:extLst xmlns:a="http://schemas.openxmlformats.org/drawingml/2006/main">
              <a:ext uri="{FF2B5EF4-FFF2-40B4-BE49-F238E27FC236}">
                <a16:creationId xmlns:a16="http://schemas.microsoft.com/office/drawing/2014/main" id="{2CBAD247-00F5-416B-AF38-786924540BC6}"/>
              </a:ext>
            </a:extLst>
          </p:cNvPr>
          <p:cNvSpPr>
            <a:spLocks xmlns:a="http://schemas.openxmlformats.org/drawingml/2006/main" noGrp="1"/>
          </p:cNvSpPr>
          <p:nvPr/>
        </p:nvSpPr>
        <p:spPr>
          <a:xfrm xmlns:a="http://schemas.openxmlformats.org/drawingml/2006/main">
            <a:off x="812720" y="1181540"/>
            <a:ext cx="10883529" cy="7317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461"/>
              </a:lnSpc>
              <a:buNone/>
            </a:pPr>
            <a:r>
              <a:rPr sz="3090" b="1">
                <a:solidFill>
                  <a:srgbClr val="10202A"/>
                </a:solidFill>
                <a:latin typeface="IBM Plex Sans"/>
                <a:ea typeface="IBM Plex Sans"/>
                <a:cs typeface="IBM Plex Sans"/>
              </a:rPr>
              <a:t>What happens when the prompt says “person with a bag”</a:t>
            </a:r>
            <a:endParaRPr sz="3090"/>
          </a:p>
        </p:txBody>
      </p:sp>
      <p:sp>
        <p:nvSpPr>
          <p:cNvPr id="4" name="Plain-language explanation">
            <a:extLst xmlns:a="http://schemas.openxmlformats.org/drawingml/2006/main">
              <a:ext uri="{FF2B5EF4-FFF2-40B4-BE49-F238E27FC236}">
                <a16:creationId xmlns:a16="http://schemas.microsoft.com/office/drawing/2014/main" id="{CE26A3BD-0261-4DEC-AB72-E0C857BBC1C1}"/>
              </a:ext>
            </a:extLst>
          </p:cNvPr>
          <p:cNvSpPr>
            <a:spLocks xmlns:a="http://schemas.openxmlformats.org/drawingml/2006/main" noGrp="1"/>
          </p:cNvSpPr>
          <p:nvPr/>
        </p:nvSpPr>
        <p:spPr>
          <a:xfrm xmlns:a="http://schemas.openxmlformats.org/drawingml/2006/main">
            <a:off x="1047750" y="214312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3000"/>
              </a:lnSpc>
              <a:buNone/>
              <a:defRPr sz="1875">
                <a:solidFill>
                  <a:srgbClr val="273943"/>
                </a:solidFill>
                <a:latin typeface="IBM Plex Sans"/>
                <a:ea typeface="IBM Plex Sans"/>
                <a:cs typeface="IBM Plex Sans"/>
              </a:defRPr>
            </a:pPr>
            <a:r>
              <a:rPr sz="1875">
                <a:solidFill>
                  <a:srgbClr val="273943"/>
                </a:solidFill>
                <a:latin typeface="IBM Plex Sans"/>
                <a:ea typeface="IBM Plex Sans"/>
                <a:cs typeface="IBM Plex Sans"/>
              </a:rPr>
              <a:t>If the prompt says “Follow the person with a bag,” the parser treats “bag” as the visual attribute and sends “person.” and “bag.” to Grounding DINO. The target manager checks whether each detected bag lies mostly inside a YOLO person box and is smaller than the person box. Because the prompt contains no colour word, the HSV colour test is skipped. If one person has a strong, unambiguous bag match, that candidate must remain verified for three consecutive target frames before the state becomes LOCKED. If no bag is found, or two people have similarly strong bag matches, the system stays in SEARCHING and the robot does not move.</a:t>
            </a:r>
          </a:p>
        </p:txBody>
      </p:sp>
    </p:spTree>
    <p:extLst>
      <p:ext uri="{BB962C8B-B14F-4D97-AF65-F5344CB8AC3E}">
        <p14:creationId xmlns:p14="http://schemas.microsoft.com/office/powerpoint/2010/main" val="256440158"/>
      </p:ext>
    </p:extLst>
  </p:cSld>
</p:sld>
</file>

<file path=ppt/slides/slide1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ED01D9-9E7D-485B-A711-5C36208DA579}"/>
              </a:ext>
            </a:extLst>
          </p:cNvPr>
          <p:cNvSpPr>
            <a:spLocks xmlns:a="http://schemas.openxmlformats.org/drawingml/2006/main" noGrp="1"/>
          </p:cNvSpPr>
          <p:nvPr/>
        </p:nvSpPr>
        <p:spPr>
          <a:xfrm xmlns:a="http://schemas.openxmlformats.org/drawingml/2006/main">
            <a:off x="812720" y="812719"/>
            <a:ext cx="10883529" cy="2238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5"/>
              </a:lnSpc>
              <a:buNone/>
            </a:pPr>
            <a:r>
              <a:rPr sz="1125" spc="150">
                <a:solidFill>
                  <a:srgbClr val="0F7D76"/>
                </a:solidFill>
                <a:latin typeface="JetBrains Mono"/>
                <a:ea typeface="JetBrains Mono"/>
                <a:cs typeface="JetBrains Mono"/>
              </a:rPr>
              <a:t>PART 2 · HOLDING THE IDENTITY</a:t>
            </a:r>
            <a:endParaRPr sz="1125"/>
          </a:p>
        </p:txBody>
      </p:sp>
      <p:sp>
        <p:nvSpPr>
          <p:cNvPr id="3" name="Text 1">
            <a:extLst xmlns:a="http://schemas.openxmlformats.org/drawingml/2006/main">
              <a:ext uri="{FF2B5EF4-FFF2-40B4-BE49-F238E27FC236}">
                <a16:creationId xmlns:a16="http://schemas.microsoft.com/office/drawing/2014/main" id="{7E082EBA-90B6-4E0F-8A38-732CE7C7E78A}"/>
              </a:ext>
            </a:extLst>
          </p:cNvPr>
          <p:cNvSpPr>
            <a:spLocks xmlns:a="http://schemas.openxmlformats.org/drawingml/2006/main" noGrp="1"/>
          </p:cNvSpPr>
          <p:nvPr/>
        </p:nvSpPr>
        <p:spPr>
          <a:xfrm xmlns:a="http://schemas.openxmlformats.org/drawingml/2006/main">
            <a:off x="812720" y="1188963"/>
            <a:ext cx="10883529" cy="8718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338"/>
              </a:lnSpc>
              <a:buNone/>
            </a:pPr>
            <a:r>
              <a:rPr sz="2980" b="1">
                <a:solidFill>
                  <a:srgbClr val="10202A"/>
                </a:solidFill>
                <a:latin typeface="IBM Plex Sans"/>
                <a:ea typeface="IBM Plex Sans"/>
                <a:cs typeface="IBM Plex Sans"/>
              </a:rPr>
              <a:t>Why the system stores an appearance signature</a:t>
            </a:r>
            <a:endParaRPr sz="2980"/>
          </a:p>
        </p:txBody>
      </p:sp>
      <p:sp>
        <p:nvSpPr>
          <p:cNvPr id="4" name="Plain-language explanation">
            <a:extLst xmlns:a="http://schemas.openxmlformats.org/drawingml/2006/main">
              <a:ext uri="{FF2B5EF4-FFF2-40B4-BE49-F238E27FC236}">
                <a16:creationId xmlns:a16="http://schemas.microsoft.com/office/drawing/2014/main" id="{8446480D-164A-4C4C-9FF9-EEE47EE83FD1}"/>
              </a:ext>
            </a:extLst>
          </p:cNvPr>
          <p:cNvSpPr>
            <a:spLocks xmlns:a="http://schemas.openxmlformats.org/drawingml/2006/main" noGrp="1"/>
          </p:cNvSpPr>
          <p:nvPr/>
        </p:nvSpPr>
        <p:spPr>
          <a:xfrm xmlns:a="http://schemas.openxmlformats.org/drawingml/2006/main">
            <a:off x="1047750" y="2238375"/>
            <a:ext cx="1000125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3000"/>
              </a:lnSpc>
              <a:buNone/>
              <a:defRPr sz="1875">
                <a:solidFill>
                  <a:srgbClr val="273943"/>
                </a:solidFill>
                <a:latin typeface="IBM Plex Sans"/>
                <a:ea typeface="IBM Plex Sans"/>
                <a:cs typeface="IBM Plex Sans"/>
              </a:defRPr>
            </a:pPr>
            <a:r>
              <a:rPr sz="1875">
                <a:solidFill>
                  <a:srgbClr val="273943"/>
                </a:solidFill>
                <a:latin typeface="IBM Plex Sans"/>
                <a:ea typeface="IBM Plex Sans"/>
                <a:cs typeface="IBM Plex Sans"/>
              </a:rPr>
              <a:t>The appearance signature is needed because Grounding DINO runs only occasionally, while the tracker updates every target frame. After the system selects a person, it needs a lightweight way to check that the current track still resembles the same individual and to recover that individual after a brief occlusion without switching to a nearby stranger. The code stores colour distributions from the person’s clothing and compares new observations with that gallery. A poor match changes the state to UNCERTAIN and stops motion. This protects identity between grounding passes, although people wearing similar colours can still look alike to this hand-built descriptor.</a:t>
            </a:r>
          </a:p>
        </p:txBody>
      </p:sp>
    </p:spTree>
    <p:extLst>
      <p:ext uri="{BB962C8B-B14F-4D97-AF65-F5344CB8AC3E}">
        <p14:creationId xmlns:p14="http://schemas.microsoft.com/office/powerpoint/2010/main" val="794513216"/>
      </p:ext>
    </p:extLst>
  </p:cSld>
</p:sld>
</file>

<file path=ppt/slides/slide14.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DC13E7-FEE8-4302-8324-7E6DD559C7B2}"/>
              </a:ext>
            </a:extLst>
          </p:cNvPr>
          <p:cNvSpPr>
            <a:spLocks xmlns:a="http://schemas.openxmlformats.org/drawingml/2006/main" noGrp="1"/>
          </p:cNvSpPr>
          <p:nvPr/>
        </p:nvSpPr>
        <p:spPr>
          <a:xfrm xmlns:a="http://schemas.openxmlformats.org/drawingml/2006/main">
            <a:off x="812720" y="812719"/>
            <a:ext cx="10883529"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50">
                <a:solidFill>
                  <a:srgbClr val="0F7D76"/>
                </a:solidFill>
                <a:latin typeface="JetBrains Mono"/>
                <a:ea typeface="JetBrains Mono"/>
                <a:cs typeface="JetBrains Mono"/>
              </a:rPr>
              <a:t>PART 2 · STATE MACHINE</a:t>
            </a:r>
            <a:endParaRPr sz="1200"/>
          </a:p>
        </p:txBody>
      </p:sp>
      <p:sp>
        <p:nvSpPr>
          <p:cNvPr id="3" name="Text 1">
            <a:extLst xmlns:a="http://schemas.openxmlformats.org/drawingml/2006/main">
              <a:ext uri="{FF2B5EF4-FFF2-40B4-BE49-F238E27FC236}">
                <a16:creationId xmlns:a16="http://schemas.microsoft.com/office/drawing/2014/main" id="{3B8A93DE-8F6C-42C2-8444-3ABDF3AA9A90}"/>
              </a:ext>
            </a:extLst>
          </p:cNvPr>
          <p:cNvSpPr>
            <a:spLocks xmlns:a="http://schemas.openxmlformats.org/drawingml/2006/main" noGrp="1"/>
          </p:cNvSpPr>
          <p:nvPr/>
        </p:nvSpPr>
        <p:spPr>
          <a:xfrm xmlns:a="http://schemas.openxmlformats.org/drawingml/2006/main">
            <a:off x="812720" y="1203908"/>
            <a:ext cx="10883529" cy="48053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584"/>
              </a:lnSpc>
              <a:buNone/>
            </a:pPr>
            <a:r>
              <a:rPr sz="3200" b="1">
                <a:solidFill>
                  <a:srgbClr val="10202A"/>
                </a:solidFill>
                <a:latin typeface="IBM Plex Sans"/>
                <a:ea typeface="IBM Plex Sans"/>
                <a:cs typeface="IBM Plex Sans"/>
              </a:rPr>
              <a:t>How the target state controls motion</a:t>
            </a:r>
            <a:endParaRPr sz="3200"/>
          </a:p>
        </p:txBody>
      </p:sp>
      <p:sp>
        <p:nvSpPr>
          <p:cNvPr id="4" name="Current evidence">
            <a:extLst xmlns:a="http://schemas.openxmlformats.org/drawingml/2006/main">
              <a:ext uri="{FF2B5EF4-FFF2-40B4-BE49-F238E27FC236}">
                <a16:creationId xmlns:a16="http://schemas.microsoft.com/office/drawing/2014/main" id="{DDD259FB-67A6-4F75-8E83-9AAD5CB49584}"/>
              </a:ext>
            </a:extLst>
          </p:cNvPr>
          <p:cNvSpPr>
            <a:spLocks xmlns:a="http://schemas.openxmlformats.org/drawingml/2006/main" noGrp="1"/>
          </p:cNvSpPr>
          <p:nvPr/>
        </p:nvSpPr>
        <p:spPr>
          <a:xfrm xmlns:a="http://schemas.openxmlformats.org/drawingml/2006/main">
            <a:off x="1047750" y="223837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2000"/>
              </a:lnSpc>
              <a:buNone/>
              <a:defRPr sz="2025">
                <a:solidFill>
                  <a:srgbClr val="273943"/>
                </a:solidFill>
                <a:latin typeface="IBM Plex Sans"/>
                <a:ea typeface="IBM Plex Sans"/>
                <a:cs typeface="IBM Plex Sans"/>
              </a:defRPr>
            </a:pPr>
            <a:r>
              <a:rPr sz="2025">
                <a:solidFill>
                  <a:srgbClr val="273943"/>
                </a:solidFill>
                <a:latin typeface="IBM Plex Sans"/>
                <a:ea typeface="IBM Plex Sans"/>
                <a:cs typeface="IBM Plex Sans"/>
              </a:rPr>
              <a:t>The target manager starts in SEARCHING. One candidate must pass the prompt and appearance checks for three target frames before LOCKED allows motion. If its track disappears or appearance similarity drops below 0.72, the state becomes UNCERTAIN immediately and motion stops. After eight unverified frames it becomes LOST. The original track can recover, or a freshly grounded candidate can recover if it also matches the stored appearance for three frames. LOST has no automatic timeout or identity replacement. The operator uses reset_target when a different person should be selected.</a:t>
            </a:r>
          </a:p>
        </p:txBody>
      </p:sp>
    </p:spTree>
    <p:extLst>
      <p:ext uri="{BB962C8B-B14F-4D97-AF65-F5344CB8AC3E}">
        <p14:creationId xmlns:p14="http://schemas.microsoft.com/office/powerpoint/2010/main" val="858462758"/>
      </p:ext>
    </p:extLst>
  </p:cSld>
</p:sld>
</file>

<file path=ppt/slides/slide1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AD534C7-DA06-477A-B5A7-8A3917EAEB43}"/>
              </a:ext>
            </a:extLst>
          </p:cNvPr>
          <p:cNvSpPr>
            <a:spLocks xmlns:a="http://schemas.openxmlformats.org/drawingml/2006/main" noGrp="1"/>
          </p:cNvSpPr>
          <p:nvPr/>
        </p:nvSpPr>
        <p:spPr>
          <a:xfrm xmlns:a="http://schemas.openxmlformats.org/drawingml/2006/main">
            <a:off x="812720" y="812719"/>
            <a:ext cx="10883529" cy="1680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123"/>
              </a:lnSpc>
              <a:buNone/>
            </a:pPr>
            <a:r>
              <a:rPr sz="802" spc="150">
                <a:solidFill>
                  <a:srgbClr val="9C5308"/>
                </a:solidFill>
                <a:latin typeface="JetBrains Mono"/>
                <a:ea typeface="JetBrains Mono"/>
                <a:cs typeface="JetBrains Mono"/>
              </a:rPr>
              <a:t>PART 2 · WHERE THE NUMBERS COME FROM</a:t>
            </a:r>
            <a:endParaRPr sz="802"/>
          </a:p>
        </p:txBody>
      </p:sp>
      <p:sp>
        <p:nvSpPr>
          <p:cNvPr id="3" name="Text 1">
            <a:extLst xmlns:a="http://schemas.openxmlformats.org/drawingml/2006/main">
              <a:ext uri="{FF2B5EF4-FFF2-40B4-BE49-F238E27FC236}">
                <a16:creationId xmlns:a16="http://schemas.microsoft.com/office/drawing/2014/main" id="{26267785-ABE0-4CBB-AD36-49B95D8A610A}"/>
              </a:ext>
            </a:extLst>
          </p:cNvPr>
          <p:cNvSpPr>
            <a:spLocks xmlns:a="http://schemas.openxmlformats.org/drawingml/2006/main" noGrp="1"/>
          </p:cNvSpPr>
          <p:nvPr/>
        </p:nvSpPr>
        <p:spPr>
          <a:xfrm xmlns:a="http://schemas.openxmlformats.org/drawingml/2006/main">
            <a:off x="812720" y="1158528"/>
            <a:ext cx="10883529" cy="63387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733"/>
              </a:lnSpc>
              <a:buNone/>
            </a:pPr>
            <a:r>
              <a:rPr sz="2440" b="1">
                <a:solidFill>
                  <a:srgbClr val="10202A"/>
                </a:solidFill>
                <a:latin typeface="IBM Plex Sans"/>
                <a:ea typeface="IBM Plex Sans"/>
                <a:cs typeface="IBM Plex Sans"/>
              </a:rPr>
              <a:t>Defaults, engineering choices, and one observed trial</a:t>
            </a:r>
            <a:endParaRPr sz="2440"/>
          </a:p>
        </p:txBody>
      </p:sp>
      <p:sp>
        <p:nvSpPr>
          <p:cNvPr id="4" name="Shape 2">
            <a:extLst xmlns:a="http://schemas.openxmlformats.org/drawingml/2006/main">
              <a:ext uri="{FF2B5EF4-FFF2-40B4-BE49-F238E27FC236}">
                <a16:creationId xmlns:a16="http://schemas.microsoft.com/office/drawing/2014/main" id="{622FE4F0-D0C7-4ACF-94AB-E91301FB0BA5}"/>
              </a:ext>
            </a:extLst>
          </p:cNvPr>
          <p:cNvSpPr>
            <a:spLocks xmlns:a="http://schemas.openxmlformats.org/drawingml/2006/main" noGrp="1"/>
          </p:cNvSpPr>
          <p:nvPr/>
        </p:nvSpPr>
        <p:spPr>
          <a:xfrm xmlns:a="http://schemas.openxmlformats.org/drawingml/2006/main">
            <a:off x="11376078" y="1970168"/>
            <a:ext cx="0" cy="3019462"/>
          </a:xfrm>
          <a:prstGeom xmlns:a="http://schemas.openxmlformats.org/drawingml/2006/main" prst="line">
            <a:avLst/>
          </a:prstGeom>
          <a:noFill xmlns:a="http://schemas.openxmlformats.org/drawingml/2006/main"/>
          <a:ln xmlns:a="http://schemas.openxmlformats.org/drawingml/2006/main" w="6350">
            <a:solidFill>
              <a:srgbClr val="D9DAD2"/>
            </a:solidFill>
            <a:prstDash val="solid"/>
          </a:ln>
        </p:spPr>
      </p:sp>
      <p:sp>
        <p:nvSpPr>
          <p:cNvPr id="5" name="Shape 3">
            <a:extLst xmlns:a="http://schemas.openxmlformats.org/drawingml/2006/main">
              <a:ext uri="{FF2B5EF4-FFF2-40B4-BE49-F238E27FC236}">
                <a16:creationId xmlns:a16="http://schemas.microsoft.com/office/drawing/2014/main" id="{B4D880B4-2493-464B-9ED5-D1DA3DE577DC}"/>
              </a:ext>
            </a:extLst>
          </p:cNvPr>
          <p:cNvSpPr>
            <a:spLocks xmlns:a="http://schemas.openxmlformats.org/drawingml/2006/main" noGrp="1"/>
          </p:cNvSpPr>
          <p:nvPr/>
        </p:nvSpPr>
        <p:spPr>
          <a:xfrm xmlns:a="http://schemas.openxmlformats.org/drawingml/2006/main">
            <a:off x="812720" y="4986456"/>
            <a:ext cx="10566533" cy="0"/>
          </a:xfrm>
          <a:prstGeom xmlns:a="http://schemas.openxmlformats.org/drawingml/2006/main" prst="line">
            <a:avLst/>
          </a:prstGeom>
          <a:noFill xmlns:a="http://schemas.openxmlformats.org/drawingml/2006/main"/>
          <a:ln xmlns:a="http://schemas.openxmlformats.org/drawingml/2006/main" w="6350">
            <a:solidFill>
              <a:srgbClr val="D9DAD2"/>
            </a:solidFill>
            <a:prstDash val="solid"/>
          </a:ln>
        </p:spPr>
      </p:sp>
      <p:graphicFrame>
        <p:nvGraphicFramePr>
          <p:cNvPr id="15" name="Table 0"/>
          <p:cNvGraphicFramePr/>
          <p:nvPr/>
        </p:nvGraphicFramePr>
        <p:xfrm>
          <a:off xmlns:a="http://schemas.openxmlformats.org/drawingml/2006/main" x="824313" y="1981762"/>
          <a:ext xmlns:a="http://schemas.openxmlformats.org/drawingml/2006/main" cx="10549143" cy="3002072"/>
        </p:xfrm>
        <a:graphic xmlns:a="http://schemas.openxmlformats.org/drawingml/2006/main">
          <a:graphicData uri="http://schemas.openxmlformats.org/drawingml/2006/table">
            <a:tbl>
              <a:tblPr/>
              <a:tblGrid>
                <a:gridCol w="3586709"/>
                <a:gridCol w="1476880"/>
                <a:gridCol w="5485554"/>
              </a:tblGrid>
              <a:tr h="357676">
                <a:tc>
                  <a:txBody>
                    <a:bodyPr/>
                    <a:lstStyle/>
                    <a:p>
                      <a:pPr marL="0" indent="0">
                        <a:lnSpc>
                          <a:spcPts val="1126"/>
                        </a:lnSpc>
                        <a:buNone/>
                      </a:pPr>
                      <a:r>
                        <a:rPr sz="804" b="1">
                          <a:solidFill>
                            <a:srgbClr val="F6F6F2"/>
                          </a:solidFill>
                          <a:latin typeface="IBM Plex Sans"/>
                          <a:ea typeface="IBM Plex Sans"/>
                          <a:cs typeface="IBM Plex Sans"/>
                        </a:rPr>
                        <a:t>Constant</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111D25"/>
                      </a:solidFill>
                      <a:prstDash val="solid"/>
                    </a:lnR>
                    <a:lnT w="12700" cmpd="sng">
                      <a:solidFill>
                        <a:srgbClr val="C4C4C1"/>
                      </a:solidFill>
                      <a:prstDash val="solid"/>
                    </a:lnT>
                    <a:lnB w="12700" cmpd="sng">
                      <a:solidFill>
                        <a:srgbClr val="111D25"/>
                      </a:solidFill>
                      <a:prstDash val="solid"/>
                    </a:lnB>
                    <a:solidFill>
                      <a:srgbClr val="10202A"/>
                    </a:solidFill>
                  </a:tcPr>
                </a:tc>
                <a:tc>
                  <a:txBody>
                    <a:bodyPr/>
                    <a:lstStyle/>
                    <a:p>
                      <a:pPr marL="0" indent="0">
                        <a:lnSpc>
                          <a:spcPts val="1126"/>
                        </a:lnSpc>
                        <a:buNone/>
                      </a:pPr>
                      <a:r>
                        <a:rPr sz="804" b="1">
                          <a:solidFill>
                            <a:srgbClr val="F6F6F2"/>
                          </a:solidFill>
                          <a:latin typeface="IBM Plex Sans"/>
                          <a:ea typeface="IBM Plex Sans"/>
                          <a:cs typeface="IBM Plex Sans"/>
                        </a:rPr>
                        <a:t>Value</a:t>
                      </a:r>
                      <a:endParaRPr sz="804">
                        <a:latin typeface="IBM Plex Sans"/>
                        <a:ea typeface="IBM Plex Sans"/>
                        <a:cs typeface="IBM Plex Sans"/>
                      </a:endParaRPr>
                    </a:p>
                  </a:txBody>
                  <a:tcPr marL="127000" marR="127000" marT="101600" marB="101600" anchor="t">
                    <a:lnL w="12700" cmpd="sng">
                      <a:solidFill>
                        <a:srgbClr val="111D25"/>
                      </a:solidFill>
                      <a:prstDash val="solid"/>
                    </a:lnL>
                    <a:lnR w="12700" cmpd="sng">
                      <a:solidFill>
                        <a:srgbClr val="111D25"/>
                      </a:solidFill>
                      <a:prstDash val="solid"/>
                    </a:lnR>
                    <a:lnT w="12700" cmpd="sng">
                      <a:solidFill>
                        <a:srgbClr val="C4C4C1"/>
                      </a:solidFill>
                      <a:prstDash val="solid"/>
                    </a:lnT>
                    <a:lnB w="12700" cmpd="sng">
                      <a:solidFill>
                        <a:srgbClr val="111D25"/>
                      </a:solidFill>
                      <a:prstDash val="solid"/>
                    </a:lnB>
                    <a:solidFill>
                      <a:srgbClr val="10202A"/>
                    </a:solidFill>
                  </a:tcPr>
                </a:tc>
                <a:tc>
                  <a:txBody>
                    <a:bodyPr/>
                    <a:lstStyle/>
                    <a:p>
                      <a:pPr marL="0" indent="0">
                        <a:lnSpc>
                          <a:spcPts val="1126"/>
                        </a:lnSpc>
                        <a:buNone/>
                      </a:pPr>
                      <a:r>
                        <a:rPr sz="804" b="1">
                          <a:solidFill>
                            <a:srgbClr val="F6F6F2"/>
                          </a:solidFill>
                          <a:latin typeface="IBM Plex Sans"/>
                          <a:ea typeface="IBM Plex Sans"/>
                          <a:cs typeface="IBM Plex Sans"/>
                        </a:rPr>
                        <a:t>Provenance</a:t>
                      </a:r>
                      <a:endParaRPr sz="804">
                        <a:latin typeface="IBM Plex Sans"/>
                        <a:ea typeface="IBM Plex Sans"/>
                        <a:cs typeface="IBM Plex Sans"/>
                      </a:endParaRPr>
                    </a:p>
                  </a:txBody>
                  <a:tcPr marL="127000" marR="127000" marT="101600" marB="101600" anchor="t">
                    <a:lnL w="12700" cmpd="sng">
                      <a:solidFill>
                        <a:srgbClr val="111D25"/>
                      </a:solidFill>
                      <a:prstDash val="solid"/>
                    </a:lnL>
                    <a:lnR w="12700" cmpd="sng">
                      <a:solidFill>
                        <a:srgbClr val="111D25"/>
                      </a:solidFill>
                      <a:prstDash val="solid"/>
                    </a:lnR>
                    <a:lnT w="12700" cmpd="sng">
                      <a:solidFill>
                        <a:srgbClr val="C4C4C1"/>
                      </a:solidFill>
                      <a:prstDash val="solid"/>
                    </a:lnT>
                    <a:lnB w="12700" cmpd="sng">
                      <a:solidFill>
                        <a:srgbClr val="111D25"/>
                      </a:solidFill>
                      <a:prstDash val="solid"/>
                    </a:lnB>
                    <a:solidFill>
                      <a:srgbClr val="10202A"/>
                    </a:solidFill>
                  </a:tcPr>
                </a:tc>
              </a:tr>
              <a:tr h="357676">
                <a:tc>
                  <a:txBody>
                    <a:bodyPr/>
                    <a:lstStyle/>
                    <a:p>
                      <a:pPr marL="0" indent="0">
                        <a:lnSpc>
                          <a:spcPts val="1126"/>
                        </a:lnSpc>
                        <a:buNone/>
                      </a:pPr>
                      <a:r>
                        <a:rPr sz="804">
                          <a:solidFill>
                            <a:srgbClr val="10202A"/>
                          </a:solidFill>
                          <a:latin typeface="IBM Plex Sans"/>
                          <a:ea typeface="IBM Plex Sans"/>
                          <a:cs typeface="IBM Plex Sans"/>
                        </a:rPr>
                        <a:t>Grounding box threshold</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BCBCB"/>
                      </a:solidFill>
                      <a:prstDash val="solid"/>
                    </a:lnR>
                    <a:lnT w="12700" cmpd="sng">
                      <a:solidFill>
                        <a:srgbClr val="111D25"/>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10202A"/>
                          </a:solidFill>
                          <a:latin typeface="IBM Plex Sans"/>
                          <a:ea typeface="IBM Plex Sans"/>
                          <a:cs typeface="IBM Plex Sans"/>
                        </a:rPr>
                        <a:t>0.35</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111D25"/>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4D5A63"/>
                          </a:solidFill>
                          <a:latin typeface="IBM Plex Sans"/>
                          <a:ea typeface="IBM Plex Sans"/>
                          <a:cs typeface="IBM Plex Sans"/>
                        </a:rPr>
                        <a:t>Library default, unchanged</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111D25"/>
                      </a:solidFill>
                      <a:prstDash val="solid"/>
                    </a:lnT>
                    <a:lnB w="12700" cmpd="sng">
                      <a:solidFill>
                        <a:srgbClr val="CBCBCB"/>
                      </a:solidFill>
                      <a:prstDash val="solid"/>
                    </a:lnB>
                    <a:solidFill>
                      <a:srgbClr val="FFFFFF"/>
                    </a:solidFill>
                  </a:tcPr>
                </a:tc>
              </a:tr>
              <a:tr h="357676">
                <a:tc>
                  <a:txBody>
                    <a:bodyPr/>
                    <a:lstStyle/>
                    <a:p>
                      <a:pPr marL="0" indent="0">
                        <a:lnSpc>
                          <a:spcPts val="1126"/>
                        </a:lnSpc>
                        <a:buNone/>
                      </a:pPr>
                      <a:r>
                        <a:rPr sz="804">
                          <a:solidFill>
                            <a:srgbClr val="10202A"/>
                          </a:solidFill>
                          <a:latin typeface="IBM Plex Sans"/>
                          <a:ea typeface="IBM Plex Sans"/>
                          <a:cs typeface="IBM Plex Sans"/>
                        </a:rPr>
                        <a:t>Person detector confidence</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10202A"/>
                          </a:solidFill>
                          <a:latin typeface="IBM Plex Sans"/>
                          <a:ea typeface="IBM Plex Sans"/>
                          <a:cs typeface="IBM Plex Sans"/>
                        </a:rPr>
                        <a:t>0.25</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4D5A63"/>
                          </a:solidFill>
                          <a:latin typeface="IBM Plex Sans"/>
                          <a:ea typeface="IBM Plex Sans"/>
                          <a:cs typeface="IBM Plex Sans"/>
                        </a:rPr>
                        <a:t>Set low on purpose so the tracker sees everyone, not only likely targets</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r>
              <a:tr h="357676">
                <a:tc>
                  <a:txBody>
                    <a:bodyPr/>
                    <a:lstStyle/>
                    <a:p>
                      <a:pPr marL="0" indent="0">
                        <a:lnSpc>
                          <a:spcPts val="1126"/>
                        </a:lnSpc>
                        <a:buNone/>
                      </a:pPr>
                      <a:r>
                        <a:rPr sz="804">
                          <a:solidFill>
                            <a:srgbClr val="10202A"/>
                          </a:solidFill>
                          <a:latin typeface="IBM Plex Sans"/>
                          <a:ea typeface="IBM Plex Sans"/>
                          <a:cs typeface="IBM Plex Sans"/>
                        </a:rPr>
                        <a:t>Colour fraction</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10202A"/>
                          </a:solidFill>
                          <a:latin typeface="IBM Plex Sans"/>
                          <a:ea typeface="IBM Plex Sans"/>
                          <a:cs typeface="IBM Plex Sans"/>
                        </a:rPr>
                        <a:t>0.15</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9C5308"/>
                          </a:solidFill>
                          <a:latin typeface="IBM Plex Sans"/>
                          <a:ea typeface="IBM Plex Sans"/>
                          <a:cs typeface="IBM Plex Sans"/>
                        </a:rPr>
                        <a:t>Hand-set. A live maroon shirt measured 0.055–0.081 against "brown" and was refused</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r>
              <a:tr h="357676">
                <a:tc>
                  <a:txBody>
                    <a:bodyPr/>
                    <a:lstStyle/>
                    <a:p>
                      <a:pPr marL="0" indent="0">
                        <a:lnSpc>
                          <a:spcPts val="1126"/>
                        </a:lnSpc>
                        <a:buNone/>
                      </a:pPr>
                      <a:r>
                        <a:rPr sz="804">
                          <a:solidFill>
                            <a:srgbClr val="10202A"/>
                          </a:solidFill>
                          <a:latin typeface="IBM Plex Sans"/>
                          <a:ea typeface="IBM Plex Sans"/>
                          <a:cs typeface="IBM Plex Sans"/>
                        </a:rPr>
                        <a:t>Ambiguity margin</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10202A"/>
                          </a:solidFill>
                          <a:latin typeface="IBM Plex Sans"/>
                          <a:ea typeface="IBM Plex Sans"/>
                          <a:cs typeface="IBM Plex Sans"/>
                        </a:rPr>
                        <a:t>0.08</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9C5308"/>
                          </a:solidFill>
                          <a:latin typeface="IBM Plex Sans"/>
                          <a:ea typeface="IBM Plex Sans"/>
                          <a:cs typeface="IBM Plex Sans"/>
                        </a:rPr>
                        <a:t>Hand-set. No sensitivity analysis</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r>
              <a:tr h="498338">
                <a:tc>
                  <a:txBody>
                    <a:bodyPr/>
                    <a:lstStyle/>
                    <a:p>
                      <a:pPr marL="0" indent="0">
                        <a:lnSpc>
                          <a:spcPts val="1126"/>
                        </a:lnSpc>
                        <a:buNone/>
                      </a:pPr>
                      <a:r>
                        <a:rPr sz="804">
                          <a:solidFill>
                            <a:srgbClr val="10202A"/>
                          </a:solidFill>
                          <a:latin typeface="IBM Plex Sans"/>
                          <a:ea typeface="IBM Plex Sans"/>
                          <a:cs typeface="IBM Plex Sans"/>
                        </a:rPr>
                        <a:t>Appearance match</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10202A"/>
                          </a:solidFill>
                          <a:latin typeface="IBM Plex Sans"/>
                          <a:ea typeface="IBM Plex Sans"/>
                          <a:cs typeface="IBM Plex Sans"/>
                        </a:rPr>
                        <a:t>0.72</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9C5308"/>
                          </a:solidFill>
                          <a:latin typeface="IBM Plex Sans"/>
                          <a:ea typeface="IBM Plex Sans"/>
                          <a:cs typeface="IBM Plex Sans"/>
                        </a:rPr>
                        <a:t>Hand-set. One live trial saw 0.776–0.998 through loss and recovery; two similar outfits scored 0.84 against each other</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r>
              <a:tr h="357676">
                <a:tc>
                  <a:txBody>
                    <a:bodyPr/>
                    <a:lstStyle/>
                    <a:p>
                      <a:pPr marL="0" indent="0">
                        <a:lnSpc>
                          <a:spcPts val="1126"/>
                        </a:lnSpc>
                        <a:buNone/>
                      </a:pPr>
                      <a:r>
                        <a:rPr sz="804">
                          <a:solidFill>
                            <a:srgbClr val="10202A"/>
                          </a:solidFill>
                          <a:latin typeface="IBM Plex Sans"/>
                          <a:ea typeface="IBM Plex Sans"/>
                          <a:cs typeface="IBM Plex Sans"/>
                        </a:rPr>
                        <a:t>Gallery update</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10202A"/>
                          </a:solidFill>
                          <a:latin typeface="IBM Plex Sans"/>
                          <a:ea typeface="IBM Plex Sans"/>
                          <a:cs typeface="IBM Plex Sans"/>
                        </a:rPr>
                        <a:t>0.85</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9C5308"/>
                          </a:solidFill>
                          <a:latin typeface="IBM Plex Sans"/>
                          <a:ea typeface="IBM Plex Sans"/>
                          <a:cs typeface="IBM Plex Sans"/>
                        </a:rPr>
                        <a:t>Hand-set. Only near-certain frames extend the gallery, capped at eight entries</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r>
              <a:tr h="357676">
                <a:tc>
                  <a:txBody>
                    <a:bodyPr/>
                    <a:lstStyle/>
                    <a:p>
                      <a:pPr marL="0" indent="0">
                        <a:lnSpc>
                          <a:spcPts val="1126"/>
                        </a:lnSpc>
                        <a:buNone/>
                      </a:pPr>
                      <a:r>
                        <a:rPr sz="804">
                          <a:solidFill>
                            <a:srgbClr val="10202A"/>
                          </a:solidFill>
                          <a:latin typeface="IBM Plex Sans"/>
                          <a:ea typeface="IBM Plex Sans"/>
                          <a:cs typeface="IBM Plex Sans"/>
                        </a:rPr>
                        <a:t>Frames to acquire / to lose</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10202A"/>
                          </a:solidFill>
                          <a:latin typeface="IBM Plex Sans"/>
                          <a:ea typeface="IBM Plex Sans"/>
                          <a:cs typeface="IBM Plex Sans"/>
                        </a:rPr>
                        <a:t>3 / 8</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9C5308"/>
                          </a:solidFill>
                          <a:latin typeface="IBM Plex Sans"/>
                          <a:ea typeface="IBM Plex Sans"/>
                          <a:cs typeface="IBM Plex Sans"/>
                        </a:rPr>
                        <a:t>Hand-set at 3 Hz — one second to acquire, under three to declare loss</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r>
            </a:tbl>
          </a:graphicData>
        </a:graphic>
      </p:graphicFrame>
      <p:sp>
        <p:nvSpPr>
          <p:cNvPr id="7" name="Shape 4">
            <a:extLst xmlns:a="http://schemas.openxmlformats.org/drawingml/2006/main">
              <a:ext uri="{FF2B5EF4-FFF2-40B4-BE49-F238E27FC236}">
                <a16:creationId xmlns:a16="http://schemas.microsoft.com/office/drawing/2014/main" id="{4A29C0A5-9E86-4815-9075-0FA70F879D3C}"/>
              </a:ext>
            </a:extLst>
          </p:cNvPr>
          <p:cNvSpPr>
            <a:spLocks xmlns:a="http://schemas.openxmlformats.org/drawingml/2006/main" noGrp="1"/>
          </p:cNvSpPr>
          <p:nvPr/>
        </p:nvSpPr>
        <p:spPr>
          <a:xfrm xmlns:a="http://schemas.openxmlformats.org/drawingml/2006/main">
            <a:off x="812673" y="5105400"/>
            <a:ext cx="10159937" cy="1200150"/>
          </a:xfrm>
          <a:prstGeom xmlns:a="http://schemas.openxmlformats.org/drawingml/2006/main" prst="roundRect">
            <a:avLst>
              <a:gd name="adj" fmla="val 11737"/>
            </a:avLst>
          </a:prstGeom>
          <a:solidFill xmlns:a="http://schemas.openxmlformats.org/drawingml/2006/main">
            <a:srgbClr val="EAEAE4"/>
          </a:solidFill>
        </p:spPr>
      </p:sp>
      <p:sp>
        <p:nvSpPr>
          <p:cNvPr id="8" name="Shape 5">
            <a:extLst xmlns:a="http://schemas.openxmlformats.org/drawingml/2006/main">
              <a:ext uri="{FF2B5EF4-FFF2-40B4-BE49-F238E27FC236}">
                <a16:creationId xmlns:a16="http://schemas.microsoft.com/office/drawing/2014/main" id="{36A2D7F5-2655-4195-A90A-D7FADD0616E0}"/>
              </a:ext>
            </a:extLst>
          </p:cNvPr>
          <p:cNvSpPr>
            <a:spLocks xmlns:a="http://schemas.openxmlformats.org/drawingml/2006/main" noGrp="1"/>
          </p:cNvSpPr>
          <p:nvPr/>
        </p:nvSpPr>
        <p:spPr>
          <a:xfrm xmlns:a="http://schemas.openxmlformats.org/drawingml/2006/main">
            <a:off x="812673" y="5105400"/>
            <a:ext cx="10159937" cy="1200150"/>
          </a:xfrm>
          <a:custGeom xmlns:a="http://schemas.openxmlformats.org/drawingml/2006/main">
            <a:rect l="l" t="t" r="r" b="b"/>
            <a:pathLst>
              <a:path w="10159947" h="649234">
                <a:moveTo>
                  <a:pt x="76200" y="649234"/>
                </a:moveTo>
                <a:lnTo>
                  <a:pt x="76200" y="649234"/>
                </a:lnTo>
                <a:arcTo wR="76200" hR="76200" stAng="5400000" swAng="5400000"/>
                <a:lnTo>
                  <a:pt x="0" y="76200"/>
                </a:lnTo>
                <a:arcTo wR="76200" hR="76200" stAng="10800000" swAng="5400000"/>
                <a:lnTo>
                  <a:pt x="76200" y="0"/>
                </a:lnTo>
                <a:arcTo wR="38100" hR="76200" stAng="16200000" swAng="-5400000"/>
                <a:lnTo>
                  <a:pt x="38100" y="573034"/>
                </a:lnTo>
                <a:arcTo wR="38100" hR="76200" stAng="10800000" swAng="-5400000"/>
                <a:close/>
              </a:path>
            </a:pathLst>
          </a:custGeom>
          <a:solidFill xmlns:a="http://schemas.openxmlformats.org/drawingml/2006/main">
            <a:srgbClr val="9C5308"/>
          </a:solidFill>
        </p:spPr>
      </p:sp>
      <p:sp>
        <p:nvSpPr>
          <p:cNvPr id="9" name="Text 6">
            <a:extLst xmlns:a="http://schemas.openxmlformats.org/drawingml/2006/main">
              <a:ext uri="{FF2B5EF4-FFF2-40B4-BE49-F238E27FC236}">
                <a16:creationId xmlns:a16="http://schemas.microsoft.com/office/drawing/2014/main" id="{B0D60D52-F2EC-40CB-92A9-C5BD8FECD5AF}"/>
              </a:ext>
            </a:extLst>
          </p:cNvPr>
          <p:cNvSpPr>
            <a:spLocks xmlns:a="http://schemas.openxmlformats.org/drawingml/2006/main" noGrp="1"/>
          </p:cNvSpPr>
          <p:nvPr/>
        </p:nvSpPr>
        <p:spPr>
          <a:xfrm xmlns:a="http://schemas.openxmlformats.org/drawingml/2006/main">
            <a:off x="1050703" y="5248275"/>
            <a:ext cx="976312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12000"/>
              </a:lnSpc>
              <a:buNone/>
              <a:defRPr sz="1275">
                <a:solidFill>
                  <a:srgbClr val="273943"/>
                </a:solidFill>
                <a:latin typeface="IBM Plex Sans"/>
                <a:ea typeface="IBM Plex Sans"/>
                <a:cs typeface="IBM Plex Sans"/>
              </a:defRPr>
            </a:pPr>
            <a:r>
              <a:rPr sz="1275">
                <a:solidFill>
                  <a:srgbClr val="273943"/>
                </a:solidFill>
                <a:latin typeface="IBM Plex Sans"/>
                <a:ea typeface="IBM Plex Sans"/>
                <a:cs typeface="IBM Plex Sans"/>
              </a:rPr>
              <a:t>The 0.35 grounding threshold is the Grounding DINO library default. The 0.25 person confidence was chosen to retain weak detections for tracking. The values 0.15, 0.08, 0.72, 0.85, and the 3/8 frame counts are engineering choices in the local configuration. The observed ranges come from one live trial and did not tune these values. A labelled replay dataset and sensitivity analysis are still needed.</a:t>
            </a:r>
            <a:endParaRPr sz="936"/>
          </a:p>
        </p:txBody>
      </p:sp>
    </p:spTree>
    <p:extLst>
      <p:ext uri="{BB962C8B-B14F-4D97-AF65-F5344CB8AC3E}">
        <p14:creationId xmlns:p14="http://schemas.microsoft.com/office/powerpoint/2010/main" val="936683223"/>
      </p:ext>
    </p:extLst>
  </p:cSld>
</p:sld>
</file>

<file path=ppt/slides/slide1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1312EB-BE0A-408C-B64A-D76B7831617C}"/>
              </a:ext>
            </a:extLst>
          </p:cNvPr>
          <p:cNvSpPr>
            <a:spLocks xmlns:a="http://schemas.openxmlformats.org/drawingml/2006/main" noGrp="1"/>
          </p:cNvSpPr>
          <p:nvPr/>
        </p:nvSpPr>
        <p:spPr>
          <a:xfrm xmlns:a="http://schemas.openxmlformats.org/drawingml/2006/main">
            <a:off x="812720" y="812726"/>
            <a:ext cx="10883529" cy="1689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171"/>
              </a:lnSpc>
              <a:buNone/>
            </a:pPr>
            <a:r>
              <a:rPr sz="836" spc="150">
                <a:solidFill>
                  <a:srgbClr val="0F7D76"/>
                </a:solidFill>
                <a:latin typeface="JetBrains Mono"/>
                <a:ea typeface="JetBrains Mono"/>
                <a:cs typeface="JetBrains Mono"/>
              </a:rPr>
              <a:t>PART 3 · THE PROCESS SPLIT</a:t>
            </a:r>
            <a:endParaRPr sz="836"/>
          </a:p>
        </p:txBody>
      </p:sp>
      <p:sp>
        <p:nvSpPr>
          <p:cNvPr id="3" name="Text 1">
            <a:extLst xmlns:a="http://schemas.openxmlformats.org/drawingml/2006/main">
              <a:ext uri="{FF2B5EF4-FFF2-40B4-BE49-F238E27FC236}">
                <a16:creationId xmlns:a16="http://schemas.microsoft.com/office/drawing/2014/main" id="{74864358-8AE7-49E5-AD8F-77A5FA4E3B59}"/>
              </a:ext>
            </a:extLst>
          </p:cNvPr>
          <p:cNvSpPr>
            <a:spLocks xmlns:a="http://schemas.openxmlformats.org/drawingml/2006/main" noGrp="1"/>
          </p:cNvSpPr>
          <p:nvPr/>
        </p:nvSpPr>
        <p:spPr>
          <a:xfrm xmlns:a="http://schemas.openxmlformats.org/drawingml/2006/main">
            <a:off x="812720" y="1134083"/>
            <a:ext cx="10883529" cy="6377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450"/>
              </a:lnSpc>
              <a:buNone/>
            </a:pPr>
            <a:r>
              <a:rPr sz="3080" b="1">
                <a:solidFill>
                  <a:srgbClr val="10202A"/>
                </a:solidFill>
                <a:latin typeface="IBM Plex Sans"/>
                <a:ea typeface="IBM Plex Sans"/>
                <a:cs typeface="IBM Plex Sans"/>
              </a:rPr>
              <a:t>How Ridgeback and Thor exchange inference data</a:t>
            </a:r>
            <a:endParaRPr sz="3080"/>
          </a:p>
        </p:txBody>
      </p:sp>
      <p:sp>
        <p:nvSpPr>
          <p:cNvPr id="4" name="Plain-language explanation">
            <a:extLst xmlns:a="http://schemas.openxmlformats.org/drawingml/2006/main">
              <a:ext uri="{FF2B5EF4-FFF2-40B4-BE49-F238E27FC236}">
                <a16:creationId xmlns:a16="http://schemas.microsoft.com/office/drawing/2014/main" id="{ADBD262E-9060-482E-90B1-C00F8E649F16}"/>
              </a:ext>
            </a:extLst>
          </p:cNvPr>
          <p:cNvSpPr>
            <a:spLocks xmlns:a="http://schemas.openxmlformats.org/drawingml/2006/main" noGrp="1"/>
          </p:cNvSpPr>
          <p:nvPr/>
        </p:nvSpPr>
        <p:spPr>
          <a:xfrm xmlns:a="http://schemas.openxmlformats.org/drawingml/2006/main">
            <a:off x="1047750" y="2143125"/>
            <a:ext cx="100012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5000"/>
              </a:lnSpc>
              <a:buNone/>
              <a:defRPr sz="1950">
                <a:solidFill>
                  <a:srgbClr val="273943"/>
                </a:solidFill>
                <a:latin typeface="IBM Plex Sans"/>
                <a:ea typeface="IBM Plex Sans"/>
                <a:cs typeface="IBM Plex Sans"/>
              </a:defRPr>
            </a:pPr>
            <a:r>
              <a:rPr sz="1950">
                <a:solidFill>
                  <a:srgbClr val="273943"/>
                </a:solidFill>
                <a:latin typeface="IBM Plex Sans"/>
                <a:ea typeface="IBM Plex Sans"/>
                <a:cs typeface="IBM Plex Sans"/>
              </a:rPr>
              <a:t>The Ridgeback computer runs ROS 2 Jazzy in Python 3.12. It receives compressed colour images, depth, LiDAR, E-stop and deadman data. In the Thor split, the ROS bridge sends the selected JPEG and full prompt over the robot network to this project’s inference server at 192.168.131.51:18765. Thor runs target tracking near 3 Hz and the OmTrackVLA planner after target lock, capped at 2 Hz. It returns target state, annotated image, waypoint path and planner status. Ridgeback keeps depth fusion, the 20 Hz safety gate and cmd_vel. The normal launcher still uses local inference; the Thor launchers are separate, and remote arming needs an explicit second opt-in. The live Thor result remains dry-run only.</a:t>
            </a:r>
          </a:p>
        </p:txBody>
      </p:sp>
    </p:spTree>
    <p:extLst>
      <p:ext uri="{BB962C8B-B14F-4D97-AF65-F5344CB8AC3E}">
        <p14:creationId xmlns:p14="http://schemas.microsoft.com/office/powerpoint/2010/main" val="1392586099"/>
      </p:ext>
    </p:extLst>
  </p:cSld>
</p:sld>
</file>

<file path=ppt/slides/slide1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E43508-D9E2-490D-B8F1-0256FB18CDBF}"/>
              </a:ext>
            </a:extLst>
          </p:cNvPr>
          <p:cNvSpPr>
            <a:spLocks xmlns:a="http://schemas.openxmlformats.org/drawingml/2006/main" noGrp="1"/>
          </p:cNvSpPr>
          <p:nvPr/>
        </p:nvSpPr>
        <p:spPr>
          <a:xfrm xmlns:a="http://schemas.openxmlformats.org/drawingml/2006/main">
            <a:off x="812720" y="812726"/>
            <a:ext cx="10883529"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50">
                <a:solidFill>
                  <a:srgbClr val="0F7D76"/>
                </a:solidFill>
                <a:latin typeface="JetBrains Mono"/>
                <a:ea typeface="JetBrains Mono"/>
                <a:cs typeface="JetBrains Mono"/>
              </a:rPr>
              <a:t>PART 3 · COMMAND FUSION</a:t>
            </a:r>
            <a:endParaRPr sz="1200"/>
          </a:p>
        </p:txBody>
      </p:sp>
      <p:sp>
        <p:nvSpPr>
          <p:cNvPr id="3" name="Text 1">
            <a:extLst xmlns:a="http://schemas.openxmlformats.org/drawingml/2006/main">
              <a:ext uri="{FF2B5EF4-FFF2-40B4-BE49-F238E27FC236}">
                <a16:creationId xmlns:a16="http://schemas.microsoft.com/office/drawing/2014/main" id="{81456853-10CA-4C7A-AFD9-BCF098DE3EBE}"/>
              </a:ext>
            </a:extLst>
          </p:cNvPr>
          <p:cNvSpPr>
            <a:spLocks xmlns:a="http://schemas.openxmlformats.org/drawingml/2006/main" noGrp="1"/>
          </p:cNvSpPr>
          <p:nvPr/>
        </p:nvSpPr>
        <p:spPr>
          <a:xfrm xmlns:a="http://schemas.openxmlformats.org/drawingml/2006/main">
            <a:off x="812720" y="1178458"/>
            <a:ext cx="10883529" cy="48053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584"/>
              </a:lnSpc>
              <a:buNone/>
            </a:pPr>
            <a:r>
              <a:rPr sz="3200" b="1">
                <a:solidFill>
                  <a:srgbClr val="10202A"/>
                </a:solidFill>
                <a:latin typeface="IBM Plex Sans"/>
                <a:ea typeface="IBM Plex Sans"/>
                <a:cs typeface="IBM Plex Sans"/>
              </a:rPr>
              <a:t>What “branch” means in the fusion controller</a:t>
            </a:r>
            <a:endParaRPr sz="3200"/>
          </a:p>
        </p:txBody>
      </p:sp>
      <p:sp>
        <p:nvSpPr>
          <p:cNvPr id="4" name="Plain-language explanation">
            <a:extLst xmlns:a="http://schemas.openxmlformats.org/drawingml/2006/main">
              <a:ext uri="{FF2B5EF4-FFF2-40B4-BE49-F238E27FC236}">
                <a16:creationId xmlns:a16="http://schemas.microsoft.com/office/drawing/2014/main" id="{1FE0C60E-5588-4914-A4D2-86DD1348C045}"/>
              </a:ext>
            </a:extLst>
          </p:cNvPr>
          <p:cNvSpPr>
            <a:spLocks xmlns:a="http://schemas.openxmlformats.org/drawingml/2006/main" noGrp="1"/>
          </p:cNvSpPr>
          <p:nvPr/>
        </p:nvSpPr>
        <p:spPr>
          <a:xfrm xmlns:a="http://schemas.openxmlformats.org/drawingml/2006/main">
            <a:off x="1047750" y="214312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3000"/>
              </a:lnSpc>
              <a:buNone/>
              <a:defRPr sz="1875">
                <a:solidFill>
                  <a:srgbClr val="273943"/>
                </a:solidFill>
                <a:latin typeface="IBM Plex Sans"/>
                <a:ea typeface="IBM Plex Sans"/>
                <a:cs typeface="IBM Plex Sans"/>
              </a:defRPr>
            </a:pPr>
            <a:r>
              <a:rPr sz="1875">
                <a:solidFill>
                  <a:srgbClr val="273943"/>
                </a:solidFill>
                <a:latin typeface="IBM Plex Sans"/>
                <a:ea typeface="IBM Plex Sans"/>
                <a:cs typeface="IBM Plex Sans"/>
              </a:rPr>
              <a:t>In this slide, a branch means one path through the controller’s if/else decision logic. The fusion code first checks the leader’s range and then tests whether the OmTrackVLA direction points generally toward the leader. In the worked example, the projection is +0.96, so the value is positive and the controller selects the agreement branch. That branch blends 75% of the leader direction with 25% of the model direction. A zero or negative projection selects a different branch that replaces the model direction with the leader direction, while unsafe distance cases select a stop branch. “Branch taken” therefore names the rule the controller executed. It is not a model prediction or a measured trial result.</a:t>
            </a:r>
          </a:p>
        </p:txBody>
      </p:sp>
    </p:spTree>
    <p:extLst>
      <p:ext uri="{BB962C8B-B14F-4D97-AF65-F5344CB8AC3E}">
        <p14:creationId xmlns:p14="http://schemas.microsoft.com/office/powerpoint/2010/main" val="52833598"/>
      </p:ext>
    </p:extLst>
  </p:cSld>
</p:sld>
</file>

<file path=ppt/slides/slide18.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315E1B3-5458-45CE-BD4D-B6935C7B42FF}"/>
              </a:ext>
            </a:extLst>
          </p:cNvPr>
          <p:cNvSpPr>
            <a:spLocks xmlns:a="http://schemas.openxmlformats.org/drawingml/2006/main" noGrp="1"/>
          </p:cNvSpPr>
          <p:nvPr/>
        </p:nvSpPr>
        <p:spPr>
          <a:xfrm xmlns:a="http://schemas.openxmlformats.org/drawingml/2006/main">
            <a:off x="812720" y="812713"/>
            <a:ext cx="10883529" cy="19721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70"/>
              </a:lnSpc>
              <a:buNone/>
            </a:pPr>
            <a:r>
              <a:rPr sz="979" spc="150">
                <a:solidFill>
                  <a:srgbClr val="0F7D76"/>
                </a:solidFill>
                <a:latin typeface="JetBrains Mono"/>
                <a:ea typeface="JetBrains Mono"/>
                <a:cs typeface="JetBrains Mono"/>
              </a:rPr>
              <a:t>PART 3 · FUSION RULES</a:t>
            </a:r>
            <a:endParaRPr sz="979"/>
          </a:p>
        </p:txBody>
      </p:sp>
      <p:sp>
        <p:nvSpPr>
          <p:cNvPr id="3" name="Text 1">
            <a:extLst xmlns:a="http://schemas.openxmlformats.org/drawingml/2006/main">
              <a:ext uri="{FF2B5EF4-FFF2-40B4-BE49-F238E27FC236}">
                <a16:creationId xmlns:a16="http://schemas.microsoft.com/office/drawing/2014/main" id="{4B5AD38E-BBBB-4C57-842A-853370B39E99}"/>
              </a:ext>
            </a:extLst>
          </p:cNvPr>
          <p:cNvSpPr>
            <a:spLocks xmlns:a="http://schemas.openxmlformats.org/drawingml/2006/main" noGrp="1"/>
          </p:cNvSpPr>
          <p:nvPr/>
        </p:nvSpPr>
        <p:spPr>
          <a:xfrm xmlns:a="http://schemas.openxmlformats.org/drawingml/2006/main">
            <a:off x="812720" y="1213061"/>
            <a:ext cx="10883529" cy="39186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23"/>
              </a:lnSpc>
              <a:buNone/>
            </a:pPr>
            <a:r>
              <a:rPr sz="2610" b="1">
                <a:solidFill>
                  <a:srgbClr val="10202A"/>
                </a:solidFill>
                <a:latin typeface="IBM Plex Sans"/>
                <a:ea typeface="IBM Plex Sans"/>
                <a:cs typeface="IBM Plex Sans"/>
              </a:rPr>
              <a:t>Five cases, and what the robot does in each</a:t>
            </a:r>
            <a:endParaRPr sz="2610"/>
          </a:p>
        </p:txBody>
      </p:sp>
      <p:sp>
        <p:nvSpPr>
          <p:cNvPr id="4" name="Shape 2">
            <a:extLst xmlns:a="http://schemas.openxmlformats.org/drawingml/2006/main">
              <a:ext uri="{FF2B5EF4-FFF2-40B4-BE49-F238E27FC236}">
                <a16:creationId xmlns:a16="http://schemas.microsoft.com/office/drawing/2014/main" id="{63C99058-1EBD-4313-BC26-B66460900D14}"/>
              </a:ext>
            </a:extLst>
          </p:cNvPr>
          <p:cNvSpPr>
            <a:spLocks xmlns:a="http://schemas.openxmlformats.org/drawingml/2006/main" noGrp="1"/>
          </p:cNvSpPr>
          <p:nvPr/>
        </p:nvSpPr>
        <p:spPr>
          <a:xfrm xmlns:a="http://schemas.openxmlformats.org/drawingml/2006/main">
            <a:off x="11376078" y="1808038"/>
            <a:ext cx="0" cy="2729807"/>
          </a:xfrm>
          <a:prstGeom xmlns:a="http://schemas.openxmlformats.org/drawingml/2006/main" prst="line">
            <a:avLst/>
          </a:prstGeom>
          <a:noFill xmlns:a="http://schemas.openxmlformats.org/drawingml/2006/main"/>
          <a:ln xmlns:a="http://schemas.openxmlformats.org/drawingml/2006/main" w="6350">
            <a:solidFill>
              <a:srgbClr val="D9DAD2"/>
            </a:solidFill>
            <a:prstDash val="solid"/>
          </a:ln>
        </p:spPr>
      </p:sp>
      <p:sp>
        <p:nvSpPr>
          <p:cNvPr id="5" name="Shape 3">
            <a:extLst xmlns:a="http://schemas.openxmlformats.org/drawingml/2006/main">
              <a:ext uri="{FF2B5EF4-FFF2-40B4-BE49-F238E27FC236}">
                <a16:creationId xmlns:a16="http://schemas.microsoft.com/office/drawing/2014/main" id="{E36B9975-BE58-4698-B4DC-F7003EC83F31}"/>
              </a:ext>
            </a:extLst>
          </p:cNvPr>
          <p:cNvSpPr>
            <a:spLocks xmlns:a="http://schemas.openxmlformats.org/drawingml/2006/main" noGrp="1"/>
          </p:cNvSpPr>
          <p:nvPr/>
        </p:nvSpPr>
        <p:spPr>
          <a:xfrm xmlns:a="http://schemas.openxmlformats.org/drawingml/2006/main">
            <a:off x="812720" y="4534670"/>
            <a:ext cx="10566533" cy="0"/>
          </a:xfrm>
          <a:prstGeom xmlns:a="http://schemas.openxmlformats.org/drawingml/2006/main" prst="line">
            <a:avLst/>
          </a:prstGeom>
          <a:noFill xmlns:a="http://schemas.openxmlformats.org/drawingml/2006/main"/>
          <a:ln xmlns:a="http://schemas.openxmlformats.org/drawingml/2006/main" w="6350">
            <a:solidFill>
              <a:srgbClr val="D9DAD2"/>
            </a:solidFill>
            <a:prstDash val="solid"/>
          </a:ln>
        </p:spPr>
      </p:sp>
      <p:graphicFrame>
        <p:nvGraphicFramePr>
          <p:cNvPr id="18" name="Table 0"/>
          <p:cNvGraphicFramePr/>
          <p:nvPr/>
        </p:nvGraphicFramePr>
        <p:xfrm>
          <a:off xmlns:a="http://schemas.openxmlformats.org/drawingml/2006/main" x="824313" y="1819632"/>
          <a:ext xmlns:a="http://schemas.openxmlformats.org/drawingml/2006/main" cx="10549143" cy="2712417"/>
        </p:xfrm>
        <a:graphic xmlns:a="http://schemas.openxmlformats.org/drawingml/2006/main">
          <a:graphicData uri="http://schemas.openxmlformats.org/drawingml/2006/table">
            <a:tbl>
              <a:tblPr/>
              <a:tblGrid>
                <a:gridCol w="3586709"/>
                <a:gridCol w="3164743"/>
                <a:gridCol w="3797692"/>
              </a:tblGrid>
              <a:tr h="418270">
                <a:tc>
                  <a:txBody>
                    <a:bodyPr/>
                    <a:lstStyle/>
                    <a:p>
                      <a:pPr marL="0" indent="0">
                        <a:lnSpc>
                          <a:spcPts val="1604"/>
                        </a:lnSpc>
                        <a:buNone/>
                      </a:pPr>
                      <a:r>
                        <a:rPr sz="1146" b="1">
                          <a:solidFill>
                            <a:srgbClr val="F6F6F2"/>
                          </a:solidFill>
                          <a:latin typeface="IBM Plex Sans"/>
                          <a:ea typeface="IBM Plex Sans"/>
                          <a:cs typeface="IBM Plex Sans"/>
                        </a:rPr>
                        <a:t>Situation</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111D25"/>
                      </a:solidFill>
                      <a:prstDash val="solid"/>
                    </a:lnR>
                    <a:lnT w="12700" cmpd="sng">
                      <a:solidFill>
                        <a:srgbClr val="BBBBB6"/>
                      </a:solidFill>
                      <a:prstDash val="solid"/>
                    </a:lnT>
                    <a:lnB w="12700" cmpd="sng">
                      <a:solidFill>
                        <a:srgbClr val="111D25"/>
                      </a:solidFill>
                      <a:prstDash val="solid"/>
                    </a:lnB>
                    <a:solidFill>
                      <a:srgbClr val="10202A"/>
                    </a:solidFill>
                  </a:tcPr>
                </a:tc>
                <a:tc>
                  <a:txBody>
                    <a:bodyPr/>
                    <a:lstStyle/>
                    <a:p>
                      <a:pPr marL="0" indent="0">
                        <a:lnSpc>
                          <a:spcPts val="1604"/>
                        </a:lnSpc>
                        <a:buNone/>
                      </a:pPr>
                      <a:r>
                        <a:rPr sz="1146" b="1">
                          <a:solidFill>
                            <a:srgbClr val="F6F6F2"/>
                          </a:solidFill>
                          <a:latin typeface="IBM Plex Sans"/>
                          <a:ea typeface="IBM Plex Sans"/>
                          <a:cs typeface="IBM Plex Sans"/>
                        </a:rPr>
                        <a:t>Translation</a:t>
                      </a:r>
                      <a:endParaRPr sz="1146">
                        <a:latin typeface="IBM Plex Sans"/>
                        <a:ea typeface="IBM Plex Sans"/>
                        <a:cs typeface="IBM Plex Sans"/>
                      </a:endParaRPr>
                    </a:p>
                  </a:txBody>
                  <a:tcPr marL="127000" marR="127000" marT="101600" marB="101600" anchor="t">
                    <a:lnL w="12700" cmpd="sng">
                      <a:solidFill>
                        <a:srgbClr val="111D25"/>
                      </a:solidFill>
                      <a:prstDash val="solid"/>
                    </a:lnL>
                    <a:lnR w="12700" cmpd="sng">
                      <a:solidFill>
                        <a:srgbClr val="111D25"/>
                      </a:solidFill>
                      <a:prstDash val="solid"/>
                    </a:lnR>
                    <a:lnT w="12700" cmpd="sng">
                      <a:solidFill>
                        <a:srgbClr val="BBBBB6"/>
                      </a:solidFill>
                      <a:prstDash val="solid"/>
                    </a:lnT>
                    <a:lnB w="12700" cmpd="sng">
                      <a:solidFill>
                        <a:srgbClr val="111D25"/>
                      </a:solidFill>
                      <a:prstDash val="solid"/>
                    </a:lnB>
                    <a:solidFill>
                      <a:srgbClr val="10202A"/>
                    </a:solidFill>
                  </a:tcPr>
                </a:tc>
                <a:tc>
                  <a:txBody>
                    <a:bodyPr/>
                    <a:lstStyle/>
                    <a:p>
                      <a:pPr marL="0" indent="0">
                        <a:lnSpc>
                          <a:spcPts val="1604"/>
                        </a:lnSpc>
                        <a:buNone/>
                      </a:pPr>
                      <a:r>
                        <a:rPr sz="1146" b="1">
                          <a:solidFill>
                            <a:srgbClr val="F6F6F2"/>
                          </a:solidFill>
                          <a:latin typeface="IBM Plex Sans"/>
                          <a:ea typeface="IBM Plex Sans"/>
                          <a:cs typeface="IBM Plex Sans"/>
                        </a:rPr>
                        <a:t>Rotation</a:t>
                      </a:r>
                      <a:endParaRPr sz="1146">
                        <a:latin typeface="IBM Plex Sans"/>
                        <a:ea typeface="IBM Plex Sans"/>
                        <a:cs typeface="IBM Plex Sans"/>
                      </a:endParaRPr>
                    </a:p>
                  </a:txBody>
                  <a:tcPr marL="127000" marR="127000" marT="101600" marB="101600" anchor="t">
                    <a:lnL w="12700" cmpd="sng">
                      <a:solidFill>
                        <a:srgbClr val="111D25"/>
                      </a:solidFill>
                      <a:prstDash val="solid"/>
                    </a:lnL>
                    <a:lnR w="12700" cmpd="sng">
                      <a:solidFill>
                        <a:srgbClr val="111D25"/>
                      </a:solidFill>
                      <a:prstDash val="solid"/>
                    </a:lnR>
                    <a:lnT w="12700" cmpd="sng">
                      <a:solidFill>
                        <a:srgbClr val="BBBBB6"/>
                      </a:solidFill>
                      <a:prstDash val="solid"/>
                    </a:lnT>
                    <a:lnB w="12700" cmpd="sng">
                      <a:solidFill>
                        <a:srgbClr val="111D25"/>
                      </a:solidFill>
                      <a:prstDash val="solid"/>
                    </a:lnB>
                    <a:solidFill>
                      <a:srgbClr val="10202A"/>
                    </a:solidFill>
                  </a:tcPr>
                </a:tc>
              </a:tr>
              <a:tr h="418270">
                <a:tc>
                  <a:txBody>
                    <a:bodyPr/>
                    <a:lstStyle/>
                    <a:p>
                      <a:pPr marL="0" indent="0">
                        <a:lnSpc>
                          <a:spcPts val="1604"/>
                        </a:lnSpc>
                        <a:buNone/>
                      </a:pPr>
                      <a:r>
                        <a:rPr sz="1146">
                          <a:solidFill>
                            <a:srgbClr val="10202A"/>
                          </a:solidFill>
                          <a:latin typeface="IBM Plex Sans"/>
                          <a:ea typeface="IBM Plex Sans"/>
                          <a:cs typeface="IBM Plex Sans"/>
                        </a:rPr>
                        <a:t>Leader behind the robot, or at zero range</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C4C4C1"/>
                      </a:solidFill>
                      <a:prstDash val="solid"/>
                    </a:lnR>
                    <a:lnT w="12700" cmpd="sng">
                      <a:solidFill>
                        <a:srgbClr val="111D25"/>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9E3B2F"/>
                          </a:solidFill>
                          <a:latin typeface="IBM Plex Sans"/>
                          <a:ea typeface="IBM Plex Sans"/>
                          <a:cs typeface="IBM Plex Sans"/>
                        </a:rPr>
                        <a:t>stopped</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111D25"/>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9E3B2F"/>
                          </a:solidFill>
                          <a:latin typeface="IBM Plex Sans"/>
                          <a:ea typeface="IBM Plex Sans"/>
                          <a:cs typeface="IBM Plex Sans"/>
                        </a:rPr>
                        <a:t>stopped</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111D25"/>
                      </a:solidFill>
                      <a:prstDash val="solid"/>
                    </a:lnT>
                    <a:lnB w="12700" cmpd="sng">
                      <a:solidFill>
                        <a:srgbClr val="C4C4C1"/>
                      </a:solidFill>
                      <a:prstDash val="solid"/>
                    </a:lnB>
                    <a:solidFill>
                      <a:srgbClr val="F6F6F2"/>
                    </a:solidFill>
                  </a:tcPr>
                </a:tc>
              </a:tr>
              <a:tr h="418270">
                <a:tc>
                  <a:txBody>
                    <a:bodyPr/>
                    <a:lstStyle/>
                    <a:p>
                      <a:pPr marL="0" indent="0">
                        <a:lnSpc>
                          <a:spcPts val="1604"/>
                        </a:lnSpc>
                        <a:buNone/>
                      </a:pPr>
                      <a:r>
                        <a:rPr sz="1146">
                          <a:solidFill>
                            <a:srgbClr val="10202A"/>
                          </a:solidFill>
                          <a:latin typeface="IBM Plex Sans"/>
                          <a:ea typeface="IBM Plex Sans"/>
                          <a:cs typeface="IBM Plex Sans"/>
                        </a:rPr>
                        <a:t>Leader nearer than 0.9 m</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c>
                  <a:txBody>
                    <a:bodyPr/>
                    <a:lstStyle/>
                    <a:p>
                      <a:pPr marL="0" indent="0">
                        <a:lnSpc>
                          <a:spcPts val="1604"/>
                        </a:lnSpc>
                        <a:buNone/>
                      </a:pPr>
                      <a:r>
                        <a:rPr sz="1146">
                          <a:solidFill>
                            <a:srgbClr val="9E3B2F"/>
                          </a:solidFill>
                          <a:latin typeface="IBM Plex Sans"/>
                          <a:ea typeface="IBM Plex Sans"/>
                          <a:cs typeface="IBM Plex Sans"/>
                        </a:rPr>
                        <a:t>stopped — it does not reverse</a:t>
                      </a:r>
                      <a:endParaRPr sz="1146">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c>
                  <a:txBody>
                    <a:bodyPr/>
                    <a:lstStyle/>
                    <a:p>
                      <a:pPr marL="0" indent="0">
                        <a:lnSpc>
                          <a:spcPts val="1604"/>
                        </a:lnSpc>
                        <a:buNone/>
                      </a:pPr>
                      <a:r>
                        <a:rPr sz="1146">
                          <a:solidFill>
                            <a:srgbClr val="2E7D4F"/>
                          </a:solidFill>
                          <a:latin typeface="IBM Plex Sans"/>
                          <a:ea typeface="IBM Plex Sans"/>
                          <a:cs typeface="IBM Plex Sans"/>
                        </a:rPr>
                        <a:t>still turns to face the leader</a:t>
                      </a:r>
                      <a:endParaRPr sz="1146">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r>
              <a:tr h="418270">
                <a:tc>
                  <a:txBody>
                    <a:bodyPr/>
                    <a:lstStyle/>
                    <a:p>
                      <a:pPr marL="0" indent="0">
                        <a:lnSpc>
                          <a:spcPts val="1604"/>
                        </a:lnSpc>
                        <a:buNone/>
                      </a:pPr>
                      <a:r>
                        <a:rPr sz="1146">
                          <a:solidFill>
                            <a:srgbClr val="10202A"/>
                          </a:solidFill>
                          <a:latin typeface="IBM Plex Sans"/>
                          <a:ea typeface="IBM Plex Sans"/>
                          <a:cs typeface="IBM Plex Sans"/>
                        </a:rPr>
                        <a:t>Model proposal points toward the leader</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2E7D4F"/>
                          </a:solidFill>
                          <a:latin typeface="IBM Plex Sans"/>
                          <a:ea typeface="IBM Plex Sans"/>
                          <a:cs typeface="IBM Plex Sans"/>
                        </a:rPr>
                        <a:t>0.75 leader plus 0.25 model, renormalised</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2E7D4F"/>
                          </a:solidFill>
                          <a:latin typeface="IBM Plex Sans"/>
                          <a:ea typeface="IBM Plex Sans"/>
                          <a:cs typeface="IBM Plex Sans"/>
                        </a:rPr>
                        <a:t>the same 0.75 / 0.25 blend of the yaw terms</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r>
              <a:tr h="418270">
                <a:tc>
                  <a:txBody>
                    <a:bodyPr/>
                    <a:lstStyle/>
                    <a:p>
                      <a:pPr marL="0" indent="0">
                        <a:lnSpc>
                          <a:spcPts val="1604"/>
                        </a:lnSpc>
                        <a:buNone/>
                      </a:pPr>
                      <a:r>
                        <a:rPr sz="1146">
                          <a:solidFill>
                            <a:srgbClr val="10202A"/>
                          </a:solidFill>
                          <a:latin typeface="IBM Plex Sans"/>
                          <a:ea typeface="IBM Plex Sans"/>
                          <a:cs typeface="IBM Plex Sans"/>
                        </a:rPr>
                        <a:t>Model proposal points away</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c>
                  <a:txBody>
                    <a:bodyPr/>
                    <a:lstStyle/>
                    <a:p>
                      <a:pPr marL="0" indent="0">
                        <a:lnSpc>
                          <a:spcPts val="1604"/>
                        </a:lnSpc>
                        <a:buNone/>
                      </a:pPr>
                      <a:r>
                        <a:rPr sz="1146">
                          <a:solidFill>
                            <a:srgbClr val="9C5308"/>
                          </a:solidFill>
                          <a:latin typeface="IBM Plex Sans"/>
                          <a:ea typeface="IBM Plex Sans"/>
                          <a:cs typeface="IBM Plex Sans"/>
                        </a:rPr>
                        <a:t>replaced by the leader direction</a:t>
                      </a:r>
                      <a:endParaRPr sz="1146">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c>
                  <a:txBody>
                    <a:bodyPr/>
                    <a:lstStyle/>
                    <a:p>
                      <a:pPr marL="0" indent="0">
                        <a:lnSpc>
                          <a:spcPts val="1604"/>
                        </a:lnSpc>
                        <a:buNone/>
                      </a:pPr>
                      <a:r>
                        <a:rPr sz="1146">
                          <a:solidFill>
                            <a:srgbClr val="9C5308"/>
                          </a:solidFill>
                          <a:latin typeface="IBM Plex Sans"/>
                          <a:ea typeface="IBM Plex Sans"/>
                          <a:cs typeface="IBM Plex Sans"/>
                        </a:rPr>
                        <a:t>replaced by the leader bearing term</a:t>
                      </a:r>
                      <a:endParaRPr sz="1146">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r>
              <a:tr h="621065">
                <a:tc>
                  <a:txBody>
                    <a:bodyPr/>
                    <a:lstStyle/>
                    <a:p>
                      <a:pPr marL="0" indent="0">
                        <a:lnSpc>
                          <a:spcPts val="1604"/>
                        </a:lnSpc>
                        <a:buNone/>
                      </a:pPr>
                      <a:r>
                        <a:rPr sz="1146">
                          <a:solidFill>
                            <a:srgbClr val="10202A"/>
                          </a:solidFill>
                          <a:latin typeface="IBM Plex Sans"/>
                          <a:ea typeface="IBM Plex Sans"/>
                          <a:cs typeface="IBM Plex Sans"/>
                        </a:rPr>
                        <a:t>Every case above, after fusion</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4D5A63"/>
                          </a:solidFill>
                          <a:latin typeface="IBM Plex Sans"/>
                          <a:ea typeface="IBM Plex Sans"/>
                          <a:cs typeface="IBM Plex Sans"/>
                        </a:rPr>
                        <a:t>speed = min(0.4 × distance error, 0.20 m/s), floored at the model's own speed or 0.04</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4D5A63"/>
                          </a:solidFill>
                          <a:latin typeface="IBM Plex Sans"/>
                          <a:ea typeface="IBM Plex Sans"/>
                          <a:cs typeface="IBM Plex Sans"/>
                        </a:rPr>
                        <a:t>yaw = 0.8 × bearing, clipped to 0.35 rad/s</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r>
            </a:tbl>
          </a:graphicData>
        </a:graphic>
      </p:graphicFrame>
      <p:sp>
        <p:nvSpPr>
          <p:cNvPr id="7" name="Shape 4">
            <a:extLst xmlns:a="http://schemas.openxmlformats.org/drawingml/2006/main">
              <a:ext uri="{FF2B5EF4-FFF2-40B4-BE49-F238E27FC236}">
                <a16:creationId xmlns:a16="http://schemas.microsoft.com/office/drawing/2014/main" id="{14CE52F0-B2F8-4458-B5C0-51EC191696E8}"/>
              </a:ext>
            </a:extLst>
          </p:cNvPr>
          <p:cNvSpPr>
            <a:spLocks xmlns:a="http://schemas.openxmlformats.org/drawingml/2006/main" noGrp="1"/>
          </p:cNvSpPr>
          <p:nvPr/>
        </p:nvSpPr>
        <p:spPr>
          <a:xfrm xmlns:a="http://schemas.openxmlformats.org/drawingml/2006/main">
            <a:off x="812720" y="4766357"/>
            <a:ext cx="5194323" cy="1075656"/>
          </a:xfrm>
          <a:prstGeom xmlns:a="http://schemas.openxmlformats.org/drawingml/2006/main" prst="roundRect">
            <a:avLst>
              <a:gd name="adj" fmla="val 7084"/>
            </a:avLst>
          </a:prstGeom>
          <a:solidFill xmlns:a="http://schemas.openxmlformats.org/drawingml/2006/main">
            <a:srgbClr val="F6F6F2"/>
          </a:solidFill>
        </p:spPr>
      </p:sp>
      <p:sp>
        <p:nvSpPr>
          <p:cNvPr id="8" name="Shape 5">
            <a:extLst xmlns:a="http://schemas.openxmlformats.org/drawingml/2006/main">
              <a:ext uri="{FF2B5EF4-FFF2-40B4-BE49-F238E27FC236}">
                <a16:creationId xmlns:a16="http://schemas.microsoft.com/office/drawing/2014/main" id="{933398AC-DA8B-48A1-8049-8B7F262BEE58}"/>
              </a:ext>
            </a:extLst>
          </p:cNvPr>
          <p:cNvSpPr>
            <a:spLocks xmlns:a="http://schemas.openxmlformats.org/drawingml/2006/main" noGrp="1"/>
          </p:cNvSpPr>
          <p:nvPr/>
        </p:nvSpPr>
        <p:spPr>
          <a:xfrm xmlns:a="http://schemas.openxmlformats.org/drawingml/2006/main">
            <a:off x="812720" y="4766357"/>
            <a:ext cx="5194323" cy="1075656"/>
          </a:xfrm>
          <a:custGeom xmlns:a="http://schemas.openxmlformats.org/drawingml/2006/main">
            <a:rect l="l" t="t" r="r" b="b"/>
            <a:pathLst>
              <a:path w="5194323" h="1075656">
                <a:moveTo>
                  <a:pt x="76200" y="1075656"/>
                </a:moveTo>
                <a:lnTo>
                  <a:pt x="76200" y="1075656"/>
                </a:lnTo>
                <a:arcTo wR="76200" hR="76200" stAng="5400000" swAng="5400000"/>
                <a:lnTo>
                  <a:pt x="0" y="76200"/>
                </a:lnTo>
                <a:arcTo wR="76200" hR="76200" stAng="10800000" swAng="5400000"/>
                <a:lnTo>
                  <a:pt x="76200" y="0"/>
                </a:lnTo>
                <a:arcTo wR="38100" hR="76200" stAng="16200000" swAng="-5400000"/>
                <a:lnTo>
                  <a:pt x="38100" y="999456"/>
                </a:lnTo>
                <a:arcTo wR="38100" hR="76200" stAng="10800000" swAng="-5400000"/>
                <a:close/>
              </a:path>
            </a:pathLst>
          </a:custGeom>
          <a:solidFill xmlns:a="http://schemas.openxmlformats.org/drawingml/2006/main">
            <a:srgbClr val="0F7D76"/>
          </a:solidFill>
        </p:spPr>
      </p:sp>
      <p:sp>
        <p:nvSpPr>
          <p:cNvPr id="9" name="Text 6">
            <a:extLst xmlns:a="http://schemas.openxmlformats.org/drawingml/2006/main">
              <a:ext uri="{FF2B5EF4-FFF2-40B4-BE49-F238E27FC236}">
                <a16:creationId xmlns:a16="http://schemas.microsoft.com/office/drawing/2014/main" id="{08E65185-EE36-4E93-8144-AE8F591FB9B5}"/>
              </a:ext>
            </a:extLst>
          </p:cNvPr>
          <p:cNvSpPr>
            <a:spLocks xmlns:a="http://schemas.openxmlformats.org/drawingml/2006/main" noGrp="1"/>
          </p:cNvSpPr>
          <p:nvPr/>
        </p:nvSpPr>
        <p:spPr>
          <a:xfrm xmlns:a="http://schemas.openxmlformats.org/drawingml/2006/main">
            <a:off x="1050700" y="4918757"/>
            <a:ext cx="4895737" cy="79625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30"/>
              </a:lnSpc>
              <a:buNone/>
            </a:pPr>
            <a:r>
              <a:rPr sz="1400">
                <a:solidFill>
                  <a:srgbClr val="10202A"/>
                </a:solidFill>
                <a:latin typeface="IBM Plex Sans"/>
                <a:ea typeface="IBM Plex Sans"/>
                <a:cs typeface="IBM Plex Sans"/>
              </a:rPr>
              <a:t>The model keeps a real role in one case only: when it already agrees with the leader direction, its 25% share is what bends the path around an obstacle the depth check cannot see.</a:t>
            </a:r>
            <a:endParaRPr sz="1400"/>
          </a:p>
        </p:txBody>
      </p:sp>
      <p:sp>
        <p:nvSpPr>
          <p:cNvPr id="10" name="Shape 7">
            <a:extLst xmlns:a="http://schemas.openxmlformats.org/drawingml/2006/main">
              <a:ext uri="{FF2B5EF4-FFF2-40B4-BE49-F238E27FC236}">
                <a16:creationId xmlns:a16="http://schemas.microsoft.com/office/drawing/2014/main" id="{97C379D3-4D92-47C2-8196-B599907B3EFF}"/>
              </a:ext>
            </a:extLst>
          </p:cNvPr>
          <p:cNvSpPr>
            <a:spLocks xmlns:a="http://schemas.openxmlformats.org/drawingml/2006/main" noGrp="1"/>
          </p:cNvSpPr>
          <p:nvPr/>
        </p:nvSpPr>
        <p:spPr>
          <a:xfrm xmlns:a="http://schemas.openxmlformats.org/drawingml/2006/main">
            <a:off x="6184839" y="4766357"/>
            <a:ext cx="5194414" cy="1075656"/>
          </a:xfrm>
          <a:prstGeom xmlns:a="http://schemas.openxmlformats.org/drawingml/2006/main" prst="roundRect">
            <a:avLst>
              <a:gd name="adj" fmla="val 7084"/>
            </a:avLst>
          </a:prstGeom>
          <a:solidFill xmlns:a="http://schemas.openxmlformats.org/drawingml/2006/main">
            <a:srgbClr val="F6F6F2"/>
          </a:solidFill>
        </p:spPr>
      </p:sp>
      <p:sp>
        <p:nvSpPr>
          <p:cNvPr id="11" name="Shape 8">
            <a:extLst xmlns:a="http://schemas.openxmlformats.org/drawingml/2006/main">
              <a:ext uri="{FF2B5EF4-FFF2-40B4-BE49-F238E27FC236}">
                <a16:creationId xmlns:a16="http://schemas.microsoft.com/office/drawing/2014/main" id="{050E03CB-D730-4864-912A-8786D69221F6}"/>
              </a:ext>
            </a:extLst>
          </p:cNvPr>
          <p:cNvSpPr>
            <a:spLocks xmlns:a="http://schemas.openxmlformats.org/drawingml/2006/main" noGrp="1"/>
          </p:cNvSpPr>
          <p:nvPr/>
        </p:nvSpPr>
        <p:spPr>
          <a:xfrm xmlns:a="http://schemas.openxmlformats.org/drawingml/2006/main">
            <a:off x="6184839" y="4766357"/>
            <a:ext cx="5194414" cy="1075656"/>
          </a:xfrm>
          <a:custGeom xmlns:a="http://schemas.openxmlformats.org/drawingml/2006/main">
            <a:rect l="l" t="t" r="r" b="b"/>
            <a:pathLst>
              <a:path w="5194414" h="1075656">
                <a:moveTo>
                  <a:pt x="76200" y="1075656"/>
                </a:moveTo>
                <a:lnTo>
                  <a:pt x="76200" y="1075656"/>
                </a:lnTo>
                <a:arcTo wR="76200" hR="76200" stAng="5400000" swAng="5400000"/>
                <a:lnTo>
                  <a:pt x="0" y="76200"/>
                </a:lnTo>
                <a:arcTo wR="76200" hR="76200" stAng="10800000" swAng="5400000"/>
                <a:lnTo>
                  <a:pt x="76200" y="0"/>
                </a:lnTo>
                <a:arcTo wR="38100" hR="76200" stAng="16200000" swAng="-5400000"/>
                <a:lnTo>
                  <a:pt x="38100" y="999456"/>
                </a:lnTo>
                <a:arcTo wR="38100" hR="76200" stAng="10800000" swAng="-5400000"/>
                <a:close/>
              </a:path>
            </a:pathLst>
          </a:custGeom>
          <a:solidFill xmlns:a="http://schemas.openxmlformats.org/drawingml/2006/main">
            <a:srgbClr val="9C5308"/>
          </a:solidFill>
        </p:spPr>
      </p:sp>
      <p:sp>
        <p:nvSpPr>
          <p:cNvPr id="12" name="Text 9">
            <a:extLst xmlns:a="http://schemas.openxmlformats.org/drawingml/2006/main">
              <a:ext uri="{FF2B5EF4-FFF2-40B4-BE49-F238E27FC236}">
                <a16:creationId xmlns:a16="http://schemas.microsoft.com/office/drawing/2014/main" id="{3E381433-B0DA-4D14-9A2A-034E52252FA1}"/>
              </a:ext>
            </a:extLst>
          </p:cNvPr>
          <p:cNvSpPr>
            <a:spLocks xmlns:a="http://schemas.openxmlformats.org/drawingml/2006/main" noGrp="1"/>
          </p:cNvSpPr>
          <p:nvPr/>
        </p:nvSpPr>
        <p:spPr>
          <a:xfrm xmlns:a="http://schemas.openxmlformats.org/drawingml/2006/main">
            <a:off x="6422820" y="4918757"/>
            <a:ext cx="4895830" cy="79625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30"/>
              </a:lnSpc>
              <a:buNone/>
            </a:pPr>
            <a:r>
              <a:rPr sz="1400">
                <a:solidFill>
                  <a:srgbClr val="10202A"/>
                </a:solidFill>
                <a:latin typeface="IBM Plex Sans"/>
                <a:ea typeface="IBM Plex Sans"/>
                <a:cs typeface="IBM Plex Sans"/>
              </a:rPr>
              <a:t>A leader who walks toward the robot makes it stop and turn, not back away. Reversing on approach was judged worse than holding position with a person in front.</a:t>
            </a:r>
            <a:endParaRPr sz="1400"/>
          </a:p>
        </p:txBody>
      </p:sp>
    </p:spTree>
    <p:extLst>
      <p:ext uri="{BB962C8B-B14F-4D97-AF65-F5344CB8AC3E}">
        <p14:creationId xmlns:p14="http://schemas.microsoft.com/office/powerpoint/2010/main" val="690489614"/>
      </p:ext>
    </p:extLst>
  </p:cSld>
</p:sld>
</file>

<file path=ppt/slides/slide19.xml><?xml version="1.0" encoding="utf-8"?>
<p:sld xmlns:p="http://schemas.openxmlformats.org/presentationml/2006/main">
  <p:cSld>
    <p:bg>
      <p:bgPr>
        <a:solidFill xmlns:a="http://schemas.openxmlformats.org/drawingml/2006/main">
          <a:srgbClr val="1020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BDCE56-1571-4ADA-85A8-8226EB9A8B82}"/>
              </a:ext>
            </a:extLst>
          </p:cNvPr>
          <p:cNvSpPr>
            <a:spLocks xmlns:a="http://schemas.openxmlformats.org/drawingml/2006/main" noGrp="1"/>
          </p:cNvSpPr>
          <p:nvPr/>
        </p:nvSpPr>
        <p:spPr>
          <a:xfrm xmlns:a="http://schemas.openxmlformats.org/drawingml/2006/main">
            <a:off x="812720" y="812726"/>
            <a:ext cx="10883529" cy="219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spc="150">
                <a:solidFill>
                  <a:srgbClr val="4FBFB4"/>
                </a:solidFill>
                <a:latin typeface="JetBrains Mono"/>
                <a:ea typeface="JetBrains Mono"/>
                <a:cs typeface="JetBrains Mono"/>
              </a:rPr>
              <a:t>WHERE THIS ACTUALLY STANDS</a:t>
            </a:r>
            <a:endParaRPr sz="1088"/>
          </a:p>
        </p:txBody>
      </p:sp>
      <p:sp>
        <p:nvSpPr>
          <p:cNvPr id="3" name="Text 1">
            <a:extLst xmlns:a="http://schemas.openxmlformats.org/drawingml/2006/main">
              <a:ext uri="{FF2B5EF4-FFF2-40B4-BE49-F238E27FC236}">
                <a16:creationId xmlns:a16="http://schemas.microsoft.com/office/drawing/2014/main" id="{2093FDFB-7CE8-43D3-90C8-1C5E9E91B7E0}"/>
              </a:ext>
            </a:extLst>
          </p:cNvPr>
          <p:cNvSpPr>
            <a:spLocks xmlns:a="http://schemas.openxmlformats.org/drawingml/2006/main" noGrp="1"/>
          </p:cNvSpPr>
          <p:nvPr/>
        </p:nvSpPr>
        <p:spPr>
          <a:xfrm xmlns:a="http://schemas.openxmlformats.org/drawingml/2006/main">
            <a:off x="812720" y="1260339"/>
            <a:ext cx="10883529" cy="43832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270"/>
              </a:lnSpc>
              <a:buNone/>
            </a:pPr>
            <a:r>
              <a:rPr sz="2920" b="1">
                <a:solidFill>
                  <a:srgbClr val="F6F6F2"/>
                </a:solidFill>
                <a:latin typeface="IBM Plex Sans"/>
                <a:ea typeface="IBM Plex Sans"/>
                <a:cs typeface="IBM Plex Sans"/>
              </a:rPr>
              <a:t>Verified results and remaining limits</a:t>
            </a:r>
            <a:endParaRPr sz="2920"/>
          </a:p>
        </p:txBody>
      </p:sp>
      <p:sp>
        <p:nvSpPr>
          <p:cNvPr id="4" name="Current evidence">
            <a:extLst xmlns:a="http://schemas.openxmlformats.org/drawingml/2006/main">
              <a:ext uri="{FF2B5EF4-FFF2-40B4-BE49-F238E27FC236}">
                <a16:creationId xmlns:a16="http://schemas.microsoft.com/office/drawing/2014/main" id="{F3A89068-DEF6-4EF7-9487-026E68563E25}"/>
              </a:ext>
            </a:extLst>
          </p:cNvPr>
          <p:cNvSpPr>
            <a:spLocks xmlns:a="http://schemas.openxmlformats.org/drawingml/2006/main" noGrp="1"/>
          </p:cNvSpPr>
          <p:nvPr/>
        </p:nvSpPr>
        <p:spPr>
          <a:xfrm xmlns:a="http://schemas.openxmlformats.org/drawingml/2006/main">
            <a:off x="1047750" y="195262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2000"/>
              </a:lnSpc>
              <a:buNone/>
              <a:defRPr sz="1875">
                <a:solidFill>
                  <a:srgbClr val="C7D3D9"/>
                </a:solidFill>
                <a:latin typeface="IBM Plex Sans"/>
                <a:ea typeface="IBM Plex Sans"/>
                <a:cs typeface="IBM Plex Sans"/>
              </a:defRPr>
            </a:pPr>
            <a:r>
              <a:rPr sz="1875">
                <a:solidFill>
                  <a:srgbClr val="C7D3D9"/>
                </a:solidFill>
                <a:latin typeface="IBM Plex Sans"/>
                <a:ea typeface="IBM Plex Sans"/>
                <a:cs typeface="IBM Plex Sans"/>
              </a:rPr>
              <a:t>The local suite has 62 passing tests. In a live Thor dry-run with a blue-basket holder, 93 of 187 frames were LOCKED; target depth and trajectory were valid during lock. The planner updated 31 times across 30.241 seconds of lock, about 1.03 Hz against a 2 Hz cap. One stale camera response was rejected; the 20 Hz host safety timer reached a 55.006 ms maximum interval. The E-stop remained active and no physical motion was tested. On 90 fresh Ridgeback camera frames, Thor and RTX matched every target and trajectory decision. A matched live RTX timing baseline, sustained planner cadence and armable safety checks remain open. No speedup is claimed.</a:t>
            </a:r>
          </a:p>
        </p:txBody>
      </p:sp>
    </p:spTree>
    <p:extLst>
      <p:ext uri="{BB962C8B-B14F-4D97-AF65-F5344CB8AC3E}">
        <p14:creationId xmlns:p14="http://schemas.microsoft.com/office/powerpoint/2010/main" val="133176703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2026-09-28T13:44:54.6240000Z</dcterms:created>
  <dcterms:modified xsi:type="dcterms:W3CDTF">2026-09-28T13:44:54.6240000Z</dcterms:modified>
</coreProperties>
</file>